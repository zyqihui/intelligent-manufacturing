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81" r:id="rId13"/>
    <p:sldMasterId id="2147483683" r:id="rId14"/>
    <p:sldMasterId id="2147483685" r:id="rId15"/>
    <p:sldMasterId id="2147483687" r:id="rId16"/>
    <p:sldMasterId id="2147483689" r:id="rId17"/>
    <p:sldMasterId id="2147483691" r:id="rId18"/>
    <p:sldMasterId id="2147483693" r:id="rId19"/>
    <p:sldMasterId id="2147483695" r:id="rId20"/>
    <p:sldMasterId id="2147483697" r:id="rId21"/>
    <p:sldMasterId id="2147483699" r:id="rId22"/>
    <p:sldMasterId id="2147483701" r:id="rId23"/>
  </p:sldMasterIdLst>
  <p:notesMasterIdLst>
    <p:notesMasterId r:id="rId25"/>
  </p:notesMasterIdLst>
  <p:sldIdLst>
    <p:sldId id="256" r:id="rId24"/>
    <p:sldId id="257" r:id="rId26"/>
    <p:sldId id="258" r:id="rId27"/>
    <p:sldId id="259" r:id="rId28"/>
    <p:sldId id="260" r:id="rId29"/>
    <p:sldId id="262" r:id="rId30"/>
    <p:sldId id="337" r:id="rId31"/>
    <p:sldId id="338" r:id="rId32"/>
    <p:sldId id="263" r:id="rId33"/>
    <p:sldId id="341" r:id="rId34"/>
    <p:sldId id="342" r:id="rId35"/>
    <p:sldId id="264" r:id="rId36"/>
    <p:sldId id="343" r:id="rId37"/>
    <p:sldId id="301" r:id="rId38"/>
    <p:sldId id="345" r:id="rId39"/>
    <p:sldId id="344" r:id="rId40"/>
    <p:sldId id="330" r:id="rId41"/>
    <p:sldId id="331" r:id="rId42"/>
    <p:sldId id="346" r:id="rId43"/>
    <p:sldId id="347" r:id="rId44"/>
    <p:sldId id="332" r:id="rId45"/>
    <p:sldId id="333" r:id="rId46"/>
    <p:sldId id="350" r:id="rId47"/>
    <p:sldId id="351" r:id="rId48"/>
    <p:sldId id="352" r:id="rId49"/>
    <p:sldId id="353" r:id="rId50"/>
    <p:sldId id="354" r:id="rId51"/>
    <p:sldId id="355" r:id="rId52"/>
    <p:sldId id="356" r:id="rId53"/>
    <p:sldId id="357" r:id="rId54"/>
    <p:sldId id="336" r:id="rId55"/>
    <p:sldId id="268" r:id="rId56"/>
    <p:sldId id="269" r:id="rId57"/>
    <p:sldId id="271" r:id="rId58"/>
    <p:sldId id="272" r:id="rId59"/>
    <p:sldId id="273" r:id="rId60"/>
    <p:sldId id="270" r:id="rId61"/>
    <p:sldId id="281" r:id="rId62"/>
    <p:sldId id="274" r:id="rId63"/>
    <p:sldId id="275" r:id="rId64"/>
    <p:sldId id="358" r:id="rId65"/>
    <p:sldId id="278" r:id="rId6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718" userDrawn="1">
          <p15:clr>
            <a:srgbClr val="A4A3A4"/>
          </p15:clr>
        </p15:guide>
        <p15:guide id="2" pos="2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718"/>
        <p:guide pos="29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42.xml"/><Relationship Id="rId65" Type="http://schemas.openxmlformats.org/officeDocument/2006/relationships/slide" Target="slides/slide41.xml"/><Relationship Id="rId64" Type="http://schemas.openxmlformats.org/officeDocument/2006/relationships/slide" Target="slides/slide40.xml"/><Relationship Id="rId63" Type="http://schemas.openxmlformats.org/officeDocument/2006/relationships/slide" Target="slides/slide39.xml"/><Relationship Id="rId62" Type="http://schemas.openxmlformats.org/officeDocument/2006/relationships/slide" Target="slides/slide38.xml"/><Relationship Id="rId61" Type="http://schemas.openxmlformats.org/officeDocument/2006/relationships/slide" Target="slides/slide37.xml"/><Relationship Id="rId60" Type="http://schemas.openxmlformats.org/officeDocument/2006/relationships/slide" Target="slides/slide36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5.xml"/><Relationship Id="rId58" Type="http://schemas.openxmlformats.org/officeDocument/2006/relationships/slide" Target="slides/slide34.xml"/><Relationship Id="rId57" Type="http://schemas.openxmlformats.org/officeDocument/2006/relationships/slide" Target="slides/slide33.xml"/><Relationship Id="rId56" Type="http://schemas.openxmlformats.org/officeDocument/2006/relationships/slide" Target="slides/slide32.xml"/><Relationship Id="rId55" Type="http://schemas.openxmlformats.org/officeDocument/2006/relationships/slide" Target="slides/slide31.xml"/><Relationship Id="rId54" Type="http://schemas.openxmlformats.org/officeDocument/2006/relationships/slide" Target="slides/slide30.xml"/><Relationship Id="rId53" Type="http://schemas.openxmlformats.org/officeDocument/2006/relationships/slide" Target="slides/slide29.xml"/><Relationship Id="rId52" Type="http://schemas.openxmlformats.org/officeDocument/2006/relationships/slide" Target="slides/slide28.xml"/><Relationship Id="rId51" Type="http://schemas.openxmlformats.org/officeDocument/2006/relationships/slide" Target="slides/slide27.xml"/><Relationship Id="rId50" Type="http://schemas.openxmlformats.org/officeDocument/2006/relationships/slide" Target="slides/slide2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5.xml"/><Relationship Id="rId48" Type="http://schemas.openxmlformats.org/officeDocument/2006/relationships/slide" Target="slides/slide24.xml"/><Relationship Id="rId47" Type="http://schemas.openxmlformats.org/officeDocument/2006/relationships/slide" Target="slides/slide23.xml"/><Relationship Id="rId46" Type="http://schemas.openxmlformats.org/officeDocument/2006/relationships/slide" Target="slides/slide22.xml"/><Relationship Id="rId45" Type="http://schemas.openxmlformats.org/officeDocument/2006/relationships/slide" Target="slides/slide21.xml"/><Relationship Id="rId44" Type="http://schemas.openxmlformats.org/officeDocument/2006/relationships/slide" Target="slides/slide20.xml"/><Relationship Id="rId43" Type="http://schemas.openxmlformats.org/officeDocument/2006/relationships/slide" Target="slides/slide19.xml"/><Relationship Id="rId42" Type="http://schemas.openxmlformats.org/officeDocument/2006/relationships/slide" Target="slides/slide18.xml"/><Relationship Id="rId41" Type="http://schemas.openxmlformats.org/officeDocument/2006/relationships/slide" Target="slides/slide17.xml"/><Relationship Id="rId40" Type="http://schemas.openxmlformats.org/officeDocument/2006/relationships/slide" Target="slides/slide1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5.xml"/><Relationship Id="rId38" Type="http://schemas.openxmlformats.org/officeDocument/2006/relationships/slide" Target="slides/slide14.xml"/><Relationship Id="rId37" Type="http://schemas.openxmlformats.org/officeDocument/2006/relationships/slide" Target="slides/slide13.xml"/><Relationship Id="rId36" Type="http://schemas.openxmlformats.org/officeDocument/2006/relationships/slide" Target="slides/slide12.xml"/><Relationship Id="rId35" Type="http://schemas.openxmlformats.org/officeDocument/2006/relationships/slide" Target="slides/slide11.xml"/><Relationship Id="rId34" Type="http://schemas.openxmlformats.org/officeDocument/2006/relationships/slide" Target="slides/slide10.xml"/><Relationship Id="rId33" Type="http://schemas.openxmlformats.org/officeDocument/2006/relationships/slide" Target="slides/slide9.xml"/><Relationship Id="rId32" Type="http://schemas.openxmlformats.org/officeDocument/2006/relationships/slide" Target="slides/slide8.xml"/><Relationship Id="rId31" Type="http://schemas.openxmlformats.org/officeDocument/2006/relationships/slide" Target="slides/slide7.xml"/><Relationship Id="rId30" Type="http://schemas.openxmlformats.org/officeDocument/2006/relationships/slide" Target="slides/slide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5.xml"/><Relationship Id="rId28" Type="http://schemas.openxmlformats.org/officeDocument/2006/relationships/slide" Target="slides/slide4.xml"/><Relationship Id="rId27" Type="http://schemas.openxmlformats.org/officeDocument/2006/relationships/slide" Target="slides/slide3.xml"/><Relationship Id="rId26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1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是来自武汉纺织大学的团队。今天我们汇报的主题是“基于AI辅助开发的手写体识别系统对比研究”。在本次创新实践中，我们以经典的MNIST手写体识别任务为载体，深入对比了两种主流的AI辅助开发模式：传统的纯提示词驱动和新兴的Agent+Skills+TDD驱动。我们将分享我们的实验过程、结果以及从中获得的深刻洞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六个部分。首先，我们将介绍项目的背景与研究动机。接着，会详细阐述实验所涉及的核心技术原理。之后，我们会展示实验的具体设计与环境配置。第四部分是本次汇报的重点，我们将详细介绍两种开发方法的过程与结果。第五部分，我们将对这两种方法进行深度对比分析。最后，进行总结并对未来工作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当前，AI辅助开发技术正在飞速发展，极大地改变了我们的工作方式。但随之而来的问题是，市面上有多种开发模式，它们各有优劣。我们的研究动机，正是要通过一个具体的项目，来实证对比两种主流模式——纯提示词驱动和Agent驱动——在实际开发中的差异，从而为开发者提供有价值的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上述背景，我们设定了三个明确的实验目标。首先是技术层面，我们希望掌握Streamlit和CNN的核心技术。其次是方法层面，我们要深入实践并对比纯提示词和Agent+TDD这两种开发模式。最后，通过系统性的对比分析，总结出Agent开发技术的核心优势，为未来的开发实践提供指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接下来，我们将进入第二部分，详细介绍本次实验所涉及的核心技术原理以及我们的实验设计方案。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应用层面，我们使用Streamlit框架来快速搭建交互界面。而本次实验的核心，是对比两种AI开发模式。方法A是纯提示词驱动，由人来引导AI一步步完成任务。方法B是Agent+TDD驱动，我们只给出目标，由AI自主规划和执行，并遵循测试驱动开发的流程，保证代码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实验的基础是两个核心技术。左边是MNIST数据集，它是我们进行手写体识别的标准测试集。右边是CNN，也就是卷积神经网络，我们采用经典的两层卷积结构来自动学习图像特征并进行分类。这两个技术共同构成了我们实验的基础模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应用层面，我们使用Streamlit框架来快速搭建交互界面。而本次实验的核心，是对比两种AI开发模式。方法A是纯提示词驱动，由人来引导AI一步步完成任务。方法B是Agent+TDD驱动，我们只给出目标，由AI自主规划和执行，并遵循测试驱动开发的流程，保证代码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我们的实验环境非常标准。硬件上，普通PC即可。软件方面，我们使用VS Code作为开发工具，Python作为编程语言，并基于DeepSeek-v4-flash大模型进行开发。值得注意的是，方法A我们采用了TensorFlow框架，而方法B采用了PyTorch框架，并额外引入了pytest用于自动化测试。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我们的实验环境非常标准。硬件上，普通PC即可。软件方面，我们使用VS Code作为开发工具，Python作为编程语言，并基于DeepSeek-v4-flash大模型进行开发。值得注意的是，方法A我们采用了TensorFlow框架，而方法B采用了PyTorch框架，并额外引入了pytest用于自动化测试。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我们的实验环境非常标准。硬件上，普通PC即可。软件方面，我们使用VS Code作为开发工具，Python作为编程语言，并基于DeepSeek-v4-flash大模型进行开发。值得注意的是，方法A我们采用了TensorFlow框架，而方法B采用了PyTorch框架，并额外引入了pytest用于自动化测试。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现在，我们进入第三部分，详细介绍两种方法的具体开发过程以及我们得到的实验结果。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方法A，纯提示词驱动。我们通过两轮核心的Prompt，让AI生成了训练脚本和前端应用。之后，我们手动执行并修复了一些问题，最终得到了一个可用的识别Demo，测试准确率达到99.29%。右侧展示的就是这个Demo的界面，可以看到它的功能比较基础，只支持图片上传和显示一个结果。这种方法的特点是简单、快速，非常适合作为大模型辅助开发的入门尝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方法A，纯提示词驱动。我们通过两轮核心的Prompt，让AI生成了训练脚本和前端应用。之后，我们手动执行并修复了一些问题，最终得到了一个可用的识别Demo，测试准确率达到99.29%。右侧展示的就是这个Demo的界面，可以看到它的功能比较基础，只支持图片上传和显示一个结果。这种方法的特点是简单、快速，非常适合作为大模型辅助开发的入门尝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方法A，纯提示词驱动。我们通过两轮核心的Prompt，让AI生成了训练脚本和前端应用。之后，我们手动执行并修复了一些问题，最终得到了一个可用的识别Demo，测试准确率达到99.29%。右侧展示的就是这个Demo的界面，可以看到它的功能比较基础，只支持图片上传和显示一个结果。这种方法的特点是简单、快速，非常适合作为大模型辅助开发的入门尝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方法A，纯提示词驱动。我们通过两轮核心的Prompt，让AI生成了训练脚本和前端应用。之后，我们手动执行并修复了一些问题，最终得到了一个可用的识别Demo，测试准确率达到99.29%。右侧展示的就是这个Demo的界面，可以看到它的功能比较基础，只支持图片上传和显示一个结果。这种方法的特点是简单、快速，非常适合作为大模型辅助开发的入门尝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方法A，纯提示词驱动。这里展示了使用TensorFlow完成的核心代码。左边是数据预处理部分，包括归一化和格式调整。右边是CNN模型的构建，我们采用了经典的两层卷积结构。整个过程通过多轮对话引导AI生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在模型训练完成后，我们得到了一个准确率达到99.29%的模型。右侧展示了使用Streamlit构建的前端界面，它支持两种输入方式：上传图片和在线手写，能够直观地展示模型的识别效果。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在模型训练完成后，我们得到了一个准确率达到99.29%的模型。右侧展示了使用Streamlit构建的前端界面，它支持两种输入方式：上传图片和在线手写，能够直观地展示模型的识别效果。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在模型训练完成后，我们得到了一个准确率达到99.29%的模型。右侧展示了使用Streamlit构建的前端界面，它支持两种输入方式：上传图片和在线手写，能够直观地展示模型的识别效果。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接下来，我们进入更高级的方法B：Agent+Skills+TDD驱动开发。这种模式将AI从一个简单的代码生成器，升级为一个能够自主规划、执行和测试的“自主工程师”。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法B的第一步是获取必要的“技能”。Agent会下载一系列专业的开发技能。然后，它会像一个项目经理一样，检查当前项目状态，并根据我们的目标，自动生成一个完整的项目设计方案，包括代码结构和测试计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简单解释一下TDD的核心思想。它遵循“红-绿-重构”的循环：先写一个会失败的测试（红），然后写代码让它通过（绿），最后在测试的保护下优化代码（重构）。这种模式能极大地提升代码的可靠性和可维护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结果对比上，模型性能方面，两种方法准确率非常接近，都达到了99%以上，而PyTorch模型更轻量。但在前端功能上，差异巨大。方法A的界面只能上传图片并显示一个结果，而方法B的界面不仅支持手写，还能可视化展示所有数字的预测概率，交互体验和功能完整性远超前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基于以上结果，我们进入第四部分，对两种开发方法进行更深入的对比分析。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深入剖析第一个差异：生成方式。方法A是“人驱动”，开发者需要像大厨一样，一步步指挥AI这个切菜工干活。而方法B是“目标驱动”，开发者更像一个顾客，只需要提出需求，AI就会像一个自主的团队一样，完成从规划到执行的全部工作。这体现了开发效率和自动化程度的巨大差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差异在于测试体系。方法A是典型的“写完就跑”模式，缺乏自动化测试，代码质量难以保证。而方法B引入了TDD，通过“先写测试再写实现”，为代码穿上了一层“防弹衣”，能在开发早期就发现并解决问题，这极大地提升了代码的健壮性和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差异是功能完整性。由于上下文的限制，纯提示词模式往往只能得到一个“能动就行”的最简Demo。而Agent模式因为有更强的规划能力和工具调用能力，能够交付一个功能更丰富、交互更友好的“准产品”，这在实际项目开发中价值巨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清晰地总结了两种方法的核心差异。从开发方式、测试体系、项目结构到代码质量和功能完整性，方法B，也就是Agent+TDD驱动，在几乎所有维度上都展现出明显的优势。它更自动化、更结构化、产出的代码质量更高、功能更完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结果对比上，模型性能方面，两种方法准确率非常接近，都达到了99%以上，而PyTorch模型更轻量。但在前端功能上，差异巨大。方法A的界面只能上传图片并显示一个结果，而方法B的界面不仅支持手写，还能可视化展示所有数字的预测概率，交互体验和功能完整性远超前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最后，我们对本次实验进行总结，并对未来的工作进行展望。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实验的成功离不开团队成员的紧密协作。我们进行了明确的分工，张帅和郑俨分别负责两种方法的开发，付正浩负责报告撰写，刘玉杰负责PPT制作，许王智负责现场汇报。每个人都发挥了自己的特长，共同完成了这项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实验的成功离不开团队成员的紧密协作。我们进行了明确的分工，张帅和郑俨分别负责两种方法的开发，付正浩负责报告撰写，刘玉杰负责PPT制作，许王智负责现场汇报。每个人都发挥了自己的特长，共同完成了这项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我的汇报到此结束，感谢各位的聆听。我们非常乐意回答大家关于实验细节、技术原理或对比分析方面的任何问题。谢谢！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4732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7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8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9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30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31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32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2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2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0" Type="http://schemas.openxmlformats.org/officeDocument/2006/relationships/notesSlide" Target="../notesSlides/notesSlide3.xml"/><Relationship Id="rId2" Type="http://schemas.openxmlformats.org/officeDocument/2006/relationships/tags" Target="../tags/tag47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image" Target="../media/image8.svg"/><Relationship Id="rId1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60.xml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12.xml"/><Relationship Id="rId21" Type="http://schemas.openxmlformats.org/officeDocument/2006/relationships/tags" Target="../tags/tag72.xml"/><Relationship Id="rId20" Type="http://schemas.openxmlformats.org/officeDocument/2006/relationships/tags" Target="../tags/tag71.xml"/><Relationship Id="rId2" Type="http://schemas.openxmlformats.org/officeDocument/2006/relationships/tags" Target="../tags/tag59.xml"/><Relationship Id="rId19" Type="http://schemas.openxmlformats.org/officeDocument/2006/relationships/image" Target="../media/image16.svg"/><Relationship Id="rId18" Type="http://schemas.openxmlformats.org/officeDocument/2006/relationships/image" Target="../media/image15.png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65.xml"/><Relationship Id="rId1" Type="http://schemas.openxmlformats.org/officeDocument/2006/relationships/tags" Target="../tags/tag5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tags" Target="../tags/tag74.xml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2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tags" Target="../tags/tag80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35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tags" Target="../tags/tag88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48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7" Type="http://schemas.openxmlformats.org/officeDocument/2006/relationships/notesSlide" Target="../notesSlides/notesSlide21.xml"/><Relationship Id="rId16" Type="http://schemas.openxmlformats.org/officeDocument/2006/relationships/slideLayout" Target="../slideLayouts/slideLayout15.xml"/><Relationship Id="rId15" Type="http://schemas.openxmlformats.org/officeDocument/2006/relationships/tags" Target="../tags/tag99.xml"/><Relationship Id="rId14" Type="http://schemas.openxmlformats.org/officeDocument/2006/relationships/tags" Target="../tags/tag98.xml"/><Relationship Id="rId13" Type="http://schemas.openxmlformats.org/officeDocument/2006/relationships/image" Target="../media/image52.svg"/><Relationship Id="rId12" Type="http://schemas.openxmlformats.org/officeDocument/2006/relationships/image" Target="../media/image51.png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9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7.xml"/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9.xml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30.xml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0.xml"/><Relationship Id="rId4" Type="http://schemas.openxmlformats.org/officeDocument/2006/relationships/slideLayout" Target="../slideLayouts/slideLayout32.xml"/><Relationship Id="rId3" Type="http://schemas.openxmlformats.org/officeDocument/2006/relationships/image" Target="../media/image70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image" Target="../media/image78.svg"/><Relationship Id="rId7" Type="http://schemas.openxmlformats.org/officeDocument/2006/relationships/image" Target="../media/image77.png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74.svg"/><Relationship Id="rId3" Type="http://schemas.openxmlformats.org/officeDocument/2006/relationships/image" Target="../media/image73.png"/><Relationship Id="rId2" Type="http://schemas.openxmlformats.org/officeDocument/2006/relationships/image" Target="../media/image72.svg"/><Relationship Id="rId10" Type="http://schemas.openxmlformats.org/officeDocument/2006/relationships/notesSlide" Target="../notesSlides/notesSlide31.xml"/><Relationship Id="rId1" Type="http://schemas.openxmlformats.org/officeDocument/2006/relationships/image" Target="../media/image7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0" Type="http://schemas.openxmlformats.org/officeDocument/2006/relationships/notesSlide" Target="../notesSlides/notesSlide32.xml"/><Relationship Id="rId1" Type="http://schemas.openxmlformats.org/officeDocument/2006/relationships/image" Target="../media/image7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4.svg"/><Relationship Id="rId8" Type="http://schemas.openxmlformats.org/officeDocument/2006/relationships/image" Target="../media/image93.png"/><Relationship Id="rId7" Type="http://schemas.openxmlformats.org/officeDocument/2006/relationships/image" Target="../media/image13.png"/><Relationship Id="rId6" Type="http://schemas.openxmlformats.org/officeDocument/2006/relationships/image" Target="../media/image92.svg"/><Relationship Id="rId5" Type="http://schemas.openxmlformats.org/officeDocument/2006/relationships/image" Target="../media/image91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" Type="http://schemas.openxmlformats.org/officeDocument/2006/relationships/image" Target="../media/image88.svg"/><Relationship Id="rId13" Type="http://schemas.openxmlformats.org/officeDocument/2006/relationships/notesSlide" Target="../notesSlides/notesSlide34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96.svg"/><Relationship Id="rId10" Type="http://schemas.openxmlformats.org/officeDocument/2006/relationships/image" Target="../media/image95.png"/><Relationship Id="rId1" Type="http://schemas.openxmlformats.org/officeDocument/2006/relationships/image" Target="../media/image87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0.svg"/><Relationship Id="rId3" Type="http://schemas.openxmlformats.org/officeDocument/2006/relationships/image" Target="../media/image99.png"/><Relationship Id="rId2" Type="http://schemas.openxmlformats.org/officeDocument/2006/relationships/image" Target="../media/image98.svg"/><Relationship Id="rId1" Type="http://schemas.openxmlformats.org/officeDocument/2006/relationships/image" Target="../media/image97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svg"/><Relationship Id="rId8" Type="http://schemas.openxmlformats.org/officeDocument/2006/relationships/image" Target="../media/image103.png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image" Target="../media/image102.svg"/><Relationship Id="rId3" Type="http://schemas.openxmlformats.org/officeDocument/2006/relationships/image" Target="../media/image101.png"/><Relationship Id="rId21" Type="http://schemas.openxmlformats.org/officeDocument/2006/relationships/notesSlide" Target="../notesSlides/notesSlide36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01.xml"/><Relationship Id="rId19" Type="http://schemas.openxmlformats.org/officeDocument/2006/relationships/tags" Target="../tags/tag111.xml"/><Relationship Id="rId18" Type="http://schemas.openxmlformats.org/officeDocument/2006/relationships/image" Target="../media/image107.png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image" Target="../media/image106.svg"/><Relationship Id="rId13" Type="http://schemas.openxmlformats.org/officeDocument/2006/relationships/image" Target="../media/image105.png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10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8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108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80.svg"/><Relationship Id="rId1" Type="http://schemas.openxmlformats.org/officeDocument/2006/relationships/image" Target="../media/image7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svg"/><Relationship Id="rId8" Type="http://schemas.openxmlformats.org/officeDocument/2006/relationships/image" Target="../media/image115.png"/><Relationship Id="rId7" Type="http://schemas.openxmlformats.org/officeDocument/2006/relationships/image" Target="../media/image114.svg"/><Relationship Id="rId6" Type="http://schemas.openxmlformats.org/officeDocument/2006/relationships/image" Target="../media/image113.png"/><Relationship Id="rId5" Type="http://schemas.openxmlformats.org/officeDocument/2006/relationships/image" Target="../media/image112.svg"/><Relationship Id="rId4" Type="http://schemas.openxmlformats.org/officeDocument/2006/relationships/image" Target="../media/image111.png"/><Relationship Id="rId3" Type="http://schemas.openxmlformats.org/officeDocument/2006/relationships/image" Target="../media/image110.svg"/><Relationship Id="rId2" Type="http://schemas.openxmlformats.org/officeDocument/2006/relationships/image" Target="../media/image109.png"/><Relationship Id="rId11" Type="http://schemas.openxmlformats.org/officeDocument/2006/relationships/notesSlide" Target="../notesSlides/notesSlide4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33.xml"/><Relationship Id="rId1" Type="http://schemas.openxmlformats.org/officeDocument/2006/relationships/tags" Target="../tags/tag1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143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26365" y="1861185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AI开发技术-前端streamlit的手写体识别mnist</a:t>
            </a:r>
            <a:endParaRPr lang="en-US" sz="3200" b="1" i="0" u="none" strike="noStrike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302000" y="3248025"/>
            <a:ext cx="2540000" cy="1397000"/>
          </a:xfrm>
          <a:prstGeom prst="roundRect">
            <a:avLst>
              <a:gd name="adj" fmla="val 909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2500" y="3518535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873500" y="3438525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endParaRPr lang="en-US" sz="1600"/>
          </a:p>
          <a:p>
            <a:pPr indent="0" algn="l">
              <a:lnSpc>
                <a:spcPct val="117000"/>
              </a:lnSpc>
            </a:pPr>
            <a:r>
              <a:rPr lang="zh-CN" alt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许王智</a:t>
            </a:r>
            <a:endParaRPr lang="zh-CN" altLang="en-US" sz="18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02985" y="3241040"/>
            <a:ext cx="2540000" cy="1397000"/>
          </a:xfrm>
          <a:prstGeom prst="roundRect">
            <a:avLst>
              <a:gd name="adj" fmla="val 909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4D399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6500" y="3518535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667500" y="3438525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</a:t>
            </a:r>
            <a:endParaRPr lang="en-US" sz="1600"/>
          </a:p>
          <a:p>
            <a:pPr indent="0" algn="l">
              <a:lnSpc>
                <a:spcPct val="117000"/>
              </a:lnSpc>
            </a:pPr>
            <a:r>
              <a:rPr 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 年 5 月13</a:t>
            </a:r>
            <a:r>
              <a:rPr lang="zh-CN" altLang="en-US" sz="18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8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838200" y="133096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38200" y="133096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1168400" y="145796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2108200" y="15214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和整体思路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实验目的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5"/>
            </p:custDataLst>
          </p:nvPr>
        </p:nvSpPr>
        <p:spPr>
          <a:xfrm>
            <a:off x="838200" y="298196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838200" y="298196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7"/>
            </p:custDataLst>
          </p:nvPr>
        </p:nvSpPr>
        <p:spPr>
          <a:xfrm>
            <a:off x="1168400" y="310896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2108200" y="31724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知识前提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MNIST、Streamlit</a:t>
            </a:r>
            <a:r>
              <a:rPr lang="zh-CN" alt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等以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及Agent</a:t>
            </a:r>
            <a:r>
              <a:rPr lang="zh-CN" alt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</a:t>
            </a:r>
            <a:endParaRPr lang="zh-CN" alt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9"/>
            </p:custDataLst>
          </p:nvPr>
        </p:nvSpPr>
        <p:spPr>
          <a:xfrm>
            <a:off x="838200" y="463296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38200" y="463296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1168400" y="475996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2108200" y="48234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环境配置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zh-CN" alt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实验环境的详细配置过程</a:t>
            </a:r>
            <a:endParaRPr lang="zh-CN" alt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3"/>
            </p:custDataLst>
          </p:nvPr>
        </p:nvSpPr>
        <p:spPr>
          <a:xfrm>
            <a:off x="6299200" y="133096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4"/>
            </p:custDataLst>
          </p:nvPr>
        </p:nvSpPr>
        <p:spPr>
          <a:xfrm>
            <a:off x="6299200" y="133096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6629400" y="145796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7569200" y="15214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实验过程与结果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方法A：纯提示词驱动 / 方法B：Agent+skills驱动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7"/>
            </p:custDataLst>
          </p:nvPr>
        </p:nvSpPr>
        <p:spPr>
          <a:xfrm>
            <a:off x="6299200" y="298196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8"/>
            </p:custDataLst>
          </p:nvPr>
        </p:nvSpPr>
        <p:spPr>
          <a:xfrm>
            <a:off x="6299200" y="298196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>
            <p:custDataLst>
              <p:tags r:id="rId19"/>
            </p:custDataLst>
          </p:nvPr>
        </p:nvSpPr>
        <p:spPr>
          <a:xfrm>
            <a:off x="6629400" y="310896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0"/>
            </p:custDataLst>
          </p:nvPr>
        </p:nvSpPr>
        <p:spPr>
          <a:xfrm>
            <a:off x="7569200" y="31724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对比分析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两种开发模式的效率与质量深度剖析</a:t>
            </a:r>
            <a:endParaRPr 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21"/>
            </p:custDataLst>
          </p:nvPr>
        </p:nvSpPr>
        <p:spPr>
          <a:xfrm>
            <a:off x="6299200" y="4632960"/>
            <a:ext cx="5207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2"/>
            </p:custDataLst>
          </p:nvPr>
        </p:nvSpPr>
        <p:spPr>
          <a:xfrm>
            <a:off x="6299200" y="463296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>
            <p:custDataLst>
              <p:tags r:id="rId23"/>
            </p:custDataLst>
          </p:nvPr>
        </p:nvSpPr>
        <p:spPr>
          <a:xfrm>
            <a:off x="6629400" y="4759960"/>
            <a:ext cx="76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24"/>
            </p:custDataLst>
          </p:nvPr>
        </p:nvSpPr>
        <p:spPr>
          <a:xfrm>
            <a:off x="7569200" y="482346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分工与心得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zh-CN" alt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团队协作风雨各成员心得体会</a:t>
            </a:r>
            <a:endParaRPr lang="zh-CN" altLang="en-US" sz="1300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6905"/>
            <a:ext cx="10322560" cy="661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实现两种</a:t>
            </a:r>
            <a:r>
              <a:rPr lang="en-US" altLang="zh-CN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辅助方式实现基于神经网络的</a:t>
            </a:r>
            <a:r>
              <a:rPr lang="en-US" altLang="zh-CN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MINIST</a:t>
            </a:r>
            <a:r>
              <a:rPr lang="zh-CN" alt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手写体识别</a:t>
            </a:r>
            <a:r>
              <a:rPr lang="en-US" altLang="zh-CN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</a:t>
            </a:r>
            <a:r>
              <a:rPr lang="zh-CN" altLang="en-US" sz="2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endParaRPr lang="en-US" sz="1100"/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62000" y="317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549400" y="3429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</a:t>
            </a:r>
            <a:endParaRPr lang="zh-CN" altLang="en-US" sz="18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016000" y="38354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</a:pP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基于前端</a:t>
            </a:r>
            <a:r>
              <a:rPr lang="en-US" altLang="zh-CN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</a:t>
            </a: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和深度学习中的</a:t>
            </a:r>
            <a:r>
              <a:rPr lang="en-US" altLang="zh-CN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minist</a:t>
            </a: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数据集，通过利用不同的</a:t>
            </a:r>
            <a:r>
              <a:rPr lang="en-US" altLang="zh-CN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辅助模式进行辅助编码完成实验。</a:t>
            </a:r>
            <a:endParaRPr lang="zh-CN" altLang="en-US" sz="1600" b="0" i="0" u="none" strike="noStrike">
              <a:solidFill>
                <a:srgbClr val="475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445000" y="317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9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5232400" y="3429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实验思路</a:t>
            </a:r>
            <a:endParaRPr lang="zh-CN" altLang="en-US" sz="18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4699000" y="3834765"/>
            <a:ext cx="2794000" cy="2007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以经典的</a:t>
            </a:r>
            <a:r>
              <a:rPr lang="en-US" b="1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MNIST 手写体识别</a:t>
            </a:r>
            <a:r>
              <a:rPr lang="en-US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任务为载体，对比两种主流AI开发模式：</a:t>
            </a:r>
            <a:endParaRPr lang="en-US" sz="1200"/>
          </a:p>
          <a:p>
            <a:pPr indent="0" algn="l">
              <a:lnSpc>
                <a:spcPct val="108000"/>
              </a:lnSpc>
            </a:pP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纯提示词驱动：开发者作为“指挥者”，多轮对话引导AI生成。</a:t>
            </a:r>
            <a:br>
              <a:rPr lang="en-US" sz="18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Agent+SKill：AI作为“自主工程师”，自主规划、执行与测试。</a:t>
            </a:r>
            <a:endParaRPr lang="en-US" b="0" i="0" u="none" strike="noStrike">
              <a:solidFill>
                <a:srgbClr val="71809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8128000" y="3175000"/>
            <a:ext cx="3302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82000" y="3429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915400" y="3429000"/>
            <a:ext cx="2159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小小心得</a:t>
            </a:r>
            <a:endParaRPr lang="zh-CN" altLang="en-US" sz="18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8382000" y="3835400"/>
            <a:ext cx="2794000" cy="200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通过真实的对比实验，</a:t>
            </a: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理解两种模式的开发对项目的开发效率和最终效果的影响</a:t>
            </a:r>
            <a:r>
              <a:rPr 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同时探索在AI时代，</a:t>
            </a: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如何合理的去使用</a:t>
            </a:r>
            <a:r>
              <a:rPr lang="en-US" altLang="zh-CN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辅助我们去完成一套项目</a:t>
            </a:r>
            <a:r>
              <a:rPr lang="en-US" sz="1600" b="0" i="0" u="none" strike="noStrike">
                <a:solidFill>
                  <a:srgbClr val="47506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>
              <a:solidFill>
                <a:srgbClr val="47506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整体思路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3622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714500" y="23114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技术所需</a:t>
            </a:r>
            <a:endParaRPr lang="zh-CN" altLang="en-US" sz="2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945765"/>
            <a:ext cx="2794000" cy="2769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zh-CN" alt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Python 前端框架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的开发技术，</a:t>
            </a:r>
            <a:r>
              <a:rPr lang="zh-CN" alt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会简单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搭建。</a:t>
            </a:r>
            <a:endParaRPr lang="en-US" sz="1600"/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理解基于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CNN (卷积神经网络)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 MNIST 手写数字识别核心原理及模型构建过程。</a:t>
            </a:r>
            <a:endParaRPr lang="en-US" sz="18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85750" indent="-285750" algn="l">
              <a:lnSpc>
                <a:spcPct val="133000"/>
              </a:lnSpc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熟悉和理解</a:t>
            </a:r>
            <a:r>
              <a:rPr lang="en-US" sz="180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sz="180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</a:t>
            </a:r>
            <a:r>
              <a:rPr lang="zh-CN" altLang="en-US" sz="1800" b="1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的使用</a:t>
            </a:r>
            <a:endParaRPr lang="zh-CN" altLang="en-US" sz="1800" b="1" i="0" u="none" strike="noStrike">
              <a:solidFill>
                <a:srgbClr val="34D3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4445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23622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5397500" y="23114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</a:t>
            </a:r>
            <a:r>
              <a:rPr lang="zh-CN" altLang="en-US" sz="2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</a:t>
            </a:r>
            <a:endParaRPr lang="zh-CN" altLang="en-US" sz="2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4699000" y="2869565"/>
            <a:ext cx="2794000" cy="28454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熟悉并实践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纯提示词驱动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 AI 辅助开发方法，验证其在代码生成中的基础效率。</a:t>
            </a:r>
            <a:endParaRPr lang="en-US" sz="1600"/>
          </a:p>
          <a:p>
            <a:pPr indent="0" algn="l">
              <a:lnSpc>
                <a:spcPct val="133000"/>
              </a:lnSpc>
            </a:pP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掌握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+ Skills 协作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的代码生成技术，理解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TDD (测试驱动开发)</a:t>
            </a:r>
            <a:r>
              <a:rPr lang="en-US" sz="18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AI 工程化中的具体应用价值。</a:t>
            </a:r>
            <a:endParaRPr lang="en-US" sz="18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8128000" y="19050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6"/>
            </p:custDataLst>
          </p:nvPr>
        </p:nvSpPr>
        <p:spPr>
          <a:xfrm>
            <a:off x="8128000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82000" y="23622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9080500" y="23114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对比分析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1"/>
            </p:custDataLst>
          </p:nvPr>
        </p:nvSpPr>
        <p:spPr>
          <a:xfrm>
            <a:off x="8382000" y="2945765"/>
            <a:ext cx="2794000" cy="2769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系统性对比“纯提示词”与“Agent+TDD”两种开发路线的优劣，量化评估两者在开发效率、代码质量及可维护性等维度的差异。</a:t>
            </a:r>
            <a:endParaRPr lang="en-US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总结提炼</a:t>
            </a:r>
            <a:r>
              <a:rPr lang="en-US" sz="1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开发技术</a:t>
            </a: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的核心竞争优势与最佳适用场景。</a:t>
            </a:r>
            <a:endParaRPr 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24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02/03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知识前提</a:t>
            </a: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环境配置</a:t>
            </a:r>
            <a:endParaRPr lang="zh-CN" altLang="en-US" sz="4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300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TECHNOLOGY &amp; EXPERIMENTAL DESIGN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知识前提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07000" cy="4835525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32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574800" y="20066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 轻量级应用框架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66800" y="2667000"/>
            <a:ext cx="4597400" cy="3383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 </a:t>
            </a:r>
            <a:r>
              <a:rPr lang="zh-CN" altLang="en-US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是一个开源的 </a:t>
            </a:r>
            <a:r>
              <a:rPr lang="en-US" altLang="zh-CN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</a:t>
            </a:r>
            <a:r>
              <a:rPr lang="zh-CN" altLang="en-US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库，专门用于快速构建和分享数据应用、机器学习原型或交互式仪表板。它被称为“轻量级”框架，因为开发者只需用纯 </a:t>
            </a:r>
            <a:r>
              <a:rPr lang="en-US" altLang="zh-CN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</a:t>
            </a:r>
            <a:r>
              <a:rPr lang="zh-CN" altLang="en-US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脚本就能完成前后端交互，无需编写 </a:t>
            </a:r>
            <a:r>
              <a:rPr lang="en-US" altLang="zh-CN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</a:t>
            </a:r>
            <a:r>
              <a:rPr lang="zh-CN" altLang="en-US" sz="24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代码。</a:t>
            </a:r>
            <a:endParaRPr lang="zh-CN" altLang="en-US" sz="24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4465" y="1660525"/>
            <a:ext cx="5454015" cy="177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465" y="3510280"/>
            <a:ext cx="5454015" cy="10140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4465" y="4596130"/>
            <a:ext cx="5453380" cy="1849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3200" b="1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知识前提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5207000" cy="475234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016000" y="1968500"/>
            <a:ext cx="4699000" cy="42589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MNIST 数据集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数据集性质</a:t>
            </a:r>
            <a:endParaRPr lang="zh-CN" altLang="en-US" sz="1600" b="1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经典手写数字图像基准集，广泛用于分类算法和深度学习模型的快速验证。</a:t>
            </a:r>
            <a:endParaRPr lang="en-US" altLang="zh-CN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数据构成</a:t>
            </a:r>
            <a:endParaRPr lang="zh-CN" altLang="en-US" sz="1600" b="1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 60,000 张训练图像和 10,000 张测试图像。</a:t>
            </a:r>
            <a:endParaRPr lang="en-US" altLang="zh-CN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图像规格</a:t>
            </a:r>
            <a:endParaRPr lang="zh-CN" altLang="en-US" sz="1600" b="1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每张图像为 28×28 像素的灰度图，像素值范围 0~255。</a:t>
            </a:r>
            <a:endParaRPr lang="en-US" altLang="zh-CN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1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📌 标签信息</a:t>
            </a:r>
            <a:endParaRPr lang="zh-CN" altLang="en-US" sz="1600" b="1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标签为 0～9 的手写数字，各类别样本数量基本均衡。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5" y="1778000"/>
            <a:ext cx="5181600" cy="4765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3200" b="1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知识前提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032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574800" y="2006600"/>
            <a:ext cx="393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066800" y="2667000"/>
            <a:ext cx="4597400" cy="3201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智能体是一种能够自主感知环境、思考决策、调用工具并执行任务的智能代理系统。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智能体不仅是简单的问答机器人，而是具备自主性、目标导向和环境交互能力的智能系统。它能够感知环境变化，通过学习和算法进行判断，并采取行动以实现特定目标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核心特征包括：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lvl="0" indent="-342900" algn="l">
              <a:lnSpc>
                <a:spcPct val="117000"/>
              </a:lnSpc>
              <a:buAutoNum type="arabicPeriod"/>
              <a:defRPr/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自主性：能够独立分析任务并做出决策。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lvl="0" indent="-342900" algn="l">
              <a:lnSpc>
                <a:spcPct val="117000"/>
              </a:lnSpc>
              <a:buAutoNum type="arabicPeriod"/>
              <a:defRPr/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适应性：根据环境变化调整策略。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lvl="0" indent="-342900" algn="l">
              <a:lnSpc>
                <a:spcPct val="117000"/>
              </a:lnSpc>
              <a:buAutoNum type="arabicPeriod"/>
              <a:defRPr/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交互性：与用户或其他系统进行信息交换。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lvl="0" indent="-342900" algn="l">
              <a:lnSpc>
                <a:spcPct val="117000"/>
              </a:lnSpc>
              <a:buAutoNum type="arabicPeriod"/>
              <a:defRPr/>
            </a:pP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目标导向：围绕预设目标规划和执行任务。</a:t>
            </a:r>
            <a:endParaRPr lang="zh-CN" alt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6502400" y="3985260"/>
            <a:ext cx="4597400" cy="1778000"/>
          </a:xfrm>
          <a:prstGeom prst="roundRect">
            <a:avLst>
              <a:gd name="adj" fmla="val 5714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27800" y="4254500"/>
            <a:ext cx="42926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🔹 模式 A：纯提示词驱动 (Prompt-Driven)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开发者通过多轮自然语言提示词(Prompts)引导，直接让大模型生成代码片段。特点是灵活、启动快，但高度依赖开发者的指令质量与上下文管理能力。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7800" y="203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035800" y="20066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</a:t>
            </a:r>
            <a:endParaRPr lang="en-US" sz="1100"/>
          </a:p>
        </p:txBody>
      </p:sp>
      <p:sp>
        <p:nvSpPr>
          <p:cNvPr id="13" name="AutoShape 6"/>
          <p:cNvSpPr/>
          <p:nvPr>
            <p:custDataLst>
              <p:tags r:id="rId13"/>
            </p:custDataLst>
          </p:nvPr>
        </p:nvSpPr>
        <p:spPr>
          <a:xfrm>
            <a:off x="6502400" y="2667000"/>
            <a:ext cx="4597400" cy="32010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Skill 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不是插件，不是 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MCP，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也不是一段塞进 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 prompt 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的废话。它就是一个文件夹包含一个 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SKILL.md 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加几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reference/script，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扔进 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 </a:t>
            </a:r>
            <a:r>
              <a:rPr lang="en-US" altLang="zh-CN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</a:t>
            </a:r>
            <a:r>
              <a:rPr lang="zh-CN" alt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目录就自动被识别</a:t>
            </a:r>
            <a:r>
              <a:rPr lang="zh-CN" altLang="en-US" sz="20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20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350635" y="4262120"/>
            <a:ext cx="4937760" cy="17576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642100" y="4533265"/>
            <a:ext cx="4317365" cy="1334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my-skill/</a:t>
            </a:r>
            <a:endParaRPr lang="en-US" altLang="zh-CN"/>
          </a:p>
          <a:p>
            <a:r>
              <a:rPr lang="en-US" altLang="zh-CN"/>
              <a:t>├── SKILL.md           ← </a:t>
            </a:r>
            <a:r>
              <a:rPr lang="zh-CN" altLang="en-US"/>
              <a:t>核心：操作手册（必须有）</a:t>
            </a:r>
            <a:endParaRPr lang="zh-CN" altLang="en-US"/>
          </a:p>
          <a:p>
            <a:r>
              <a:rPr lang="en-US" altLang="zh-CN"/>
              <a:t>├── scripts/           ← </a:t>
            </a:r>
            <a:r>
              <a:rPr lang="zh-CN" altLang="en-US"/>
              <a:t>可选：自动化脚本</a:t>
            </a:r>
            <a:endParaRPr lang="en-US" altLang="zh-CN"/>
          </a:p>
          <a:p>
            <a:r>
              <a:rPr lang="en-US" altLang="zh-CN"/>
              <a:t>├── references/        ← </a:t>
            </a:r>
            <a:r>
              <a:rPr lang="zh-CN" altLang="en-US"/>
              <a:t>可选：参考文档</a:t>
            </a:r>
            <a:endParaRPr lang="en-US" altLang="zh-CN"/>
          </a:p>
          <a:p>
            <a:r>
              <a:rPr lang="en-US" altLang="zh-CN"/>
              <a:t>└── assets/            ← </a:t>
            </a:r>
            <a:r>
              <a:rPr lang="zh-CN" altLang="en-US"/>
              <a:t>可选：资源文件</a:t>
            </a:r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环境配置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132060" cy="5296535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l">
              <a:defRPr/>
            </a:pPr>
            <a:r>
              <a:rPr lang="en-US" altLang="zh-CN" sz="2800">
                <a:ea typeface="宋体" panose="02010600030101010101" pitchFamily="2" charset="-122"/>
              </a:rPr>
              <a:t>1.</a:t>
            </a:r>
            <a:r>
              <a:rPr lang="zh-CN" sz="2800">
                <a:ea typeface="宋体" panose="02010600030101010101" pitchFamily="2" charset="-122"/>
              </a:rPr>
              <a:t>编辑工具</a:t>
            </a:r>
            <a:r>
              <a:rPr lang="en-US" altLang="zh-CN" sz="2800">
                <a:ea typeface="宋体" panose="02010600030101010101" pitchFamily="2" charset="-122"/>
              </a:rPr>
              <a:t>:vscode</a:t>
            </a:r>
            <a:endParaRPr lang="en-US" altLang="zh-CN" sz="2800"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>
                <a:ea typeface="宋体" panose="02010600030101010101" pitchFamily="2" charset="-122"/>
              </a:rPr>
              <a:t>2.python</a:t>
            </a:r>
            <a:r>
              <a:rPr lang="zh-CN" altLang="en-US" sz="2800">
                <a:ea typeface="宋体" panose="02010600030101010101" pitchFamily="2" charset="-122"/>
              </a:rPr>
              <a:t>环境：使用</a:t>
            </a:r>
            <a:r>
              <a:rPr lang="en-US" altLang="zh-CN" sz="2800">
                <a:ea typeface="宋体" panose="02010600030101010101" pitchFamily="2" charset="-122"/>
              </a:rPr>
              <a:t>conda</a:t>
            </a:r>
            <a:r>
              <a:rPr lang="zh-CN" altLang="en-US" sz="2800">
                <a:ea typeface="宋体" panose="02010600030101010101" pitchFamily="2" charset="-122"/>
              </a:rPr>
              <a:t>创建的虚拟环境</a:t>
            </a:r>
            <a:endParaRPr lang="zh-CN" altLang="en-US" sz="2800">
              <a:ea typeface="宋体" panose="02010600030101010101" pitchFamily="2" charset="-122"/>
            </a:endParaRPr>
          </a:p>
          <a:p>
            <a:pPr algn="l">
              <a:defRPr/>
            </a:pPr>
            <a:endParaRPr lang="zh-CN" altLang="en-US" sz="2800">
              <a:ea typeface="宋体" panose="02010600030101010101" pitchFamily="2" charset="-122"/>
            </a:endParaRPr>
          </a:p>
          <a:p>
            <a:pPr algn="l">
              <a:defRPr/>
            </a:pPr>
            <a:endParaRPr lang="zh-CN" altLang="en-US" sz="2800"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>
                <a:ea typeface="宋体" panose="02010600030101010101" pitchFamily="2" charset="-122"/>
              </a:rPr>
              <a:t>3.</a:t>
            </a:r>
            <a:r>
              <a:rPr lang="zh-CN" altLang="en-US" sz="2800">
                <a:ea typeface="宋体" panose="02010600030101010101" pitchFamily="2" charset="-122"/>
              </a:rPr>
              <a:t>在</a:t>
            </a:r>
            <a:r>
              <a:rPr lang="en-US" altLang="zh-CN" sz="2800">
                <a:ea typeface="宋体" panose="02010600030101010101" pitchFamily="2" charset="-122"/>
              </a:rPr>
              <a:t>vscode</a:t>
            </a:r>
            <a:r>
              <a:rPr lang="zh-CN" altLang="en-US" sz="2800">
                <a:ea typeface="宋体" panose="02010600030101010101" pitchFamily="2" charset="-122"/>
              </a:rPr>
              <a:t>的终端中激活环境</a:t>
            </a:r>
            <a:endParaRPr lang="zh-CN" altLang="en-US" sz="2800">
              <a:ea typeface="宋体" panose="02010600030101010101" pitchFamily="2" charset="-122"/>
            </a:endParaRPr>
          </a:p>
          <a:p>
            <a:pPr algn="l">
              <a:defRPr/>
            </a:pPr>
            <a:endParaRPr lang="en-US" altLang="zh-CN" sz="2800">
              <a:ea typeface="宋体" panose="02010600030101010101" pitchFamily="2" charset="-122"/>
            </a:endParaRPr>
          </a:p>
          <a:p>
            <a:pPr marL="914400" lvl="2" indent="457200" algn="l">
              <a:defRPr/>
            </a:pP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13206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圆角矩形 22"/>
          <p:cNvSpPr/>
          <p:nvPr/>
        </p:nvSpPr>
        <p:spPr>
          <a:xfrm>
            <a:off x="1442720" y="2267585"/>
            <a:ext cx="8849360" cy="5791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lvl="2" algn="ctr"/>
            <a:r>
              <a:rPr lang="en-US" altLang="zh-CN" sz="2800">
                <a:ea typeface="宋体" panose="02010600030101010101" pitchFamily="2" charset="-122"/>
                <a:sym typeface="+mn-ea"/>
              </a:rPr>
              <a:t>conda create -m st python=3.12</a:t>
            </a:r>
            <a:endParaRPr lang="en-US" altLang="zh-CN" sz="280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442720" y="3714750"/>
            <a:ext cx="8849360" cy="5791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lvl="2" algn="ctr"/>
            <a:r>
              <a:rPr lang="en-US" altLang="zh-CN" sz="2800">
                <a:ea typeface="宋体" panose="02010600030101010101" pitchFamily="2" charset="-122"/>
                <a:sym typeface="+mn-ea"/>
              </a:rPr>
              <a:t>conda activate  st</a:t>
            </a:r>
            <a:endParaRPr lang="en-US" altLang="zh-CN" sz="28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560" y="4761865"/>
            <a:ext cx="8859520" cy="599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环境配置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10132060" cy="5296535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l">
              <a:defRPr/>
            </a:pPr>
            <a:r>
              <a:rPr lang="en-US" altLang="zh-CN" sz="2800">
                <a:ea typeface="宋体" panose="02010600030101010101" pitchFamily="2" charset="-122"/>
              </a:rPr>
              <a:t>4.AI:deepseek-v4-flash</a:t>
            </a:r>
            <a:endParaRPr lang="en-US" altLang="zh-CN" sz="2800">
              <a:ea typeface="宋体" panose="02010600030101010101" pitchFamily="2" charset="-122"/>
            </a:endParaRPr>
          </a:p>
          <a:p>
            <a:pPr algn="l">
              <a:defRPr/>
            </a:pPr>
            <a:r>
              <a:rPr lang="en-US" altLang="zh-CN" sz="2800">
                <a:ea typeface="宋体" panose="02010600030101010101" pitchFamily="2" charset="-122"/>
              </a:rPr>
              <a:t>5.</a:t>
            </a:r>
            <a:r>
              <a:rPr lang="zh-CN" altLang="en-US" sz="2800">
                <a:ea typeface="宋体" panose="02010600030101010101" pitchFamily="2" charset="-122"/>
              </a:rPr>
              <a:t>使用的</a:t>
            </a:r>
            <a:r>
              <a:rPr lang="en-US" altLang="zh-CN" sz="2800">
                <a:ea typeface="宋体" panose="02010600030101010101" pitchFamily="2" charset="-122"/>
              </a:rPr>
              <a:t>AI</a:t>
            </a:r>
            <a:r>
              <a:rPr lang="zh-CN" altLang="en-US" sz="2800">
                <a:ea typeface="宋体" panose="02010600030101010101" pitchFamily="2" charset="-122"/>
              </a:rPr>
              <a:t>代码助手</a:t>
            </a:r>
            <a:r>
              <a:rPr lang="en-US" altLang="zh-CN" sz="2800">
                <a:ea typeface="宋体" panose="02010600030101010101" pitchFamily="2" charset="-122"/>
              </a:rPr>
              <a:t>:atomcode(https://atomcode.atomgit.com/)</a:t>
            </a:r>
            <a:endParaRPr lang="en-US" altLang="zh-CN" sz="2800">
              <a:ea typeface="宋体" panose="02010600030101010101" pitchFamily="2" charset="-122"/>
            </a:endParaRPr>
          </a:p>
          <a:p>
            <a:pPr algn="l">
              <a:defRPr/>
            </a:pPr>
            <a:endParaRPr lang="en-US" altLang="zh-CN" sz="2800">
              <a:ea typeface="宋体" panose="02010600030101010101" pitchFamily="2" charset="-122"/>
            </a:endParaRPr>
          </a:p>
          <a:p>
            <a:pPr algn="l">
              <a:defRPr/>
            </a:pPr>
            <a:endParaRPr lang="en-US" altLang="zh-CN" sz="2800">
              <a:ea typeface="宋体" panose="02010600030101010101" pitchFamily="2" charset="-122"/>
            </a:endParaRPr>
          </a:p>
          <a:p>
            <a:pPr marL="914400" lvl="2" indent="457200" algn="l">
              <a:defRPr/>
            </a:pP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13206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圆角矩形 5"/>
          <p:cNvSpPr/>
          <p:nvPr/>
        </p:nvSpPr>
        <p:spPr>
          <a:xfrm>
            <a:off x="1403350" y="2254885"/>
            <a:ext cx="8849360" cy="5791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lvl="2" algn="ctr"/>
            <a:r>
              <a:rPr lang="zh-CN" altLang="en-US" sz="1600">
                <a:ea typeface="宋体" panose="02010600030101010101" pitchFamily="2" charset="-122"/>
                <a:sym typeface="+mn-ea"/>
              </a:rPr>
              <a:t>一键安装（</a:t>
            </a:r>
            <a:r>
              <a:rPr lang="en-US" altLang="zh-CN" sz="1600">
                <a:ea typeface="宋体" panose="02010600030101010101" pitchFamily="2" charset="-122"/>
                <a:sym typeface="+mn-ea"/>
              </a:rPr>
              <a:t>Windows · PowerShell）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  <a:p>
            <a:pPr marL="0" lvl="2" algn="ctr"/>
            <a:r>
              <a:rPr lang="en-US" altLang="zh-CN" sz="1600">
                <a:ea typeface="宋体" panose="02010600030101010101" pitchFamily="2" charset="-122"/>
                <a:sym typeface="+mn-ea"/>
              </a:rPr>
              <a:t>irm https://atomgit.com/atomgit_atomcode/atomcode/releases/download/v4.22.0/install.ps1 | iex</a:t>
            </a:r>
            <a:endParaRPr lang="en-US" altLang="zh-CN" sz="160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403350" y="2921000"/>
            <a:ext cx="8849360" cy="5791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lvl="2" algn="ctr"/>
            <a:r>
              <a:rPr lang="zh-CN" altLang="en-US" sz="1600">
                <a:ea typeface="宋体" panose="02010600030101010101" pitchFamily="2" charset="-122"/>
                <a:sym typeface="+mn-ea"/>
              </a:rPr>
              <a:t>输入</a:t>
            </a:r>
            <a:r>
              <a:rPr lang="en-US" altLang="zh-CN" sz="1600">
                <a:ea typeface="宋体" panose="02010600030101010101" pitchFamily="2" charset="-122"/>
                <a:sym typeface="+mn-ea"/>
              </a:rPr>
              <a:t>atomcode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启动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715" y="3587115"/>
            <a:ext cx="8849995" cy="2600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环境配置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82065"/>
            <a:ext cx="10132060" cy="5220970"/>
          </a:xfrm>
          <a:prstGeom prst="roundRect">
            <a:avLst>
              <a:gd name="adj" fmla="val 39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l">
              <a:defRPr/>
            </a:pPr>
            <a:r>
              <a:rPr lang="en-US" altLang="zh-CN" sz="2800">
                <a:ea typeface="宋体" panose="02010600030101010101" pitchFamily="2" charset="-122"/>
              </a:rPr>
              <a:t>6.</a:t>
            </a:r>
            <a:r>
              <a:rPr lang="zh-CN" altLang="en-US" sz="2800">
                <a:ea typeface="宋体" panose="02010600030101010101" pitchFamily="2" charset="-122"/>
              </a:rPr>
              <a:t>安装所需库</a:t>
            </a:r>
            <a:r>
              <a:rPr lang="en-US" altLang="zh-CN" sz="2800">
                <a:ea typeface="宋体" panose="02010600030101010101" pitchFamily="2" charset="-122"/>
              </a:rPr>
              <a:t>:</a:t>
            </a:r>
            <a:r>
              <a:rPr lang="zh-CN" altLang="en-US" sz="2800" b="1">
                <a:ea typeface="宋体" panose="02010600030101010101" pitchFamily="2" charset="-122"/>
              </a:rPr>
              <a:t>询问所需库</a:t>
            </a:r>
            <a:r>
              <a:rPr lang="zh-CN" altLang="en-US" sz="2800">
                <a:ea typeface="宋体" panose="02010600030101010101" pitchFamily="2" charset="-122"/>
              </a:rPr>
              <a:t>或者</a:t>
            </a:r>
            <a:r>
              <a:rPr lang="zh-CN" altLang="en-US" sz="2800" b="1">
                <a:ea typeface="宋体" panose="02010600030101010101" pitchFamily="2" charset="-122"/>
              </a:rPr>
              <a:t>直接让它安装</a:t>
            </a:r>
            <a:r>
              <a:rPr lang="zh-CN" altLang="en-US" sz="2800">
                <a:ea typeface="宋体" panose="02010600030101010101" pitchFamily="2" charset="-122"/>
              </a:rPr>
              <a:t>，我们选择前者</a:t>
            </a:r>
            <a:endParaRPr lang="zh-CN" altLang="en-US" sz="2800">
              <a:ea typeface="宋体" panose="02010600030101010101" pitchFamily="2" charset="-122"/>
            </a:endParaRPr>
          </a:p>
          <a:p>
            <a:pPr indent="457200" algn="l">
              <a:defRPr/>
            </a:pPr>
            <a:endParaRPr lang="zh-CN" altLang="en-US" sz="2800">
              <a:ea typeface="宋体" panose="02010600030101010101" pitchFamily="2" charset="-122"/>
            </a:endParaRPr>
          </a:p>
          <a:p>
            <a:pPr algn="l">
              <a:defRPr/>
            </a:pP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13206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816100"/>
            <a:ext cx="9052560" cy="837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975610"/>
            <a:ext cx="5527675" cy="2673350"/>
          </a:xfrm>
          <a:prstGeom prst="rect">
            <a:avLst/>
          </a:prstGeom>
        </p:spPr>
      </p:pic>
      <p:sp>
        <p:nvSpPr>
          <p:cNvPr id="7" name="下箭头 6"/>
          <p:cNvSpPr/>
          <p:nvPr/>
        </p:nvSpPr>
        <p:spPr>
          <a:xfrm>
            <a:off x="3713480" y="2637790"/>
            <a:ext cx="680720" cy="35560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030720" y="4342765"/>
            <a:ext cx="3729355" cy="5791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lvl="2" algn="ctr"/>
            <a:r>
              <a:rPr lang="en-US" sz="1600">
                <a:ea typeface="宋体" panose="02010600030101010101" pitchFamily="2" charset="-122"/>
                <a:sym typeface="+mn-ea"/>
              </a:rPr>
              <a:t>pip install -r requirment.txt</a:t>
            </a:r>
            <a:endParaRPr lang="en-US" sz="160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6512560" y="3834765"/>
            <a:ext cx="518160" cy="5080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720" y="2993390"/>
            <a:ext cx="3754120" cy="80454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046480" y="1890395"/>
            <a:ext cx="5750560" cy="47752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实验过程与结果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EXPERIMENT PROCESS &amp; RESULTS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方法A：纯提示词</a:t>
            </a:r>
            <a:endParaRPr 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368925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600"/>
              </a:spcBef>
            </a:pPr>
            <a:r>
              <a:rPr lang="en-US" sz="16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以自然语言对话为核心，通过多轮精确 Prompt 分步引导大模型完成代码生成与逻辑构建。</a:t>
            </a:r>
            <a:endParaRPr lang="en-US" sz="16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368290" cy="345503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ctr">
              <a:defRPr/>
            </a:pPr>
            <a:r>
              <a:rPr lang="zh-CN" altLang="en-US"/>
              <a:t> </a:t>
            </a:r>
            <a:r>
              <a:rPr lang="zh-CN" altLang="en-US" sz="2000" b="1"/>
              <a:t>第一轮提示词</a:t>
            </a:r>
            <a:endParaRPr lang="zh-CN" altLang="en-US"/>
          </a:p>
          <a:p>
            <a:pPr algn="l">
              <a:defRPr/>
            </a:pPr>
            <a:endParaRPr lang="zh-CN" altLang="en-US"/>
          </a:p>
          <a:p>
            <a:pPr algn="l">
              <a:defRPr/>
            </a:pPr>
            <a:r>
              <a:rPr lang="zh-CN" altLang="en-US"/>
              <a:t>在 "使用</a:t>
            </a:r>
            <a:r>
              <a:rPr lang="en-US" altLang="zh-CN"/>
              <a:t>prompt" </a:t>
            </a:r>
            <a:r>
              <a:rPr lang="zh-CN" altLang="en-US"/>
              <a:t>文件夹下编写一个基于 </a:t>
            </a:r>
            <a:r>
              <a:rPr lang="en-US" altLang="zh-CN"/>
              <a:t>TensorFlow/Keras </a:t>
            </a:r>
            <a:r>
              <a:rPr lang="zh-CN" altLang="en-US"/>
              <a:t>的 </a:t>
            </a:r>
            <a:r>
              <a:rPr lang="en-US" altLang="zh-CN"/>
              <a:t>CNN </a:t>
            </a:r>
            <a:r>
              <a:rPr lang="zh-CN" altLang="en-US"/>
              <a:t>训练脚本，用于 </a:t>
            </a:r>
            <a:r>
              <a:rPr lang="en-US" altLang="zh-CN"/>
              <a:t>MNIST </a:t>
            </a:r>
            <a:r>
              <a:rPr lang="zh-CN" altLang="en-US"/>
              <a:t>手写数字识别。</a:t>
            </a:r>
            <a:endParaRPr lang="en-US" altLang="zh-CN"/>
          </a:p>
          <a:p>
            <a:pPr algn="l">
              <a:defRPr/>
            </a:pPr>
            <a:r>
              <a:rPr lang="zh-CN" altLang="en-US"/>
              <a:t>具体要求：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  1. 自动加载 </a:t>
            </a:r>
            <a:r>
              <a:rPr lang="en-US" altLang="zh-CN"/>
              <a:t>MNIST </a:t>
            </a:r>
            <a:r>
              <a:rPr lang="zh-CN" altLang="en-US"/>
              <a:t>数据集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  2. 预处理：归一化到 [0,1]、标签独热编码、形状调整为 (28,28,1)</a:t>
            </a:r>
            <a:endParaRPr lang="zh-CN" altLang="en-US"/>
          </a:p>
          <a:p>
            <a:pPr algn="l">
              <a:defRPr/>
            </a:pPr>
            <a:r>
              <a:rPr lang="en-US" altLang="zh-CN"/>
              <a:t>  3. CNN </a:t>
            </a:r>
            <a:r>
              <a:rPr lang="zh-CN" altLang="en-US"/>
              <a:t>结构：至少 2 个卷积+池化层 → </a:t>
            </a:r>
            <a:r>
              <a:rPr lang="en-US" altLang="zh-CN"/>
              <a:t>Flatten → </a:t>
            </a:r>
            <a:r>
              <a:rPr lang="zh-CN" altLang="en-US"/>
              <a:t>全连接 128 神经元 → </a:t>
            </a:r>
            <a:r>
              <a:rPr lang="en-US" altLang="zh-CN"/>
              <a:t>Dropout → </a:t>
            </a:r>
            <a:r>
              <a:rPr lang="zh-CN" altLang="en-US"/>
              <a:t>输出层 </a:t>
            </a:r>
            <a:r>
              <a:rPr lang="en-US" altLang="zh-CN"/>
              <a:t>softmax 10 </a:t>
            </a:r>
            <a:r>
              <a:rPr lang="zh-CN" altLang="en-US"/>
              <a:t>类别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  4. 优化器 </a:t>
            </a:r>
            <a:r>
              <a:rPr lang="en-US" altLang="zh-CN"/>
              <a:t>adam、</a:t>
            </a:r>
            <a:r>
              <a:rPr lang="zh-CN" altLang="en-US"/>
              <a:t>损失 </a:t>
            </a:r>
            <a:r>
              <a:rPr lang="en-US" altLang="zh-CN"/>
              <a:t>categorical_crossentropy、</a:t>
            </a:r>
            <a:r>
              <a:rPr lang="zh-CN" altLang="en-US"/>
              <a:t>评估</a:t>
            </a:r>
            <a:r>
              <a:rPr lang="en-US" altLang="zh-CN"/>
              <a:t>accuracy</a:t>
            </a:r>
            <a:endParaRPr lang="en-US" altLang="zh-CN"/>
          </a:p>
          <a:p>
            <a:pPr algn="l">
              <a:defRPr/>
            </a:pPr>
            <a:r>
              <a:rPr lang="zh-CN" altLang="en-US"/>
              <a:t>  5. 训练 10 个 </a:t>
            </a:r>
            <a:r>
              <a:rPr lang="en-US" altLang="zh-CN"/>
              <a:t>epoch、batch_size=128、10% </a:t>
            </a:r>
            <a:r>
              <a:rPr lang="zh-CN" altLang="en-US"/>
              <a:t>验证集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  6. 保存模型为 </a:t>
            </a:r>
            <a:r>
              <a:rPr lang="en-US" altLang="zh-CN"/>
              <a:t>mnist_model.h5</a:t>
            </a:r>
            <a:endParaRPr lang="en-US" altLang="zh-CN"/>
          </a:p>
          <a:p>
            <a:pPr algn="l">
              <a:defRPr/>
            </a:pPr>
            <a:r>
              <a:rPr lang="zh-CN" altLang="en-US"/>
              <a:t>  7. 打印每个 </a:t>
            </a:r>
            <a:r>
              <a:rPr lang="en-US" altLang="zh-CN"/>
              <a:t>epoch </a:t>
            </a:r>
            <a:r>
              <a:rPr lang="zh-CN" altLang="en-US"/>
              <a:t>准确率</a:t>
            </a:r>
            <a:endParaRPr lang="zh-CN" altLang="en-US"/>
          </a:p>
          <a:p>
            <a:pPr algn="l">
              <a:defRPr/>
            </a:pPr>
            <a:r>
              <a:rPr lang="zh-CN" altLang="en-US"/>
              <a:t>  8. 包含详细中文注释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75" y="4361815"/>
            <a:ext cx="4173220" cy="5276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640" y="4889500"/>
            <a:ext cx="4173855" cy="54546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r="6169"/>
          <a:stretch>
            <a:fillRect/>
          </a:stretch>
        </p:blipFill>
        <p:spPr>
          <a:xfrm>
            <a:off x="6384290" y="5786755"/>
            <a:ext cx="5408930" cy="716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515" y="2402840"/>
            <a:ext cx="4650105" cy="162814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262370" y="3670935"/>
            <a:ext cx="2023110" cy="4946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731635" y="5018405"/>
            <a:ext cx="2023110" cy="4946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方法A：纯提示词</a:t>
            </a:r>
            <a:endParaRPr 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468120"/>
            <a:ext cx="9916795" cy="503491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ctr">
              <a:defRPr/>
            </a:pPr>
          </a:p>
        </p:txBody>
      </p:sp>
      <p:sp>
        <p:nvSpPr>
          <p:cNvPr id="18" name="圆角矩形 17"/>
          <p:cNvSpPr/>
          <p:nvPr/>
        </p:nvSpPr>
        <p:spPr>
          <a:xfrm>
            <a:off x="2747010" y="1613535"/>
            <a:ext cx="5946775" cy="41656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训练模型</a:t>
            </a:r>
            <a:r>
              <a:rPr lang="en-US" altLang="zh-CN" sz="2000"/>
              <a:t>:python ./prompt/train.py</a:t>
            </a:r>
            <a:endParaRPr lang="en-US" altLang="zh-CN" sz="200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455" y="3210560"/>
            <a:ext cx="4368165" cy="256159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910" y="3210560"/>
            <a:ext cx="4333140" cy="1908000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2088515" y="2446655"/>
            <a:ext cx="1884045" cy="4946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神经网络编译结构</a:t>
            </a:r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r="46999" b="-2315"/>
          <a:stretch>
            <a:fillRect/>
          </a:stretch>
        </p:blipFill>
        <p:spPr>
          <a:xfrm>
            <a:off x="6010910" y="5266690"/>
            <a:ext cx="4430395" cy="561340"/>
          </a:xfrm>
          <a:prstGeom prst="rect">
            <a:avLst/>
          </a:prstGeom>
        </p:spPr>
      </p:pic>
      <p:sp>
        <p:nvSpPr>
          <p:cNvPr id="28" name="矩形 27"/>
          <p:cNvSpPr/>
          <p:nvPr/>
        </p:nvSpPr>
        <p:spPr>
          <a:xfrm>
            <a:off x="7284085" y="2446655"/>
            <a:ext cx="1884045" cy="4946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训练轮数和单轮大小以及最终评估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方法A：纯提示词</a:t>
            </a:r>
            <a:endParaRPr 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468120"/>
            <a:ext cx="9916795" cy="503491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ctr">
              <a:defRPr/>
            </a:pPr>
          </a:p>
        </p:txBody>
      </p:sp>
      <p:sp>
        <p:nvSpPr>
          <p:cNvPr id="3" name="圆角矩形 2"/>
          <p:cNvSpPr/>
          <p:nvPr/>
        </p:nvSpPr>
        <p:spPr>
          <a:xfrm>
            <a:off x="2747010" y="1613535"/>
            <a:ext cx="5946775" cy="41656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第一轮</a:t>
            </a:r>
            <a:r>
              <a:rPr lang="en-US" altLang="zh-CN" sz="2000"/>
              <a:t>AI</a:t>
            </a:r>
            <a:r>
              <a:rPr lang="zh-CN" altLang="en-US" sz="2000"/>
              <a:t>没有注意到中文在</a:t>
            </a:r>
            <a:r>
              <a:rPr lang="en-US" altLang="zh-CN" sz="2000"/>
              <a:t>matplotlib</a:t>
            </a:r>
            <a:r>
              <a:rPr lang="zh-CN" altLang="en-US" sz="2000"/>
              <a:t>的乱码</a:t>
            </a:r>
            <a:endParaRPr lang="zh-CN" altLang="en-US" sz="2000"/>
          </a:p>
        </p:txBody>
      </p:sp>
      <p:sp>
        <p:nvSpPr>
          <p:cNvPr id="4" name="AutoShape 6"/>
          <p:cNvSpPr/>
          <p:nvPr/>
        </p:nvSpPr>
        <p:spPr>
          <a:xfrm>
            <a:off x="3122930" y="2577465"/>
            <a:ext cx="5368290" cy="100774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ctr">
              <a:defRPr/>
            </a:pPr>
            <a:r>
              <a:rPr lang="zh-CN" altLang="en-US"/>
              <a:t> </a:t>
            </a:r>
            <a:r>
              <a:rPr lang="zh-CN" altLang="en-US" sz="2000" b="1"/>
              <a:t>第二轮提示词</a:t>
            </a:r>
            <a:endParaRPr lang="zh-CN" altLang="en-US"/>
          </a:p>
          <a:p>
            <a:pPr algn="ctr">
              <a:defRPr/>
            </a:pPr>
            <a:endParaRPr lang="zh-CN" altLang="en-US"/>
          </a:p>
          <a:p>
            <a:pPr algn="ctr">
              <a:defRPr/>
            </a:pPr>
            <a:r>
              <a:rPr lang="zh-CN" altLang="en-US"/>
              <a:t>修复 </a:t>
            </a:r>
            <a:r>
              <a:rPr lang="en-US" altLang="zh-CN"/>
              <a:t>prompt</a:t>
            </a:r>
            <a:r>
              <a:rPr lang="zh-CN" altLang="en-US">
                <a:ea typeface="宋体" panose="02010600030101010101" pitchFamily="2" charset="-122"/>
              </a:rPr>
              <a:t>下的</a:t>
            </a:r>
            <a:r>
              <a:rPr lang="en-US" altLang="zh-CN">
                <a:ea typeface="宋体" panose="02010600030101010101" pitchFamily="2" charset="-122"/>
              </a:rPr>
              <a:t>train.py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/>
              <a:t>matplotlib </a:t>
            </a:r>
            <a:r>
              <a:rPr lang="zh-CN" altLang="en-US"/>
              <a:t>中文乱码 + 训练运行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325" y="4132580"/>
            <a:ext cx="5143500" cy="13030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方法A：</a:t>
            </a:r>
            <a:endParaRPr 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468120"/>
            <a:ext cx="9916795" cy="503491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ctr">
              <a:defRPr/>
            </a:p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10" y="2872740"/>
            <a:ext cx="9102090" cy="303466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3129280" y="1760855"/>
            <a:ext cx="4730750" cy="81597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/>
              <a:t>修复后的训练结果图片</a:t>
            </a:r>
            <a:endParaRPr lang="zh-CN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方法A：纯提示词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</a:t>
            </a:r>
            <a:r>
              <a:rPr lang="en-US" altLang="zh-CN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6"/>
          <p:cNvSpPr/>
          <p:nvPr/>
        </p:nvSpPr>
        <p:spPr>
          <a:xfrm>
            <a:off x="762000" y="2125980"/>
            <a:ext cx="5368290" cy="426212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t" anchorCtr="0"/>
          <a:lstStyle/>
          <a:p>
            <a:pPr algn="ctr">
              <a:defRPr/>
            </a:pPr>
            <a:r>
              <a:rPr lang="zh-CN" altLang="en-US"/>
              <a:t> </a:t>
            </a:r>
            <a:r>
              <a:rPr lang="zh-CN" altLang="en-US" sz="2000" b="1"/>
              <a:t>第三轮提示词</a:t>
            </a:r>
            <a:endParaRPr lang="zh-CN" altLang="en-US"/>
          </a:p>
          <a:p>
            <a:pPr algn="ctr">
              <a:defRPr/>
            </a:pPr>
            <a:endParaRPr lang="zh-CN" altLang="en-US"/>
          </a:p>
          <a:p>
            <a:pPr algn="l">
              <a:defRPr/>
            </a:pPr>
            <a:r>
              <a:rPr lang="zh-CN" altLang="en-US"/>
              <a:t>  </a:t>
            </a:r>
            <a:r>
              <a:rPr lang="zh-CN" altLang="en-US" sz="1600"/>
              <a:t>在 "使用</a:t>
            </a:r>
            <a:r>
              <a:rPr lang="en-US" altLang="zh-CN" sz="1600"/>
              <a:t>prompt" </a:t>
            </a:r>
            <a:r>
              <a:rPr lang="zh-CN" altLang="en-US" sz="1600"/>
              <a:t>文件夹下编写一个 </a:t>
            </a:r>
            <a:r>
              <a:rPr lang="en-US" altLang="zh-CN" sz="1600"/>
              <a:t>Streamlit </a:t>
            </a:r>
            <a:r>
              <a:rPr lang="zh-CN" altLang="en-US" sz="1600"/>
              <a:t>应用，实现手写数字识别前端。</a:t>
            </a:r>
            <a:endParaRPr lang="en-US" altLang="zh-CN"/>
          </a:p>
          <a:p>
            <a:pPr algn="l">
              <a:defRPr/>
            </a:pPr>
            <a:r>
              <a:rPr lang="zh-CN" altLang="en-US" sz="1600"/>
              <a:t>具体要求：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  1. 标题 "手写数字识别 </a:t>
            </a:r>
            <a:r>
              <a:rPr lang="en-US" altLang="zh-CN" sz="1600"/>
              <a:t>Demo"</a:t>
            </a:r>
            <a:endParaRPr lang="en-US" altLang="zh-CN" sz="1600"/>
          </a:p>
          <a:p>
            <a:pPr algn="l">
              <a:defRPr/>
            </a:pPr>
            <a:r>
              <a:rPr lang="zh-CN" altLang="en-US" sz="1600"/>
              <a:t>  2. 侧边栏选择输入方式：</a:t>
            </a:r>
            <a:endParaRPr lang="zh-CN" altLang="en-US" sz="1600"/>
          </a:p>
          <a:p>
            <a:pPr lvl="2" indent="457200" algn="l">
              <a:defRPr/>
            </a:pPr>
            <a:r>
              <a:rPr lang="en-US" altLang="zh-CN" sz="1600"/>
              <a:t>A. </a:t>
            </a:r>
            <a:r>
              <a:rPr lang="zh-CN" altLang="en-US" sz="1600"/>
              <a:t>上传图片(</a:t>
            </a:r>
            <a:r>
              <a:rPr lang="en-US" altLang="zh-CN" sz="1600"/>
              <a:t>png/jpg)  </a:t>
            </a:r>
            <a:endParaRPr lang="en-US" altLang="zh-CN" sz="1600"/>
          </a:p>
          <a:p>
            <a:pPr lvl="2" indent="457200" algn="l">
              <a:defRPr/>
            </a:pPr>
            <a:r>
              <a:rPr lang="en-US" altLang="zh-CN" sz="1600"/>
              <a:t>B. </a:t>
            </a:r>
            <a:r>
              <a:rPr lang="zh-CN" altLang="en-US" sz="1600"/>
              <a:t>手写画布(280×280, 笔画宽度15)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  3. 显示原始输入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  4. 预处理：转灰度→缩放28×28→自动反色→归一化→维度(1,28,28,1)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  5. 加载 </a:t>
            </a:r>
            <a:r>
              <a:rPr lang="en-US" altLang="zh-CN" sz="1600"/>
              <a:t>mnist_model.h5 </a:t>
            </a:r>
            <a:r>
              <a:rPr lang="zh-CN" altLang="en-US" sz="1600"/>
              <a:t>进行预测，显示预测数字和置信度（百分比）</a:t>
            </a:r>
            <a:endParaRPr lang="zh-CN" altLang="en-US" sz="1600"/>
          </a:p>
          <a:p>
            <a:pPr algn="l">
              <a:defRPr/>
            </a:pPr>
            <a:r>
              <a:rPr lang="zh-CN" altLang="en-US" sz="1600"/>
              <a:t>  6. 包含所有必要导入和中文注释</a:t>
            </a:r>
            <a:endParaRPr lang="zh-CN" altLang="en-US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0" y="5565140"/>
            <a:ext cx="3580130" cy="40068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4321810"/>
            <a:ext cx="4457700" cy="7543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5879465"/>
            <a:ext cx="3579495" cy="4356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125980"/>
            <a:ext cx="4650105" cy="162814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772275" y="3517900"/>
            <a:ext cx="1797050" cy="3143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703060" y="5965825"/>
            <a:ext cx="1797050" cy="31432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C0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方法A：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953135" y="1413510"/>
            <a:ext cx="8869045" cy="555625"/>
          </a:xfrm>
          <a:prstGeom prst="roundRect">
            <a:avLst>
              <a:gd name="adj" fmla="val 6857"/>
            </a:avLst>
          </a:prstGeom>
          <a:solidFill>
            <a:schemeClr val="tx1">
              <a:lumMod val="50000"/>
              <a:lumOff val="50000"/>
            </a:scheme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zh-CN" altLang="en-US" sz="2000">
                <a:ea typeface="宋体" panose="02010600030101010101" pitchFamily="2" charset="-122"/>
              </a:rPr>
              <a:t>运行前端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  <a:r>
              <a:rPr lang="en-US" sz="2000"/>
              <a:t>streamlit run ./prompt/app.py</a:t>
            </a:r>
            <a:endParaRPr lang="en-US" sz="2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35" y="2202815"/>
            <a:ext cx="8869680" cy="134112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35" y="3777615"/>
            <a:ext cx="3025140" cy="135636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884555" y="4446270"/>
            <a:ext cx="1362710" cy="3213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84555" y="4812665"/>
            <a:ext cx="1362710" cy="32131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方法A：前端界面</a:t>
            </a:r>
            <a:endParaRPr lang="en-US" sz="11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3836"/>
          <a:stretch>
            <a:fillRect/>
          </a:stretch>
        </p:blipFill>
        <p:spPr>
          <a:xfrm>
            <a:off x="6633210" y="1377950"/>
            <a:ext cx="5292090" cy="49676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28458" r="2368"/>
          <a:stretch>
            <a:fillRect/>
          </a:stretch>
        </p:blipFill>
        <p:spPr>
          <a:xfrm>
            <a:off x="668655" y="1377950"/>
            <a:ext cx="5547360" cy="49803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方法A：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演示视频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A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99565" y="1353820"/>
            <a:ext cx="8707120" cy="5165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3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方动开发流程</a:t>
            </a:r>
            <a:endParaRPr lang="en-US" sz="1100"/>
          </a:p>
        </p:txBody>
      </p:sp>
      <p:grpSp>
        <p:nvGrpSpPr>
          <p:cNvPr id="19" name="组合 18"/>
          <p:cNvGrpSpPr/>
          <p:nvPr>
            <p:custDataLst>
              <p:tags r:id="rId1"/>
            </p:custDataLst>
          </p:nvPr>
        </p:nvGrpSpPr>
        <p:grpSpPr>
          <a:xfrm>
            <a:off x="1930400" y="2032000"/>
            <a:ext cx="3302000" cy="3810000"/>
            <a:chOff x="1200" y="3200"/>
            <a:chExt cx="5200" cy="6000"/>
          </a:xfrm>
          <a:solidFill>
            <a:schemeClr val="bg2">
              <a:lumMod val="75000"/>
            </a:schemeClr>
          </a:solidFill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1200" y="3200"/>
              <a:ext cx="5200" cy="6000"/>
            </a:xfrm>
            <a:prstGeom prst="roundRect">
              <a:avLst>
                <a:gd name="adj" fmla="val 4615"/>
              </a:avLst>
            </a:prstGeom>
            <a:grpFill/>
            <a:ln w="12700" cap="flat" cmpd="sng">
              <a:solidFill>
                <a:srgbClr val="34D399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4" name="Picture 4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40" y="3800"/>
              <a:ext cx="1520" cy="1520"/>
            </a:xfrm>
            <a:prstGeom prst="rect">
              <a:avLst/>
            </a:prstGeom>
          </p:spPr>
        </p:pic>
        <p:sp>
          <p:nvSpPr>
            <p:cNvPr id="5" name="AutoShape 5"/>
            <p:cNvSpPr/>
            <p:nvPr>
              <p:custDataLst>
                <p:tags r:id="rId6"/>
              </p:custDataLst>
            </p:nvPr>
          </p:nvSpPr>
          <p:spPr>
            <a:xfrm>
              <a:off x="1500" y="5225"/>
              <a:ext cx="4600" cy="800"/>
            </a:xfrm>
            <a:prstGeom prst="rect">
              <a:avLst/>
            </a:prstGeom>
            <a:grp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Agent 智能体</a:t>
              </a:r>
              <a:endParaRPr lang="en-US" sz="1100"/>
            </a:p>
          </p:txBody>
        </p:sp>
        <p:sp>
          <p:nvSpPr>
            <p:cNvPr id="6" name="AutoShape 6"/>
            <p:cNvSpPr/>
            <p:nvPr>
              <p:custDataLst>
                <p:tags r:id="rId7"/>
              </p:custDataLst>
            </p:nvPr>
          </p:nvSpPr>
          <p:spPr>
            <a:xfrm>
              <a:off x="2900" y="6130"/>
              <a:ext cx="1800" cy="60"/>
            </a:xfrm>
            <a:prstGeom prst="roundRect">
              <a:avLst>
                <a:gd name="adj" fmla="val 0"/>
              </a:avLst>
            </a:prstGeom>
            <a:grpFill/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>
              <p:custDataLst>
                <p:tags r:id="rId8"/>
              </p:custDataLst>
            </p:nvPr>
          </p:nvSpPr>
          <p:spPr>
            <a:xfrm>
              <a:off x="1600" y="6295"/>
              <a:ext cx="4400" cy="2180"/>
            </a:xfrm>
            <a:prstGeom prst="rect">
              <a:avLst/>
            </a:prstGeom>
            <a:grp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zh-CN" alt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这个就是前面提到的代码助手</a:t>
              </a:r>
              <a:r>
                <a:rPr lang="en-US" altLang="zh-CN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Atomcode</a:t>
              </a:r>
              <a:r>
                <a:rPr lang="zh-CN" alt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底层大模型是</a:t>
              </a:r>
              <a:r>
                <a:rPr lang="en-US" altLang="zh-CN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deep-seek-flash</a:t>
              </a:r>
              <a:r>
                <a:rPr lang="en-US" sz="14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。</a:t>
              </a:r>
              <a:endParaRPr lang="en-US" sz="1100"/>
            </a:p>
          </p:txBody>
        </p:sp>
      </p:grp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6369050" y="2032000"/>
            <a:ext cx="3302000" cy="3810000"/>
            <a:chOff x="12091" y="3200"/>
            <a:chExt cx="5200" cy="6000"/>
          </a:xfrm>
        </p:grpSpPr>
        <p:sp>
          <p:nvSpPr>
            <p:cNvPr id="8" name="AutoShape 8"/>
            <p:cNvSpPr/>
            <p:nvPr>
              <p:custDataLst>
                <p:tags r:id="rId10"/>
              </p:custDataLst>
            </p:nvPr>
          </p:nvSpPr>
          <p:spPr>
            <a:xfrm>
              <a:off x="12091" y="3200"/>
              <a:ext cx="5200" cy="6000"/>
            </a:xfrm>
            <a:prstGeom prst="roundRect">
              <a:avLst>
                <a:gd name="adj" fmla="val 4615"/>
              </a:avLst>
            </a:prstGeom>
            <a:solidFill>
              <a:srgbClr val="4A5568">
                <a:alpha val="100000"/>
              </a:srgbClr>
            </a:solidFill>
            <a:ln w="12700" cap="flat" cmpd="sng">
              <a:solidFill>
                <a:srgbClr val="34D399">
                  <a:alpha val="3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9" name="Picture 9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931" y="3800"/>
              <a:ext cx="1520" cy="1520"/>
            </a:xfrm>
            <a:prstGeom prst="rect">
              <a:avLst/>
            </a:prstGeom>
          </p:spPr>
        </p:pic>
        <p:sp>
          <p:nvSpPr>
            <p:cNvPr id="10" name="AutoShape 10"/>
            <p:cNvSpPr/>
            <p:nvPr>
              <p:custDataLst>
                <p:tags r:id="rId14"/>
              </p:custDataLst>
            </p:nvPr>
          </p:nvSpPr>
          <p:spPr>
            <a:xfrm>
              <a:off x="12491" y="5330"/>
              <a:ext cx="4600" cy="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ctr">
                <a:lnSpc>
                  <a:spcPct val="125000"/>
                </a:lnSpc>
                <a:defRPr/>
              </a:pPr>
              <a:r>
                <a:rPr lang="en-US" sz="2200" b="1" i="0" u="none" strike="noStrike">
                  <a:solidFill>
                    <a:srgbClr val="FFFFFF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Skills 技能</a:t>
              </a:r>
              <a:endParaRPr lang="en-US" sz="1100"/>
            </a:p>
          </p:txBody>
        </p:sp>
        <p:sp>
          <p:nvSpPr>
            <p:cNvPr id="12" name="AutoShape 12"/>
            <p:cNvSpPr/>
            <p:nvPr>
              <p:custDataLst>
                <p:tags r:id="rId15"/>
              </p:custDataLst>
            </p:nvPr>
          </p:nvSpPr>
          <p:spPr>
            <a:xfrm>
              <a:off x="12491" y="6295"/>
              <a:ext cx="4400" cy="288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赋予 AI 模块化的专业技能组件（如</a:t>
              </a:r>
              <a:r>
                <a:rPr lang="zh-CN" alt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流程开发</a:t>
              </a:r>
              <a:r>
                <a:rPr 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、架构设计、性能优化</a:t>
              </a:r>
              <a:r>
                <a:rPr lang="zh-CN" alt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等</a:t>
              </a:r>
              <a:r>
                <a:rPr lang="en-US" sz="1800" b="0" i="0" u="none" strike="noStrike">
                  <a:solidFill>
                    <a:srgbClr val="E2E8F0">
                      <a:alpha val="90196"/>
                    </a:srgbClr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），灵活组合以应对复杂场景需求。</a:t>
              </a:r>
              <a:endParaRPr lang="en-US" sz="1800" b="0" i="0" u="none" strike="noStrike">
                <a:solidFill>
                  <a:srgbClr val="E2E8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sp>
        <p:nvSpPr>
          <p:cNvPr id="18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方法B：Agent+Skills</a:t>
            </a:r>
            <a:endParaRPr lang="zh-CN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方法B：技能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使用和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458851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06600"/>
            <a:ext cx="393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使用到的</a:t>
            </a:r>
            <a:r>
              <a:rPr lang="en-US" sz="20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62860"/>
            <a:ext cx="4572000" cy="3640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1 | /superpowers:brainstorming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项目启动时进行头脑风暴，确认需求范围、技术栈、项目结构 |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2 | /superpowers:writing-plans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制定 8 个 </a:t>
            </a: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的详细实施计划，写入 </a:t>
            </a: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MNIST-PyTorch-TDD-Plan.md |</a:t>
            </a:r>
            <a:endParaRPr lang="en-US" altLang="zh-CN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3 | /superpowers:subagent-driven-development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按计划分步执行创建文件的任务 |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4 | /superpowers:systematic-debugging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测试失败时定位 </a:t>
            </a: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root cause（Normalize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导致像素值超出 [0,1]） |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5 | /superpowers:writing-skills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编写所需的开发技能 |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6 | /superpowers:requesting-code-review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完成开发后请求代码审查，确认实现是否符合要求 |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7 | /skills:developing-with-streamlit |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 </a:t>
            </a:r>
            <a:r>
              <a:rPr lang="en-US" altLang="zh-CN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 </a:t>
            </a:r>
            <a:r>
              <a:rPr lang="zh-CN" altLang="en-US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前端应用，包含绘图画布组件 </a:t>
            </a:r>
            <a:endParaRPr lang="zh-CN" altLang="en-US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9801"/>
          <a:stretch>
            <a:fillRect/>
          </a:stretch>
        </p:blipFill>
        <p:spPr>
          <a:xfrm>
            <a:off x="6622415" y="4389755"/>
            <a:ext cx="4591685" cy="20980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rcRect b="11507"/>
          <a:stretch>
            <a:fillRect/>
          </a:stretch>
        </p:blipFill>
        <p:spPr>
          <a:xfrm>
            <a:off x="6530975" y="1939290"/>
            <a:ext cx="4775200" cy="1767840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6622415" y="1426845"/>
            <a:ext cx="4557395" cy="4514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/>
              <a:t>https://github.com/obra/superpowers</a:t>
            </a:r>
            <a:endParaRPr lang="en-US" altLang="zh-CN" sz="1800"/>
          </a:p>
        </p:txBody>
      </p:sp>
      <p:sp>
        <p:nvSpPr>
          <p:cNvPr id="16" name="圆角矩形 15"/>
          <p:cNvSpPr/>
          <p:nvPr/>
        </p:nvSpPr>
        <p:spPr>
          <a:xfrm>
            <a:off x="6622415" y="3883660"/>
            <a:ext cx="4557395" cy="4514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800"/>
              <a:t>https://github.com/streamlit/agent-skills</a:t>
            </a:r>
            <a:endParaRPr lang="en-US" altLang="zh-CN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方法B：技能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使用和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endParaRPr lang="en-US" sz="1100"/>
          </a:p>
        </p:txBody>
      </p:sp>
      <p:pic>
        <p:nvPicPr>
          <p:cNvPr id="7" name="图片 6" descr="扩展程序列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6470" y="2321560"/>
            <a:ext cx="7193915" cy="4163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470" y="1431925"/>
            <a:ext cx="5619750" cy="6464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方法B：技能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使用和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endParaRPr lang="en-US" sz="1100"/>
          </a:p>
        </p:txBody>
      </p:sp>
      <p:pic>
        <p:nvPicPr>
          <p:cNvPr id="3" name="图片 2" descr="项目需求说明"/>
          <p:cNvPicPr>
            <a:picLocks noChangeAspect="1"/>
          </p:cNvPicPr>
          <p:nvPr/>
        </p:nvPicPr>
        <p:blipFill>
          <a:blip r:embed="rId1"/>
          <a:srcRect t="4595" r="17768"/>
          <a:stretch>
            <a:fillRect/>
          </a:stretch>
        </p:blipFill>
        <p:spPr>
          <a:xfrm>
            <a:off x="569595" y="1449070"/>
            <a:ext cx="7461885" cy="500951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87680" y="1510030"/>
            <a:ext cx="7543800" cy="105029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18465" y="2621280"/>
            <a:ext cx="7543800" cy="3916045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8669655" y="1206500"/>
            <a:ext cx="3295015" cy="263080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1800"/>
              <a:t>原提示词：</a:t>
            </a:r>
            <a:r>
              <a:rPr lang="zh-CN" altLang="en-US" sz="1800" b="1">
                <a:solidFill>
                  <a:schemeClr val="bg1">
                    <a:lumMod val="95000"/>
                  </a:schemeClr>
                </a:solidFill>
              </a:rPr>
              <a:t>要求完成深度神经网络</a:t>
            </a:r>
            <a:r>
              <a:rPr lang="en-US" altLang="zh-CN" sz="1800" b="1">
                <a:solidFill>
                  <a:schemeClr val="bg1">
                    <a:lumMod val="95000"/>
                  </a:schemeClr>
                </a:solidFill>
              </a:rPr>
              <a:t>MNIST</a:t>
            </a:r>
            <a:r>
              <a:rPr lang="zh-CN" altLang="en-US" sz="1800" b="1">
                <a:solidFill>
                  <a:schemeClr val="bg1">
                    <a:lumMod val="95000"/>
                  </a:schemeClr>
                </a:solidFill>
              </a:rPr>
              <a:t>手写数字识别，所有文件在</a:t>
            </a:r>
            <a:r>
              <a:rPr lang="en-US" altLang="zh-CN" sz="1800" b="1">
                <a:solidFill>
                  <a:schemeClr val="bg1">
                    <a:lumMod val="95000"/>
                  </a:schemeClr>
                </a:solidFill>
              </a:rPr>
              <a:t>Agent+Skills/</a:t>
            </a:r>
            <a:r>
              <a:rPr lang="zh-CN" altLang="en-US" sz="1800" b="1">
                <a:solidFill>
                  <a:schemeClr val="bg1">
                    <a:lumMod val="95000"/>
                  </a:schemeClr>
                </a:solidFill>
              </a:rPr>
              <a:t>下创建</a:t>
            </a:r>
            <a:r>
              <a:rPr lang="zh-CN" altLang="en-US" sz="1800"/>
              <a:t>。</a:t>
            </a:r>
            <a:endParaRPr lang="zh-CN" altLang="en-US" sz="1800"/>
          </a:p>
          <a:p>
            <a:pPr algn="l"/>
            <a:r>
              <a:rPr lang="zh-CN" altLang="en-US" sz="1800"/>
              <a:t>然后</a:t>
            </a:r>
            <a:r>
              <a:rPr lang="en-US" altLang="zh-CN" sz="1800"/>
              <a:t>atomcode</a:t>
            </a:r>
            <a:r>
              <a:rPr lang="zh-CN" altLang="en-US" sz="1800"/>
              <a:t>自动的进行识别我的目的，把思路进行一个整理，就说出了这几个步骤</a:t>
            </a:r>
            <a:endParaRPr lang="zh-CN" altLang="en-US" sz="1800"/>
          </a:p>
        </p:txBody>
      </p:sp>
      <p:sp>
        <p:nvSpPr>
          <p:cNvPr id="10" name="右箭头 9"/>
          <p:cNvSpPr/>
          <p:nvPr/>
        </p:nvSpPr>
        <p:spPr>
          <a:xfrm>
            <a:off x="8098790" y="1978660"/>
            <a:ext cx="503555" cy="41656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8098790" y="4561840"/>
            <a:ext cx="503555" cy="41656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8669655" y="3949700"/>
            <a:ext cx="3295015" cy="263080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sz="2000"/>
              <a:t>这是</a:t>
            </a:r>
            <a:r>
              <a:rPr lang="en-US" altLang="zh-CN" sz="2000"/>
              <a:t>atomcode</a:t>
            </a:r>
            <a:r>
              <a:rPr lang="zh-CN" altLang="en-US" sz="2000"/>
              <a:t>在技能库中找到的可以实现当前目的的所有技能的功能以及概述，它通过这些技能在写代码方面对自己进行了一个规范化</a:t>
            </a:r>
            <a:endParaRPr lang="zh-CN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方法B：技能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使用和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endParaRPr lang="en-US" sz="11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29041"/>
          <a:stretch>
            <a:fillRect/>
          </a:stretch>
        </p:blipFill>
        <p:spPr>
          <a:xfrm>
            <a:off x="762000" y="1402715"/>
            <a:ext cx="7694295" cy="169164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7836535" y="1622425"/>
            <a:ext cx="3923665" cy="11112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1800"/>
              <a:t>这里</a:t>
            </a:r>
            <a:r>
              <a:rPr lang="en-US" altLang="zh-CN" sz="1800"/>
              <a:t>atomcode</a:t>
            </a:r>
            <a:r>
              <a:rPr lang="zh-CN" altLang="en-US" sz="1800"/>
              <a:t>就开始严格的使用</a:t>
            </a:r>
            <a:r>
              <a:rPr lang="en-US" altLang="zh-CN" sz="1800"/>
              <a:t>superwork</a:t>
            </a:r>
            <a:r>
              <a:rPr lang="zh-CN" altLang="en-US" sz="1800"/>
              <a:t>里面的某个技能，进行先构思再开始编码的思想了。</a:t>
            </a:r>
            <a:endParaRPr lang="zh-CN" altLang="en-US" sz="1800"/>
          </a:p>
        </p:txBody>
      </p:sp>
      <p:sp>
        <p:nvSpPr>
          <p:cNvPr id="5" name="圆角矩形 4"/>
          <p:cNvSpPr/>
          <p:nvPr/>
        </p:nvSpPr>
        <p:spPr>
          <a:xfrm>
            <a:off x="762000" y="3523615"/>
            <a:ext cx="10843895" cy="7816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l"/>
            <a:r>
              <a:rPr lang="zh-CN" altLang="en-US" sz="1800"/>
              <a:t>由于还没有明确</a:t>
            </a:r>
            <a:r>
              <a:rPr lang="en-US" altLang="zh-CN" sz="1800"/>
              <a:t>Streamlit</a:t>
            </a:r>
            <a:r>
              <a:rPr lang="zh-CN" altLang="en-US" sz="1800"/>
              <a:t>的要求，这里给出提示词：</a:t>
            </a:r>
            <a:endParaRPr lang="zh-CN" altLang="en-US" sz="1800"/>
          </a:p>
          <a:p>
            <a:pPr algn="l"/>
            <a:r>
              <a:rPr lang="zh-CN" altLang="en-US" sz="1800" b="1"/>
              <a:t>接着加</a:t>
            </a:r>
            <a:r>
              <a:rPr lang="en-US" altLang="zh-CN" sz="1800" b="1"/>
              <a:t>streamlit</a:t>
            </a:r>
            <a:r>
              <a:rPr lang="zh-CN" altLang="en-US" sz="1800" b="1"/>
              <a:t>实现图片上传和手写板</a:t>
            </a:r>
            <a:endParaRPr lang="zh-CN" altLang="en-US" sz="1800" b="1"/>
          </a:p>
        </p:txBody>
      </p:sp>
      <p:sp>
        <p:nvSpPr>
          <p:cNvPr id="11" name="圆角右箭头 10"/>
          <p:cNvSpPr/>
          <p:nvPr/>
        </p:nvSpPr>
        <p:spPr>
          <a:xfrm>
            <a:off x="6438900" y="1787525"/>
            <a:ext cx="1397635" cy="651510"/>
          </a:xfrm>
          <a:prstGeom prst="ben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76445"/>
            <a:ext cx="4774565" cy="20154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595495"/>
            <a:ext cx="3870960" cy="19964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方法B：技能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使用和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endParaRPr lang="en-US" sz="11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1206500"/>
            <a:ext cx="8207375" cy="34480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268730" y="4748530"/>
            <a:ext cx="9654540" cy="15024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t" anchorCtr="0"/>
          <a:p>
            <a:pPr algn="ctr"/>
            <a:r>
              <a:rPr lang="zh-CN" altLang="en-US" sz="1800"/>
              <a:t>这里已经很符合预期了，直接回答了</a:t>
            </a:r>
            <a:r>
              <a:rPr lang="zh-CN" altLang="en-US" sz="3600"/>
              <a:t>符合</a:t>
            </a:r>
            <a:endParaRPr lang="zh-CN" altLang="en-US" sz="3600"/>
          </a:p>
          <a:p>
            <a:pPr algn="ctr"/>
            <a:r>
              <a:rPr lang="en-US" altLang="zh-CN" sz="3600"/>
              <a:t>atomcode</a:t>
            </a:r>
            <a:r>
              <a:rPr lang="zh-CN" altLang="en-US" sz="3600"/>
              <a:t>就开始根据完整的设计进行编码</a:t>
            </a:r>
            <a:endParaRPr lang="zh-CN" altLang="en-US" sz="3600"/>
          </a:p>
        </p:txBody>
      </p:sp>
      <p:sp>
        <p:nvSpPr>
          <p:cNvPr id="8" name="矩形 7"/>
          <p:cNvSpPr/>
          <p:nvPr/>
        </p:nvSpPr>
        <p:spPr>
          <a:xfrm>
            <a:off x="1798320" y="3116580"/>
            <a:ext cx="3697605" cy="134556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方法B：技能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使用和</a:t>
            </a: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</a:t>
            </a:r>
            <a:endParaRPr lang="en-US" sz="11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35" y="3496945"/>
            <a:ext cx="4626610" cy="20485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214630" y="2345690"/>
            <a:ext cx="4783455" cy="6419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完成后的目录结构代码，然后让</a:t>
            </a:r>
            <a:r>
              <a:rPr lang="en-US" altLang="zh-CN"/>
              <a:t>atomcode</a:t>
            </a:r>
            <a:r>
              <a:rPr lang="zh-CN" altLang="en-US"/>
              <a:t>进行测试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901055" y="1278255"/>
            <a:ext cx="4783455" cy="6419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第一次</a:t>
            </a:r>
            <a:r>
              <a:rPr lang="en-US" altLang="zh-CN"/>
              <a:t>run_all_tests.py</a:t>
            </a:r>
            <a:r>
              <a:rPr lang="zh-CN" altLang="en-US"/>
              <a:t>运行发现有未通过测试</a:t>
            </a:r>
            <a:endParaRPr lang="en-US" altLang="zh-CN"/>
          </a:p>
        </p:txBody>
      </p:sp>
      <p:pic>
        <p:nvPicPr>
          <p:cNvPr id="8" name="图片 7" descr="pytest测试结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355" y="2068830"/>
            <a:ext cx="6104890" cy="159321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5901055" y="4065270"/>
            <a:ext cx="4783455" cy="64198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自行修改后，第二次</a:t>
            </a:r>
            <a:r>
              <a:rPr lang="en-US" altLang="zh-CN"/>
              <a:t>run_all_tests.py</a:t>
            </a:r>
            <a:r>
              <a:rPr lang="zh-CN" altLang="en-US"/>
              <a:t>运行发现有全部通过</a:t>
            </a:r>
            <a:endParaRPr lang="en-US" altLang="zh-CN"/>
          </a:p>
        </p:txBody>
      </p:sp>
      <p:pic>
        <p:nvPicPr>
          <p:cNvPr id="13" name="图片 12" descr="pytest退出码说明"/>
          <p:cNvPicPr>
            <a:picLocks noChangeAspect="1"/>
          </p:cNvPicPr>
          <p:nvPr/>
        </p:nvPicPr>
        <p:blipFill>
          <a:blip r:embed="rId3"/>
          <a:srcRect t="15977"/>
          <a:stretch>
            <a:fillRect/>
          </a:stretch>
        </p:blipFill>
        <p:spPr>
          <a:xfrm>
            <a:off x="5380355" y="4834890"/>
            <a:ext cx="6155690" cy="16929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</a:t>
            </a:r>
            <a:r>
              <a:rPr lang="zh-CN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</a:t>
            </a:r>
            <a:r>
              <a:rPr lang="en-US" altLang="zh-CN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的模型并且运行测试外的代码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440" y="1414780"/>
            <a:ext cx="4175125" cy="49180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615" y="1414780"/>
            <a:ext cx="7161530" cy="2823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35" y="4547235"/>
            <a:ext cx="7319010" cy="11099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</a:t>
            </a:r>
            <a:r>
              <a:rPr lang="zh-CN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前端界面</a:t>
            </a:r>
            <a:endParaRPr lang="zh-CN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52015"/>
            <a:ext cx="5212080" cy="3237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30" y="2152015"/>
            <a:ext cx="5271770" cy="32740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</a:t>
            </a:r>
            <a:r>
              <a:rPr lang="zh-CN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演示视频</a:t>
            </a:r>
            <a:endParaRPr lang="zh-CN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B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516380" y="1206500"/>
            <a:ext cx="9158605" cy="5183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方法B：TDD原理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4826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14500" y="19304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 (Red) - 失败测试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先编写测试用例，此时运行测试必然失败（红灯），以此验证测试逻辑本身的有效性。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86500" y="1778000"/>
            <a:ext cx="4826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86500" y="1778000"/>
            <a:ext cx="76200" cy="14605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67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93040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 (Green) - 实现功能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编写刚好满足需求的最少量代码，不追求完美，只要求让刚才失败的测试顺利通过（绿灯）。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717290"/>
            <a:ext cx="4826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717290"/>
            <a:ext cx="76200" cy="1460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397129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869690"/>
            <a:ext cx="355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 (Refactor) - 优化代码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在现有测试用例的“安全网”保护下，大胆地优化代码结构、消除重复逻辑，提升代码的可维护性。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032500" y="3717290"/>
            <a:ext cx="5334000" cy="1841500"/>
          </a:xfrm>
          <a:prstGeom prst="roundRect">
            <a:avLst>
              <a:gd name="adj" fmla="val 8275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397129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94500" y="392049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TDD 的核心价值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将“发现Bug”的环节前置到开发早期，能以最低的成本修复问题。通过“先定义规则，再实现”的方式，避免了错误被带入后续复杂的集成与部署环节，是公认的保障软件质量的最佳工程实践之一。</a:t>
            </a:r>
            <a:endParaRPr lang="en-US" sz="1300" b="0" i="0" u="none" strike="noStrike">
              <a:solidFill>
                <a:srgbClr val="FFFF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实验结果：模型性能与前端功能对比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模型性能对比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921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8194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 (TensorFlow)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准确率：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99.29%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模型体积：约 2.7 MB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0005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254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41529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方法B (PyTorch)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准确率：</a:t>
            </a:r>
            <a:r>
              <a:rPr lang="en-US" sz="18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99.31%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参数量：约 225 K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5334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5461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结论：控制变量下性能相当，PyTorch 模型更轻量化。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前端功能对比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667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921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28194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方法A：基础版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输入：仅支持静态图片上传识别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输出：仅展示单张图最高置信度数字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477000" y="40005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2545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4152900"/>
            <a:ext cx="355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方法B：增强交互版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输入：支持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在线手写画板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图片上传双模式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输出：可视化展示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0-9全类别预测概率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5334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604000" y="5461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结论：Agent驱动开发能快速交付功能完整的“准产品”。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651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42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82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COMPARATIVE ANALYSIS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深度剖析：生成方式的差异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20320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方法A：以人为驱动的“单步指令”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540000"/>
            <a:ext cx="635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3124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8956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模式：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开发者需要思考每一个具体步骤，手动编写多轮Prompt，像“喂饭”一样一步步指导AI完成任务。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4064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80365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痛点：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开发者成为信息传递的“中间商”，需要负责所有逻辑拆解和错误处理，上下文管理复杂且极易出错。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97205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00200" y="47117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类比：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你是大厨，AI只是切菜工。你必须不断下达“切土豆丝”、“切肉片”等指令，它才会干活。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27800" y="20320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方法B：以目标为驱动的“自主执行”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27800" y="2540000"/>
            <a:ext cx="635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3124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28956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模式：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开发者只需提供顶层目标（如“做一盘宫保鸡丁”），Agent会像项目经理一样，自主规划步骤、</a:t>
            </a:r>
            <a:r>
              <a:rPr lang="zh-CN" alt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使用技能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并执行。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39243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380365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优势：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自动化程度高，大幅降低人力成本。开发者能彻底从繁琐的实现细节中解放出来，专注于核心需求的设计。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27800" y="497205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79806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类比：</a:t>
            </a:r>
            <a:r>
              <a:rPr lang="en-US" sz="1300" b="0" i="0" u="none" strike="noStrike">
                <a:solidFill>
                  <a:srgbClr val="7180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你是顾客，只需告诉AI“我要一份宫保鸡丁”。AI会自己搞定找菜谱、备料、烹饪、装盘并上菜的全过程。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深度剖析：测试体系的差异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016000"/>
          </a:xfrm>
          <a:prstGeom prst="roundRect">
            <a:avLst>
              <a:gd name="adj" fmla="val 15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19812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30400" y="1955800"/>
            <a:ext cx="368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方法A：“写完就跑”的脚本式开发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4597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核心模式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缺乏自动化测试，代码质量完全依赖最终的人工“黑盒测试”，没有建立持续验证的机制。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800"/>
              </a:spcBef>
            </a:pPr>
            <a:r>
              <a:rPr lang="en-US" sz="16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🔥 潜在风险</a:t>
            </a:r>
            <a:endParaRPr lang="en-US" sz="1600" b="1" i="0" u="none" strike="noStrike">
              <a:solidFill>
                <a:srgbClr val="B91C1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难以快速定位问题根源，一旦模型效果不达标，无法准确判断是数据处理、模型结构还是训练逻辑导致的错误。存在典型的“垃圾进，垃圾出”(Garbage in, garbage out)风险，维护成本极高。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016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19812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91400" y="1955800"/>
            <a:ext cx="3683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方法B：TDD驱动的“质量保障”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3048000"/>
            <a:ext cx="45974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核心模式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严格遵循“先写测试，再写实现”(Test-Driven Development)的开发原则，在编写业务代码前先定义预期行为，为每一个功能模块穿上“防弹衣”。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spcBef>
                <a:spcPts val="1800"/>
              </a:spcBef>
            </a:pPr>
            <a:r>
              <a:rPr lang="en-US" sz="16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✨ 显著优势</a:t>
            </a:r>
            <a:endParaRPr lang="en-US" sz="1600" b="1" i="0" u="none" strike="noStrike">
              <a:solidFill>
                <a:srgbClr val="0596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能在开发早期就自动暴露问题（例如输入数据的像素值范围异常、函数返回类型错误等），有效避免问题被带入到后续更复杂的环节。这种方式显著提升了代码的健壮性，保障了系统的高可用性。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深度剖析：功能完整性的差异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A0AEC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 A：受限于上下文的“最简解法”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1016000" y="3175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7FAF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33655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651000" y="3188335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单次对话的上下文窗口和逻辑连贯性限制，大模型倾向于生成“能动就行”的基础版本，缺乏对复杂交互逻辑的整体考量。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016000" y="4826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50546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1651000" y="4826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最终结果：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功能模块单一，交互方式简单，产出物往往更像是一个验证可行性的“Demo”版本，难以直接用于生产环境。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4D399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15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 B：系统化规划的“准产品”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6477000" y="3175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0" y="3365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7112000" y="3093085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核心原因：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具备强大的任务拆解与系统化规划能力，并能灵活调用各类外围工具 (Skills) 与函数，突破了单轮生成的限制。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6"/>
            </p:custDataLst>
          </p:nvPr>
        </p:nvSpPr>
        <p:spPr>
          <a:xfrm>
            <a:off x="6477000" y="4826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0" y="50546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19"/>
            </p:custDataLst>
          </p:nvPr>
        </p:nvSpPr>
        <p:spPr>
          <a:xfrm>
            <a:off x="7112000" y="4826000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最终结果：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能集成复杂组件（如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streamlit-drawable-canvas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），实现概率分布、复杂绘图等丰富逻辑，交付接近“产品级”的成熟应用。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两种AI方法对比总览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2540000" cy="4699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40000" cy="762000"/>
          </a:xfrm>
          <a:prstGeom prst="roundRect">
            <a:avLst>
              <a:gd name="adj" fmla="val 13333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8034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对比维度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603500"/>
            <a:ext cx="228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开发方式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框架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开发方法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自动化测试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项目结构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前端画布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概率展示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代码质量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文档完备度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测试准确率</a:t>
            </a:r>
            <a:endParaRPr lang="en-US" sz="1300" b="1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556000" y="1651000"/>
            <a:ext cx="3810000" cy="4699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556000" y="1651000"/>
            <a:ext cx="3810000" cy="762000"/>
          </a:xfrm>
          <a:prstGeom prst="roundRect">
            <a:avLst>
              <a:gd name="adj" fmla="val 13333"/>
            </a:avLst>
          </a:prstGeom>
          <a:solidFill>
            <a:srgbClr val="EDF2F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56000" y="1803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方法A：纯提示词驱动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2603500"/>
            <a:ext cx="355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手动多轮交互，人驱动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TensorFlow + Keras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直接编写代码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无</a:t>
            </a:r>
            <a:endParaRPr lang="en-US" sz="1300" b="0" i="0" u="none" strike="noStrike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2个文件平铺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细节较少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仅显示最高置信度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脚本式，无复用设计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对话记录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99.29%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0" y="1651000"/>
            <a:ext cx="3810000" cy="4699000"/>
          </a:xfrm>
          <a:prstGeom prst="roundRect">
            <a:avLst>
              <a:gd name="adj" fmla="val 266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34D399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0" y="1651000"/>
            <a:ext cx="3810000" cy="762000"/>
          </a:xfrm>
          <a:prstGeom prst="roundRect">
            <a:avLst>
              <a:gd name="adj" fmla="val 13333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0" y="1803400"/>
            <a:ext cx="381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方法B：Agent + Skills + TDD 驱动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47000" y="2603500"/>
            <a:ext cx="355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Agent自动调用Skills，目标驱动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PyTorch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TDD（测试驱动开发）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10个自动化测试全覆盖</a:t>
            </a:r>
            <a:endParaRPr lang="en-US" sz="13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模块化包 + 独立测试目录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zh-CN" alt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内容更丰富一些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条形图展示全部概率分布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函数式模块化，可复用、可测试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对话记录 + 实施计划文档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99.31%</a:t>
            </a:r>
            <a:endParaRPr lang="en-US" sz="14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实验结果：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代码与测试</a:t>
            </a: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6500" y="2921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8194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方法A (TensorFlow)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脚本式代码，无自动化测试，项目结构简单。</a:t>
            </a:r>
            <a:endParaRPr lang="en-US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0005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4254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4152900"/>
            <a:ext cx="368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方法B (PyTorch)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模块化分包设计，</a:t>
            </a:r>
            <a:r>
              <a:rPr lang="zh-CN" alt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按照</a:t>
            </a:r>
            <a:r>
              <a:rPr lang="en-US" altLang="zh-CN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TDD</a:t>
            </a:r>
            <a:r>
              <a:rPr lang="zh-CN" alt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实现的</a:t>
            </a: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个测试全部通过，覆盖数据加载、模型结构、训练流程全环节，代码可复用、可维护性强。</a:t>
            </a:r>
            <a:endParaRPr lang="en-US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5334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5461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结论：控制变量下性能相当，PyTorch 模型更轻量化。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16345" y="1651000"/>
            <a:ext cx="52070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最终目录结构</a:t>
            </a:r>
            <a:r>
              <a:rPr lang="en-US" sz="2000" b="1" i="0" u="none" strike="noStrike">
                <a:solidFill>
                  <a:srgbClr val="2D374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100"/>
          </a:p>
        </p:txBody>
      </p:sp>
      <p:pic>
        <p:nvPicPr>
          <p:cNvPr id="861326989" name="图片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2095" y="2640330"/>
            <a:ext cx="4448175" cy="33928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24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</a:t>
            </a:r>
            <a:r>
              <a:rPr 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zh-CN" altLang="en-US" sz="6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心得</a:t>
            </a:r>
            <a:endParaRPr lang="zh-CN" altLang="en-US" sz="6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520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400">
                <a:solidFill>
                  <a:srgbClr val="A0AEC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SUMMARY AND OUTLOOK</a:t>
            </a:r>
            <a:endParaRPr lang="en-US" sz="11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团队分工协作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" y="2336165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968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张帅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负责方法A（纯提示词）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6470" y="2336165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70500" y="1968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郑俨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负责方法B（Agent+skills）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5650" y="2336165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953500" y="1968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付正浩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负责实验过程记录、报告撰写。</a:t>
            </a:r>
            <a:endParaRPr lang="en-US" sz="1300" b="0" i="0" u="none" strike="noStrike">
              <a:solidFill>
                <a:srgbClr val="4A556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3937000"/>
            <a:ext cx="52705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393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1100" y="4368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127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刘玉杰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负责PPT制作、</a:t>
            </a:r>
            <a:r>
              <a:rPr lang="zh-CN" alt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过程记录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截图整理与演示设计。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159500" y="3937000"/>
            <a:ext cx="52705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159500" y="3937000"/>
            <a:ext cx="76200" cy="13970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6220" y="44323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4127500"/>
            <a:ext cx="406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许王智</a:t>
            </a:r>
            <a:r>
              <a:rPr lang="en-US" sz="13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负责现场汇报、程序演示与答辩。</a:t>
            </a:r>
            <a:endParaRPr lang="en-US" sz="11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</a:t>
            </a:r>
            <a:r>
              <a:rPr lang="zh-CN" altLang="en-US" sz="32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各自心得</a:t>
            </a:r>
            <a:endParaRPr lang="zh-CN" altLang="en-US" sz="3200" b="1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23" name="表格 22"/>
          <p:cNvGraphicFramePr/>
          <p:nvPr>
            <p:custDataLst>
              <p:tags r:id="rId1"/>
            </p:custDataLst>
          </p:nvPr>
        </p:nvGraphicFramePr>
        <p:xfrm>
          <a:off x="1176020" y="1438910"/>
          <a:ext cx="10256520" cy="471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4130"/>
                <a:gridCol w="2564130"/>
                <a:gridCol w="2564130"/>
                <a:gridCol w="2564130"/>
              </a:tblGrid>
              <a:tr h="23590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张帅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郑俨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235902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34D3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感谢聆听，欢迎提问！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f41c22e7188cca0e9d97ee092ba93d4abee1be7"/>
  <p:tag name="KSO_WM_NEWLAYOUT_GROUP_ID" val="layout_10008"/>
  <p:tag name="KSO_WM_NEWLAYOUT_ID" val="slide_d71f76e6c456aee2"/>
</p:tagLst>
</file>

<file path=ppt/tags/tag2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72e4695df3ecd9df369e9fb228f2c4a9f6133a2"/>
  <p:tag name="KSO_WM_NEWLAYOUT_GROUP_ID" val="layout_42"/>
  <p:tag name="KSO_WM_NEWLAYOUT_ID" val="slide_dd2f059f6dfe3f3e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3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4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5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6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7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8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29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0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1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2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3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4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5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6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7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8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39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0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1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2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3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4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5.xml><?xml version="1.0" encoding="utf-8"?>
<p:tagLst xmlns:p="http://schemas.openxmlformats.org/presentationml/2006/main">
  <p:tag name="KSO_WM_DIAGRAM_VIRTUALLY_FRAME" val="{&quot;height&quot;:405.2,&quot;left&quot;:60,&quot;top&quot;:104.8,&quot;width&quot;:846}"/>
</p:tagLst>
</file>

<file path=ppt/tags/tag46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47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48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49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0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1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2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3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4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5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6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7.xml><?xml version="1.0" encoding="utf-8"?>
<p:tagLst xmlns:p="http://schemas.openxmlformats.org/presentationml/2006/main">
  <p:tag name="KSO_WM_DIAGRAM_VIRTUALLY_FRAME" val="{&quot;height&quot;:230,&quot;left&quot;:60,&quot;top&quot;:250,&quot;width&quot;:840}"/>
</p:tagLst>
</file>

<file path=ppt/tags/tag58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59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0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1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2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3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4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5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6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7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8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69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70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71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72.xml><?xml version="1.0" encoding="utf-8"?>
<p:tagLst xmlns:p="http://schemas.openxmlformats.org/presentationml/2006/main">
  <p:tag name="KSO_WM_DIAGRAM_VIRTUALLY_FRAME" val="{&quot;height&quot;:330,&quot;left&quot;:60,&quot;top&quot;:150,&quot;width&quot;:840}"/>
</p:tagLst>
</file>

<file path=ppt/tags/tag73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74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75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76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77.xml><?xml version="1.0" encoding="utf-8"?>
<p:tagLst xmlns:p="http://schemas.openxmlformats.org/presentationml/2006/main">
  <p:tag name="KSO_WM_DIAGRAM_VIRTUALLY_FRAME" val="{&quot;height&quot;:370,&quot;left&quot;:60,&quot;top&quot;:140,&quot;width&quot;:410}"/>
</p:tagLst>
</file>

<file path=ppt/tags/tag78.xml><?xml version="1.0" encoding="utf-8"?>
<p:tagLst xmlns:p="http://schemas.openxmlformats.org/presentationml/2006/main">
  <p:tag name="KSO_WM_DIAGRAM_VIRTUALLY_FRAME" val="{&quot;height&quot;:370,&quot;left&quot;:60,&quot;top&quot;:140,&quot;width&quot;:410}"/>
</p:tagLst>
</file>

<file path=ppt/tags/tag79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0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1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2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3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4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5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6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7.xml><?xml version="1.0" encoding="utf-8"?>
<p:tagLst xmlns:p="http://schemas.openxmlformats.org/presentationml/2006/main">
  <p:tag name="KSO_WM_DIAGRAM_VIRTUALLY_FRAME" val="{&quot;height&quot;:360,&quot;left&quot;:60,&quot;top&quot;:130,&quot;width&quot;:840}"/>
</p:tagLst>
</file>

<file path=ppt/tags/tag88.xml><?xml version="1.0" encoding="utf-8"?>
<p:tagLst xmlns:p="http://schemas.openxmlformats.org/presentationml/2006/main">
  <p:tag name="KSO_WM_DIAGRAM_VIRTUALLY_FRAME" val="{&quot;height&quot;:360,&quot;left&quot;:60,&quot;top&quot;:140,&quot;width&quot;:400}"/>
</p:tagLst>
</file>

<file path=ppt/tags/tag89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0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1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2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3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4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5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6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7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8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99.xml><?xml version="1.0" encoding="utf-8"?>
<p:tagLst xmlns:p="http://schemas.openxmlformats.org/presentationml/2006/main">
  <p:tag name="KSO_WM_DIAGRAM_VIRTUALLY_FRAME" val="{&quot;height&quot;:317,&quot;left&quot;:60,&quot;top&quot;:153,&quot;width&quot;:840}"/>
</p:tagLst>
</file>

<file path=ppt/tags/tag100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1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2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3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4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5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6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7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8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09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10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11.xml><?xml version="1.0" encoding="utf-8"?>
<p:tagLst xmlns:p="http://schemas.openxmlformats.org/presentationml/2006/main">
  <p:tag name="KSO_WM_DIAGRAM_VIRTUALLY_FRAME" val="{&quot;height&quot;:230,&quot;left&quot;:80,&quot;top&quot;:250,&quot;width&quot;:800}"/>
</p:tagLst>
</file>

<file path=ppt/tags/tag112.xml><?xml version="1.0" encoding="utf-8"?>
<p:tagLst xmlns:p="http://schemas.openxmlformats.org/presentationml/2006/main">
  <p:tag name="TABLE_ENDDRAG_ORIGIN_RECT" val="807*371"/>
  <p:tag name="TABLE_ENDDRAG_RECT" val="92*113*807*371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6531</Words>
  <Application>WPS 演示</Application>
  <PresentationFormat/>
  <Paragraphs>469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22</vt:i4>
      </vt:variant>
      <vt:variant>
        <vt:lpstr>幻灯片标题</vt:lpstr>
      </vt:variant>
      <vt:variant>
        <vt:i4>42</vt:i4>
      </vt:variant>
    </vt:vector>
  </HeadingPairs>
  <TitlesOfParts>
    <vt:vector size="71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3_默认主题</vt:lpstr>
      <vt:lpstr>5_默认主题</vt:lpstr>
      <vt:lpstr>1_默认主题</vt:lpstr>
      <vt:lpstr>2_默认主题</vt:lpstr>
      <vt:lpstr>8_默认主题</vt:lpstr>
      <vt:lpstr>6_默认主题</vt:lpstr>
      <vt:lpstr>7_默认主题</vt:lpstr>
      <vt:lpstr>9_默认主题</vt:lpstr>
      <vt:lpstr>10_默认主题</vt:lpstr>
      <vt:lpstr>11_默认主题</vt:lpstr>
      <vt:lpstr>12_默认主题</vt:lpstr>
      <vt:lpstr>14_默认主题</vt:lpstr>
      <vt:lpstr>13_默认主题</vt:lpstr>
      <vt:lpstr>15_默认主题</vt:lpstr>
      <vt:lpstr>16_默认主题</vt:lpstr>
      <vt:lpstr>17_默认主题</vt:lpstr>
      <vt:lpstr>18_默认主题</vt:lpstr>
      <vt:lpstr>19_默认主题</vt:lpstr>
      <vt:lpstr>20_默认主题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许王智</cp:lastModifiedBy>
  <cp:revision>12</cp:revision>
  <dcterms:created xsi:type="dcterms:W3CDTF">2026-05-11T11:43:00Z</dcterms:created>
  <dcterms:modified xsi:type="dcterms:W3CDTF">2026-05-12T07:54:59Z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08818982B5F54B9694B3D670226BC54D</vt:lpwstr>
  </property>
  <property fmtid="{D5CDD505-2E9C-101B-9397-08002B2CF9AE}" pid="3" name="KSOProductBuildVer">
    <vt:lpwstr>2052-12.1.0.25865</vt:lpwstr>
  </property>
</Properties>
</file>