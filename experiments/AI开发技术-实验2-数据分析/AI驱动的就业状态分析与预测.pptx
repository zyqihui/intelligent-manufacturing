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svg" ContentType="image/svg+xml"/>
  <Override PartName="/ppt/media/image51.svg" ContentType="image/svg+xml"/>
  <Override PartName="/ppt/media/image53.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 id="2147483672" r:id="rId9"/>
    <p:sldMasterId id="2147483674" r:id="rId10"/>
    <p:sldMasterId id="2147483676" r:id="rId11"/>
    <p:sldMasterId id="2147483678" r:id="rId12"/>
    <p:sldMasterId id="2147483680" r:id="rId13"/>
    <p:sldMasterId id="2147483682" r:id="rId14"/>
    <p:sldMasterId id="2147483684" r:id="rId15"/>
    <p:sldMasterId id="2147483686" r:id="rId16"/>
    <p:sldMasterId id="2147483688" r:id="rId17"/>
    <p:sldMasterId id="2147483690" r:id="rId18"/>
    <p:sldMasterId id="2147483692" r:id="rId19"/>
    <p:sldMasterId id="2147483694" r:id="rId20"/>
    <p:sldMasterId id="2147483696" r:id="rId21"/>
    <p:sldMasterId id="2147483698" r:id="rId22"/>
    <p:sldMasterId id="2147483700" r:id="rId23"/>
    <p:sldMasterId id="2147483702" r:id="rId24"/>
    <p:sldMasterId id="2147483704" r:id="rId25"/>
    <p:sldMasterId id="2147483706" r:id="rId26"/>
    <p:sldMasterId id="2147483708" r:id="rId27"/>
  </p:sldMasterIdLst>
  <p:notesMasterIdLst>
    <p:notesMasterId r:id="rId29"/>
  </p:notesMasterIdLst>
  <p:sldIdLst>
    <p:sldId id="256" r:id="rId28"/>
    <p:sldId id="257" r:id="rId30"/>
    <p:sldId id="258" r:id="rId31"/>
    <p:sldId id="259" r:id="rId32"/>
    <p:sldId id="278" r:id="rId33"/>
    <p:sldId id="279" r:id="rId34"/>
    <p:sldId id="277" r:id="rId35"/>
    <p:sldId id="261" r:id="rId36"/>
    <p:sldId id="263" r:id="rId37"/>
    <p:sldId id="280" r:id="rId38"/>
    <p:sldId id="283" r:id="rId39"/>
    <p:sldId id="281" r:id="rId40"/>
    <p:sldId id="284" r:id="rId41"/>
    <p:sldId id="286" r:id="rId42"/>
    <p:sldId id="287" r:id="rId43"/>
    <p:sldId id="266" r:id="rId44"/>
    <p:sldId id="289" r:id="rId45"/>
    <p:sldId id="290" r:id="rId46"/>
    <p:sldId id="291" r:id="rId47"/>
    <p:sldId id="292" r:id="rId48"/>
    <p:sldId id="293" r:id="rId49"/>
    <p:sldId id="294" r:id="rId50"/>
    <p:sldId id="295" r:id="rId51"/>
    <p:sldId id="296" r:id="rId52"/>
    <p:sldId id="288" r:id="rId53"/>
    <p:sldId id="262" r:id="rId54"/>
    <p:sldId id="298" r:id="rId55"/>
    <p:sldId id="264" r:id="rId56"/>
    <p:sldId id="304" r:id="rId57"/>
    <p:sldId id="303" r:id="rId58"/>
    <p:sldId id="265" r:id="rId59"/>
    <p:sldId id="299" r:id="rId60"/>
    <p:sldId id="267" r:id="rId61"/>
    <p:sldId id="268" r:id="rId62"/>
    <p:sldId id="269" r:id="rId63"/>
    <p:sldId id="270" r:id="rId64"/>
    <p:sldId id="301" r:id="rId65"/>
    <p:sldId id="272" r:id="rId66"/>
    <p:sldId id="302" r:id="rId67"/>
    <p:sldId id="274" r:id="rId68"/>
  </p:sldIdLst>
  <p:sldSz cx="12192000" cy="6858000"/>
  <p:notesSz cx="6858000" cy="9144000"/>
  <p:custDataLst>
    <p:tags r:id="rId72"/>
  </p:custDataLst>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74" userDrawn="1">
          <p15:clr>
            <a:srgbClr val="747775"/>
          </p15:clr>
        </p15:guide>
        <p15:guide id="2" pos="296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DB9CA"/>
    <a:srgbClr val="FC2241"/>
    <a:srgbClr val="FD6E82"/>
    <a:srgbClr val="E796A3"/>
    <a:srgbClr val="DF7181"/>
    <a:srgbClr val="A2A5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A58086-B989-4382-9B62-BB65C63BEDED}" styleName="表样式 1 14">
    <a:wholeTbl>
      <a:tcTxStyle>
        <a:fontRef idx="none">
          <a:schemeClr val="tx1"/>
        </a:fontRef>
      </a:tcTxStyle>
      <a:tcStyle>
        <a:tcBdr>
          <a:left>
            <a:ln>
              <a:noFill/>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bg1">
              <a:alpha val="0"/>
            </a:schemeClr>
          </a:solidFill>
        </a:fill>
      </a:tcStyle>
    </a:wholeTbl>
    <a:band2H>
      <a:tcStyle>
        <a:tcBdr/>
        <a:fill>
          <a:solidFill>
            <a:schemeClr val="dk1">
              <a:alpha val="25000"/>
              <a:lumMod val="40000"/>
              <a:lumOff val="60000"/>
            </a:schemeClr>
          </a:solidFill>
        </a:fill>
      </a:tcStyle>
    </a:band2H>
    <a:band1V>
      <a:tcStyle>
        <a:tcBdr>
          <a:left>
            <a:ln>
              <a:noFill/>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dk1">
              <a:alpha val="25000"/>
              <a:lumMod val="40000"/>
              <a:lumOff val="60000"/>
            </a:schemeClr>
          </a:solidFill>
        </a:fill>
      </a:tcStyle>
    </a:band1V>
    <a:lastCol>
      <a:tcTxStyle b="on">
        <a:fontRef idx="none">
          <a:schemeClr val="tx1"/>
        </a:fontRef>
      </a:tcTxStyle>
      <a:tcStyle>
        <a:tcBdr>
          <a:left>
            <a:ln>
              <a:noFill/>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dk1">
              <a:alpha val="40000"/>
              <a:lumMod val="40000"/>
              <a:lumOff val="60000"/>
            </a:schemeClr>
          </a:solidFill>
        </a:fill>
      </a:tcStyle>
    </a:lastCol>
    <a:firstCol>
      <a:tcTxStyle b="on">
        <a:fontRef idx="none">
          <a:schemeClr val="tx1"/>
        </a:fontRef>
      </a:tcTxStyle>
      <a:tcStyle>
        <a:tcBdr>
          <a:left>
            <a:ln>
              <a:noFill/>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dk1">
              <a:alpha val="40000"/>
              <a:lumMod val="40000"/>
              <a:lumOff val="60000"/>
            </a:schemeClr>
          </a:solidFill>
        </a:fill>
      </a:tcStyle>
    </a:firstCol>
    <a:lastRow>
      <a:tcTxStyle b="on">
        <a:fontRef idx="none">
          <a:schemeClr val="bg1"/>
        </a:fontRef>
      </a:tcTxStyle>
      <a:tcStyle>
        <a:tcBdr>
          <a:left>
            <a:ln>
              <a:noFill/>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dk1"/>
          </a:solidFill>
        </a:fill>
      </a:tcStyle>
    </a:lastRow>
    <a:firstRow>
      <a:tcTxStyle b="on">
        <a:fontRef idx="none">
          <a:schemeClr val="bg1"/>
        </a:fontRef>
      </a:tcTxStyle>
      <a:tcStyle>
        <a:tcBdr>
          <a:left>
            <a:ln>
              <a:noFill/>
            </a:ln>
          </a:left>
          <a:right>
            <a:ln>
              <a:noFill/>
            </a:ln>
          </a:right>
          <a:top>
            <a:ln>
              <a:noFill/>
            </a:ln>
          </a:top>
          <a:bottom>
            <a:ln>
              <a:noFill/>
            </a:ln>
          </a:bottom>
          <a:insideH>
            <a:ln>
              <a:noFill/>
            </a:ln>
          </a:insideH>
          <a:insideV>
            <a:ln>
              <a:noFill/>
            </a:ln>
          </a:insideV>
        </a:tcBdr>
        <a:fill>
          <a:solidFill>
            <a:schemeClr val="dk1"/>
          </a:solidFill>
        </a:fill>
      </a:tcStyle>
    </a:firstRow>
  </a:tblStyle>
  <a:tblStyle styleId="{5553FDD2-9A42-47B8-A0ED-0AC43F81C477}" styleName="三线式标题行镶边行表格样式_1 2 2">
    <a:wholeTbl>
      <a:tcTxStyle>
        <a:fontRef idx="none">
          <a:srgbClr val="08090C"/>
        </a:fontRef>
      </a:tcTxStyle>
      <a:tcStyle>
        <a:tcBdr/>
        <a:fill>
          <a:solidFill>
            <a:srgbClr val="FFFFFF"/>
          </a:solidFill>
        </a:fill>
      </a:tcStyle>
    </a:wholeTbl>
    <a:band2H>
      <a:tcStyle>
        <a:tcBdr/>
        <a:fill>
          <a:solidFill>
            <a:srgbClr val="F2F2F2"/>
          </a:solidFill>
        </a:fill>
      </a:tcStyle>
    </a:band2H>
    <a:band1V>
      <a:tcStyle>
        <a:tcBdr/>
        <a:fill>
          <a:solidFill>
            <a:srgbClr val="F2F2F2"/>
          </a:solidFill>
        </a:fill>
      </a:tcStyle>
    </a:band1V>
    <a:lastCol>
      <a:tcTxStyle b="on">
        <a:fontRef idx="none">
          <a:schemeClr val="dk1"/>
        </a:fontRef>
      </a:tcTxStyle>
      <a:tcStyle>
        <a:tcBdr/>
        <a:fill>
          <a:solidFill>
            <a:schemeClr val="bg1">
              <a:lumMod val="90002"/>
            </a:schemeClr>
          </a:solidFill>
        </a:fill>
      </a:tcStyle>
    </a:lastCol>
    <a:firstCol>
      <a:tcTxStyle b="on">
        <a:fontRef idx="none">
          <a:schemeClr val="dk1"/>
        </a:fontRef>
      </a:tcTxStyle>
      <a:tcStyle>
        <a:tcBdr/>
        <a:fill>
          <a:solidFill>
            <a:schemeClr val="bg1">
              <a:lumMod val="90002"/>
            </a:schemeClr>
          </a:solidFill>
        </a:fill>
      </a:tcStyle>
    </a:firstCol>
    <a:lastRow>
      <a:tcTxStyle b="on">
        <a:fontRef idx="none">
          <a:schemeClr val="dk1"/>
        </a:fontRef>
      </a:tcTxStyle>
      <a:tcStyle>
        <a:tcBdr/>
        <a:fill>
          <a:solidFill>
            <a:schemeClr val="dk1">
              <a:lumMod val="20000"/>
              <a:lumOff val="80000"/>
            </a:schemeClr>
          </a:solidFill>
        </a:fill>
      </a:tcStyle>
    </a:lastRow>
    <a:firstRow>
      <a:tcTxStyle b="on">
        <a:fontRef idx="none">
          <a:schemeClr val="dk1"/>
        </a:fontRef>
      </a:tcTxStyle>
      <a:tcStyle>
        <a:tcBdr/>
        <a:fill>
          <a:solidFill>
            <a:schemeClr val="dk1">
              <a:lumMod val="20000"/>
              <a:lumOff val="80000"/>
            </a:schemeClr>
          </a:solidFill>
        </a:fill>
      </a:tcStyle>
    </a:firstRow>
  </a:tblStyle>
  <a:tblStyle styleId="{DFC13FD9-167A-4353-B71E-7E4C216633CE}" styleName="表样式 1 14">
    <a:wholeTbl>
      <a:tcTxStyle>
        <a:fontRef idx="none">
          <a:srgbClr val="000000"/>
        </a:fontRef>
      </a:tcTxStyle>
      <a:tcStyle>
        <a:tcBdr>
          <a:left>
            <a:ln w="12700" cmpd="sng">
              <a:solidFill>
                <a:schemeClr val="dk1"/>
              </a:solidFill>
              <a:prstDash val="solid"/>
            </a:ln>
          </a:left>
          <a:right>
            <a:ln w="12700" cmpd="sng">
              <a:solidFill>
                <a:schemeClr val="dk1"/>
              </a:solidFill>
              <a:prstDash val="solid"/>
            </a:ln>
          </a:right>
          <a:top>
            <a:ln w="12700" cmpd="sng">
              <a:solidFill>
                <a:schemeClr val="dk1"/>
              </a:solidFill>
              <a:prstDash val="solid"/>
            </a:ln>
          </a:top>
          <a:bottom>
            <a:ln w="12700" cmpd="sng">
              <a:solidFill>
                <a:schemeClr val="dk1"/>
              </a:solidFill>
              <a:prstDash val="solid"/>
            </a:ln>
          </a:bottom>
          <a:insideH>
            <a:ln>
              <a:noFill/>
            </a:ln>
          </a:insideH>
          <a:insideV>
            <a:ln>
              <a:noFill/>
            </a:ln>
          </a:insideV>
        </a:tcBdr>
        <a:fill>
          <a:solidFill>
            <a:srgbClr val="FFFFFF"/>
          </a:solidFill>
        </a:fill>
      </a:tcStyle>
    </a:wholeTbl>
    <a:band2H>
      <a:tcStyle>
        <a:tcBdr/>
        <a:fill>
          <a:solidFill>
            <a:schemeClr val="dk1">
              <a:lumMod val="10000"/>
              <a:lumOff val="90000"/>
            </a:schemeClr>
          </a:solidFill>
        </a:fill>
      </a:tcStyle>
    </a:band2H>
    <a:band1V>
      <a:tcStyle>
        <a:tcBdr>
          <a:left>
            <a:ln w="12700" cmpd="sng">
              <a:solidFill>
                <a:schemeClr val="dk1"/>
              </a:solidFill>
              <a:prstDash val="solid"/>
            </a:ln>
          </a:left>
          <a:right>
            <a:ln w="12700" cmpd="sng">
              <a:solidFill>
                <a:schemeClr val="dk1"/>
              </a:solidFill>
              <a:prstDash val="solid"/>
            </a:ln>
          </a:right>
          <a:top>
            <a:ln w="12700" cmpd="sng">
              <a:solidFill>
                <a:schemeClr val="dk1"/>
              </a:solidFill>
              <a:prstDash val="solid"/>
            </a:ln>
          </a:top>
          <a:bottom>
            <a:ln w="12700" cmpd="sng">
              <a:solidFill>
                <a:schemeClr val="dk1"/>
              </a:solidFill>
              <a:prstDash val="solid"/>
            </a:ln>
          </a:bottom>
          <a:insideH>
            <a:ln>
              <a:noFill/>
            </a:ln>
          </a:insideH>
          <a:insideV>
            <a:ln>
              <a:noFill/>
            </a:ln>
          </a:insideV>
        </a:tcBdr>
        <a:fill>
          <a:solidFill>
            <a:schemeClr val="dk1">
              <a:lumMod val="10000"/>
              <a:lumOff val="90000"/>
            </a:schemeClr>
          </a:solidFill>
        </a:fill>
      </a:tcStyle>
    </a:band1V>
    <a:band2V>
      <a:tcStyle>
        <a:tcBdr>
          <a:left>
            <a:ln>
              <a:noFill/>
            </a:ln>
          </a:left>
          <a:right>
            <a:ln>
              <a:noFill/>
            </a:ln>
          </a:right>
          <a:top>
            <a:ln w="12700" cmpd="sng">
              <a:solidFill>
                <a:schemeClr val="dk1"/>
              </a:solidFill>
              <a:prstDash val="solid"/>
            </a:ln>
          </a:top>
          <a:bottom>
            <a:ln w="12700" cmpd="sng">
              <a:solidFill>
                <a:schemeClr val="dk1"/>
              </a:solidFill>
              <a:prstDash val="solid"/>
            </a:ln>
          </a:bottom>
          <a:insideH>
            <a:ln>
              <a:noFill/>
            </a:ln>
          </a:insideH>
          <a:insideV>
            <a:ln>
              <a:noFill/>
            </a:ln>
          </a:insideV>
        </a:tcBdr>
        <a:fill>
          <a:noFill/>
        </a:fill>
      </a:tcStyle>
    </a:band2V>
    <a:lastCol>
      <a:tcTxStyle b="on">
        <a:fontRef idx="none">
          <a:srgbClr val="08090C"/>
        </a:fontRef>
      </a:tcTxStyle>
      <a:tcStyle>
        <a:tcBdr>
          <a:left>
            <a:ln>
              <a:noFill/>
            </a:ln>
          </a:left>
          <a:right>
            <a:ln w="12700" cmpd="sng">
              <a:solidFill>
                <a:schemeClr val="dk1"/>
              </a:solidFill>
              <a:prstDash val="solid"/>
            </a:ln>
          </a:right>
          <a:top>
            <a:ln w="12700" cmpd="sng">
              <a:solidFill>
                <a:schemeClr val="dk1"/>
              </a:solidFill>
              <a:prstDash val="solid"/>
            </a:ln>
          </a:top>
          <a:bottom>
            <a:ln w="12700" cmpd="sng">
              <a:solidFill>
                <a:schemeClr val="dk1"/>
              </a:solidFill>
              <a:prstDash val="solid"/>
            </a:ln>
          </a:bottom>
          <a:insideH>
            <a:ln>
              <a:noFill/>
            </a:ln>
          </a:insideH>
          <a:insideV>
            <a:ln>
              <a:noFill/>
            </a:ln>
          </a:insideV>
        </a:tcBdr>
        <a:fill>
          <a:solidFill>
            <a:schemeClr val="dk1">
              <a:lumMod val="20000"/>
              <a:lumOff val="80000"/>
            </a:schemeClr>
          </a:solidFill>
        </a:fill>
      </a:tcStyle>
    </a:lastCol>
    <a:firstCol>
      <a:tcTxStyle b="on">
        <a:fontRef idx="none">
          <a:srgbClr val="08090C"/>
        </a:fontRef>
      </a:tcTxStyle>
      <a:tcStyle>
        <a:tcBdr>
          <a:left>
            <a:ln w="12700" cmpd="sng">
              <a:solidFill>
                <a:schemeClr val="dk1"/>
              </a:solidFill>
              <a:prstDash val="solid"/>
            </a:ln>
          </a:left>
          <a:right>
            <a:ln>
              <a:noFill/>
            </a:ln>
          </a:right>
          <a:top>
            <a:ln w="12700" cmpd="sng">
              <a:solidFill>
                <a:schemeClr val="dk1"/>
              </a:solidFill>
              <a:prstDash val="solid"/>
            </a:ln>
          </a:top>
          <a:bottom>
            <a:ln w="12700" cmpd="sng">
              <a:solidFill>
                <a:schemeClr val="dk1"/>
              </a:solidFill>
              <a:prstDash val="solid"/>
            </a:ln>
          </a:bottom>
          <a:insideH>
            <a:ln>
              <a:noFill/>
            </a:ln>
          </a:insideH>
          <a:insideV>
            <a:ln>
              <a:noFill/>
            </a:ln>
          </a:insideV>
        </a:tcBdr>
        <a:fill>
          <a:solidFill>
            <a:schemeClr val="dk1">
              <a:lumMod val="20000"/>
              <a:lumOff val="80000"/>
            </a:schemeClr>
          </a:solidFill>
        </a:fill>
      </a:tcStyle>
    </a:firstCol>
    <a:lastRow>
      <a:tcTxStyle b="on">
        <a:fontRef idx="none">
          <a:schemeClr val="dk1"/>
        </a:fontRef>
      </a:tcTxStyle>
      <a:tcStyle>
        <a:tcBdr>
          <a:left>
            <a:ln w="12700" cmpd="sng">
              <a:solidFill>
                <a:schemeClr val="dk1"/>
              </a:solidFill>
              <a:prstDash val="solid"/>
            </a:ln>
          </a:left>
          <a:right>
            <a:ln w="12700" cmpd="sng">
              <a:solidFill>
                <a:schemeClr val="dk1"/>
              </a:solidFill>
              <a:prstDash val="solid"/>
            </a:ln>
          </a:right>
          <a:top>
            <a:ln w="9525" cmpd="sng">
              <a:solidFill>
                <a:schemeClr val="dk1"/>
              </a:solidFill>
              <a:prstDash val="solid"/>
            </a:ln>
          </a:top>
          <a:bottom>
            <a:ln w="12700" cmpd="sng">
              <a:solidFill>
                <a:schemeClr val="dk1"/>
              </a:solidFill>
              <a:prstDash val="solid"/>
            </a:ln>
          </a:bottom>
          <a:insideH>
            <a:ln>
              <a:noFill/>
            </a:ln>
          </a:insideH>
          <a:insideV>
            <a:ln>
              <a:noFill/>
            </a:ln>
          </a:insideV>
        </a:tcBdr>
        <a:fill>
          <a:solidFill>
            <a:srgbClr val="FFFFFF"/>
          </a:solidFill>
        </a:fill>
      </a:tcStyle>
    </a:lastRow>
    <a:seCell>
      <a:tcStyle>
        <a:tcBdr>
          <a:left>
            <a:ln>
              <a:noFill/>
            </a:ln>
          </a:left>
          <a:right>
            <a:ln w="12700" cmpd="sng">
              <a:solidFill>
                <a:schemeClr val="dk1"/>
              </a:solidFill>
              <a:prstDash val="solid"/>
            </a:ln>
          </a:right>
          <a:top>
            <a:ln w="9525" cmpd="sng">
              <a:solidFill>
                <a:schemeClr val="dk1"/>
              </a:solidFill>
              <a:prstDash val="solid"/>
            </a:ln>
          </a:top>
          <a:bottom>
            <a:ln w="12700" cmpd="sng">
              <a:solidFill>
                <a:schemeClr val="dk1"/>
              </a:solidFill>
              <a:prstDash val="solid"/>
            </a:ln>
          </a:bottom>
          <a:insideH>
            <a:ln>
              <a:noFill/>
            </a:ln>
          </a:insideH>
          <a:insideV>
            <a:ln>
              <a:noFill/>
            </a:ln>
          </a:insideV>
        </a:tcBdr>
        <a:fill>
          <a:solidFill>
            <a:srgbClr val="FFFFFF"/>
          </a:solidFill>
        </a:fill>
      </a:tcStyle>
    </a:seCell>
    <a:swCell>
      <a:tcStyle>
        <a:tcBdr>
          <a:left>
            <a:ln w="12700" cmpd="sng">
              <a:solidFill>
                <a:schemeClr val="dk1"/>
              </a:solidFill>
              <a:prstDash val="solid"/>
            </a:ln>
          </a:left>
          <a:right>
            <a:ln>
              <a:noFill/>
            </a:ln>
          </a:right>
          <a:top>
            <a:ln w="9525" cmpd="sng">
              <a:solidFill>
                <a:schemeClr val="dk1"/>
              </a:solidFill>
              <a:prstDash val="solid"/>
            </a:ln>
          </a:top>
          <a:bottom>
            <a:ln w="12700" cmpd="sng">
              <a:solidFill>
                <a:schemeClr val="dk1"/>
              </a:solidFill>
              <a:prstDash val="solid"/>
            </a:ln>
          </a:bottom>
          <a:insideH>
            <a:ln>
              <a:noFill/>
            </a:ln>
          </a:insideH>
          <a:insideV>
            <a:ln>
              <a:noFill/>
            </a:ln>
          </a:insideV>
        </a:tcBdr>
        <a:fill>
          <a:solidFill>
            <a:srgbClr val="FFFFFF"/>
          </a:solidFill>
        </a:fill>
      </a:tcStyle>
    </a:swCell>
    <a:firstRow>
      <a:tcTxStyle b="on">
        <a:fontRef idx="none">
          <a:schemeClr val="dk1"/>
        </a:fontRef>
      </a:tcTxStyle>
      <a:tcStyle>
        <a:tcBdr>
          <a:left>
            <a:ln w="12700" cmpd="sng">
              <a:solidFill>
                <a:schemeClr val="dk1"/>
              </a:solidFill>
              <a:prstDash val="solid"/>
            </a:ln>
          </a:left>
          <a:right>
            <a:ln w="12700" cmpd="sng">
              <a:solidFill>
                <a:schemeClr val="dk1"/>
              </a:solidFill>
              <a:prstDash val="solid"/>
            </a:ln>
          </a:right>
          <a:top>
            <a:ln w="12700"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dk1">
              <a:lumMod val="20000"/>
              <a:lumOff val="8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74"/>
        <p:guide pos="296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2" Type="http://schemas.openxmlformats.org/officeDocument/2006/relationships/tags" Target="tags/tag70.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Master" Target="slideMasters/slideMaster6.xml"/><Relationship Id="rId69" Type="http://schemas.openxmlformats.org/officeDocument/2006/relationships/presProps" Target="presProps.xml"/><Relationship Id="rId68" Type="http://schemas.openxmlformats.org/officeDocument/2006/relationships/slide" Target="slides/slide40.xml"/><Relationship Id="rId67" Type="http://schemas.openxmlformats.org/officeDocument/2006/relationships/slide" Target="slides/slide39.xml"/><Relationship Id="rId66" Type="http://schemas.openxmlformats.org/officeDocument/2006/relationships/slide" Target="slides/slide38.xml"/><Relationship Id="rId65" Type="http://schemas.openxmlformats.org/officeDocument/2006/relationships/slide" Target="slides/slide37.xml"/><Relationship Id="rId64" Type="http://schemas.openxmlformats.org/officeDocument/2006/relationships/slide" Target="slides/slide36.xml"/><Relationship Id="rId63" Type="http://schemas.openxmlformats.org/officeDocument/2006/relationships/slide" Target="slides/slide35.xml"/><Relationship Id="rId62" Type="http://schemas.openxmlformats.org/officeDocument/2006/relationships/slide" Target="slides/slide34.xml"/><Relationship Id="rId61" Type="http://schemas.openxmlformats.org/officeDocument/2006/relationships/slide" Target="slides/slide33.xml"/><Relationship Id="rId60" Type="http://schemas.openxmlformats.org/officeDocument/2006/relationships/slide" Target="slides/slide32.xml"/><Relationship Id="rId6" Type="http://schemas.openxmlformats.org/officeDocument/2006/relationships/slideMaster" Target="slideMasters/slideMaster5.xml"/><Relationship Id="rId59" Type="http://schemas.openxmlformats.org/officeDocument/2006/relationships/slide" Target="slides/slide31.xml"/><Relationship Id="rId58" Type="http://schemas.openxmlformats.org/officeDocument/2006/relationships/slide" Target="slides/slide30.xml"/><Relationship Id="rId57" Type="http://schemas.openxmlformats.org/officeDocument/2006/relationships/slide" Target="slides/slide29.xml"/><Relationship Id="rId56" Type="http://schemas.openxmlformats.org/officeDocument/2006/relationships/slide" Target="slides/slide28.xml"/><Relationship Id="rId55" Type="http://schemas.openxmlformats.org/officeDocument/2006/relationships/slide" Target="slides/slide27.xml"/><Relationship Id="rId54" Type="http://schemas.openxmlformats.org/officeDocument/2006/relationships/slide" Target="slides/slide26.xml"/><Relationship Id="rId53" Type="http://schemas.openxmlformats.org/officeDocument/2006/relationships/slide" Target="slides/slide25.xml"/><Relationship Id="rId52" Type="http://schemas.openxmlformats.org/officeDocument/2006/relationships/slide" Target="slides/slide24.xml"/><Relationship Id="rId51" Type="http://schemas.openxmlformats.org/officeDocument/2006/relationships/slide" Target="slides/slide23.xml"/><Relationship Id="rId50" Type="http://schemas.openxmlformats.org/officeDocument/2006/relationships/slide" Target="slides/slide22.xml"/><Relationship Id="rId5" Type="http://schemas.openxmlformats.org/officeDocument/2006/relationships/slideMaster" Target="slideMasters/slideMaster4.xml"/><Relationship Id="rId49" Type="http://schemas.openxmlformats.org/officeDocument/2006/relationships/slide" Target="slides/slide21.xml"/><Relationship Id="rId48" Type="http://schemas.openxmlformats.org/officeDocument/2006/relationships/slide" Target="slides/slide20.xml"/><Relationship Id="rId47" Type="http://schemas.openxmlformats.org/officeDocument/2006/relationships/slide" Target="slides/slide19.xml"/><Relationship Id="rId46" Type="http://schemas.openxmlformats.org/officeDocument/2006/relationships/slide" Target="slides/slide18.xml"/><Relationship Id="rId45" Type="http://schemas.openxmlformats.org/officeDocument/2006/relationships/slide" Target="slides/slide17.xml"/><Relationship Id="rId44" Type="http://schemas.openxmlformats.org/officeDocument/2006/relationships/slide" Target="slides/slide16.xml"/><Relationship Id="rId43" Type="http://schemas.openxmlformats.org/officeDocument/2006/relationships/slide" Target="slides/slide15.xml"/><Relationship Id="rId42" Type="http://schemas.openxmlformats.org/officeDocument/2006/relationships/slide" Target="slides/slide14.xml"/><Relationship Id="rId41" Type="http://schemas.openxmlformats.org/officeDocument/2006/relationships/slide" Target="slides/slide13.xml"/><Relationship Id="rId40" Type="http://schemas.openxmlformats.org/officeDocument/2006/relationships/slide" Target="slides/slide12.xml"/><Relationship Id="rId4" Type="http://schemas.openxmlformats.org/officeDocument/2006/relationships/slideMaster" Target="slideMasters/slideMaster3.xml"/><Relationship Id="rId39" Type="http://schemas.openxmlformats.org/officeDocument/2006/relationships/slide" Target="slides/slide11.xml"/><Relationship Id="rId38" Type="http://schemas.openxmlformats.org/officeDocument/2006/relationships/slide" Target="slides/slide10.xml"/><Relationship Id="rId37" Type="http://schemas.openxmlformats.org/officeDocument/2006/relationships/slide" Target="slides/slide9.xml"/><Relationship Id="rId36" Type="http://schemas.openxmlformats.org/officeDocument/2006/relationships/slide" Target="slides/slide8.xml"/><Relationship Id="rId35" Type="http://schemas.openxmlformats.org/officeDocument/2006/relationships/slide" Target="slides/slide7.xml"/><Relationship Id="rId34" Type="http://schemas.openxmlformats.org/officeDocument/2006/relationships/slide" Target="slides/slide6.xml"/><Relationship Id="rId33" Type="http://schemas.openxmlformats.org/officeDocument/2006/relationships/slide" Target="slides/slide5.xml"/><Relationship Id="rId32" Type="http://schemas.openxmlformats.org/officeDocument/2006/relationships/slide" Target="slides/slide4.xml"/><Relationship Id="rId31" Type="http://schemas.openxmlformats.org/officeDocument/2006/relationships/slide" Target="slides/slide3.xml"/><Relationship Id="rId30" Type="http://schemas.openxmlformats.org/officeDocument/2006/relationships/slide" Target="slides/slide2.xml"/><Relationship Id="rId3" Type="http://schemas.openxmlformats.org/officeDocument/2006/relationships/slideMaster" Target="slideMasters/slideMaster2.xml"/><Relationship Id="rId29" Type="http://schemas.openxmlformats.org/officeDocument/2006/relationships/notesMaster" Target="notesMasters/notesMaster1.xml"/><Relationship Id="rId28" Type="http://schemas.openxmlformats.org/officeDocument/2006/relationships/slide" Target="slides/slide1.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汇报我的课程作业——“AI驱动的就业状态分析与预测”。本次汇报将重点探讨在面对复杂数据分析任务时，两种不同的AI使用模式——“简单Prompt”与“Skill增强”——在效率和成果质量上的差异。希望通过这次分享，能为大家提供一些关于如何更有效地利用AI工具的思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项目核心是复现一个真实的数学建模竞赛题目，但我们的关注点并不仅仅是解题本身。我们更感兴趣的是，如何使用AI工具。因此，我们设计了两种不同的使用模式：一种是大家非常熟悉的，直接通过对话让AI做事的“简单Prompt模式”；另一种是更系统化的，通过预设技能来指导AI的“Skill增强模式”。我们希望通过对比，找出哪种方法更优，以及它们各自的适用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项目核心是复现一个真实的数学建模竞赛题目，但我们的关注点并不仅仅是解题本身。我们更感兴趣的是，如何使用AI工具。因此，我们设计了两种不同的使用模式：一种是大家非常熟悉的，直接通过对话让AI做事的“简单Prompt模式”；另一种是更系统化的，通过预设技能来指导AI的“Skill增强模式”。我们希望通过对比，找出哪种方法更优，以及它们各自的适用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项目核心是复现一个真实的数学建模竞赛题目，但我们的关注点并不仅仅是解题本身。我们更感兴趣的是，如何使用AI工具。因此，我们设计了两种不同的使用模式：一种是大家非常熟悉的，直接通过对话让AI做事的“简单Prompt模式”；另一种是更系统化的，通过预设技能来指导AI的“Skill增强模式”。我们希望通过对比，找出哪种方法更优，以及它们各自的适用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项目核心是复现一个真实的数学建模竞赛题目，但我们的关注点并不仅仅是解题本身。我们更感兴趣的是，如何使用AI工具。因此，我们设计了两种不同的使用模式：一种是大家非常熟悉的，直接通过对话让AI做事的“简单Prompt模式”；另一种是更系统化的，通过预设技能来指导AI的“Skill增强模式”。我们希望通过对比，找出哪种方法更优，以及它们各自的适用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接下来，我们进入第二部分，详细了解我们的实验是如何设计和执行的。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理论说完了，接下来我们看实际结果。第三部分，我们将对两种模式生成的报告进行详细的分析和对比。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简单Prompt模式。这就像我们平时和ChatGPT聊天一样，一步一步地告诉它该做什么。它的优点是启动快、非常灵活。但缺点也很明显，整个过程非常依赖我们自己的专业水平。比如，AI不会自动处理数据里的特殊空值，也不会自己配置好画图的字体，甚至会犯一些逻辑错误，这些都需要我们人工去发现和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理论说完了，接下来我们看实际结果。第三部分，我们将对两种模式生成的报告进行详细的分析和对比。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实验设计非常清晰。我们从同一个起点出发，也就是原始数据和竞赛题目，然后兵分两路。一路采用简单Prompt模式，通过不断的对话来引导AI完成任务；另一路则采用Skill增强模式，让AI遵循一套预设的专业流程。最后，我们将两个路径生成的报告与范例报告进行对比分析，得出结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实验设计非常清晰。我们从同一个起点出发，也就是原始数据和竞赛题目，然后兵分两路。一路采用简单Prompt模式，通过不断的对话来引导AI完成任务；另一路则采用Skill增强模式，让AI遵循一套预设的专业流程。最后，我们将两个路径生成的报告与范例报告进行对比分析，得出结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再来看Skill增强模式。这个模式完全不同，它不是靠我们一句一句地指挥，而是给AI一套“方法论”。我们通过调用不同的Skill，比如`data-analyst-prompter`和`math-modeling`，让AI按照一个标准的、专业的数据分析流程来工作。更厉害的是，它还有一个`simplify` Skill，能自动启动多个Agent来审查代码，发现并修复我们可能都看不出来的深层Bug。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想特别强调一下Skill模式中的自动化审查机制。这就像给AI配备了一个自动质检团队。这个团队里有三个Agent，分别负责检查代码是否重复、代码有没有Bug、以及代码效率高不高。在我们的实验中，质量审查Agent就发现了一个非常隐蔽的Bug，它导致一个关键特征全部变成了空值，而这个问题在Prompt模式下完全被忽略了。这充分说明了自动化审查的威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想特别强调一下Skill模式中的自动化审查机制。这就像给AI配备了一个自动质检团队。这个团队里有三个Agent，分别负责检查代码是否重复、代码有没有Bug、以及代码效率高不高。在我们的实验中，质量审查Agent就发现了一个非常隐蔽的Bug，它导致一个关键特征全部变成了空值，而这个问题在Prompt模式下完全被忽略了。这充分说明了自动化审查的威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想特别强调一下Skill模式中的自动化审查机制。这就像给AI配备了一个自动质检团队。这个团队里有三个Agent，分别负责检查代码是否重复、代码有没有Bug、以及代码效率高不高。在我们的实验中，质量审查Agent就发现了一个非常隐蔽的Bug，它导致一个关键特征全部变成了空值，而这个问题在Prompt模式下完全被忽略了。这充分说明了自动化审查的威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理论说完了，接下来我们看实际结果。第三部分，我们将对两种模式生成的报告进行详细的分析和对比。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一个直观的量化对比。我们从数据预处理、统计严谨性等六个维度进行打分。可以看到，Skill增强版在所有维度上都超越了Prompt版。特别是在统计严谨性和模型评估可靠性上，提升幅度超过了160%。最关键的是，Prompt版在“类别平衡处理”这一项上得了0分，而Skill版做到了75分。最终，Skill版的加权总分达到了78.5分，相比Prompt版的34.5分，提升了128%。</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Prompt版为什么得分这么低？我们深入分析后发现了几个致命问题。最严重的是，它的模型完全无法预测出“失业”的人，召回率几乎为零。原因很简单，因为数据里就业的人远多于失业的人，AI在没有特别指示的情况下，就“偷懒”把所有人都预测成了就业。这就是典型的“类别不平衡”问题。此外，它在人岗匹配上也做得很差，以及缺少了交叉验证等必要的评估步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再来看Skill版。它的优势非常明显，主要体现在方法论的严谨性上。它不仅处理了类别不平衡问题，还引入了更高级的统计方法，比如卡方检验，甚至在评估模型时使用了更可靠的交叉验证。在某些方面，它甚至超越了范例报告。当然，它也有不足，主要是在报告的写作深度上，篇幅和完整性不如范例，最终的模型性能也略逊一筹，这可能是因为范例报告进行了更精细的人工调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把两种方法放在一起做一个直接对比。简单来说，Prompt模式就像一个灵活的散兵，上手快，但战斗力不稳定，非常依赖指挥官（也就是用户）的水平。而Skill模式则像一支纪律严明的正规军，虽然需要一定的前期训练（配置Skill），但一旦启动，就能按照标准流程高质量地完成任务，并且能自我纠错。一个是“告诉AI做什么”，另一个是“教会AI怎么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理论说完了，接下来我们看实际结果。第三部分，我们将对两种模式生成的报告进行详细的分析和对比。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核心结论是：Skill增强模式的最大价值，不是让AI变得无所不能，而是通过一套规范的流程，确保它不会犯那些低级但致命的错误，从而保证了输出结果的质量下限。它教会了AI一套科学的工作方法。我们发现，Skill的价值在于流程和规范，自动化审查的威力巨大，而Prompt模式虽然灵活，但对使用者的要求非常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核心结论是：Skill增强模式的最大价值，不是让AI变得无所不能，而是通过一套规范的流程，确保它不会犯那些低级但致命的错误，从而保证了输出结果的质量下限。它教会了AI一套科学的工作方法。我们发现，Skill的价值在于流程和规范，自动化审查的威力巨大，而Prompt模式虽然灵活，但对使用者的要求非常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2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2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2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2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2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2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2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3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31.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3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3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34.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35.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2.xml"/><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2.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4.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image" Target="../media/image9.png"/><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tags" Target="../tags/tag8.xml"/><Relationship Id="rId10" Type="http://schemas.openxmlformats.org/officeDocument/2006/relationships/notesSlide" Target="../notesSlides/notesSlide6.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4" Type="http://schemas.openxmlformats.org/officeDocument/2006/relationships/notesSlide" Target="../notesSlides/notesSlide7.xml"/><Relationship Id="rId13" Type="http://schemas.openxmlformats.org/officeDocument/2006/relationships/slideLayout" Target="../slideLayouts/slideLayout1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3" Type="http://schemas.openxmlformats.org/officeDocument/2006/relationships/notesSlide" Target="../notesSlides/notesSlide9.xml"/><Relationship Id="rId22" Type="http://schemas.openxmlformats.org/officeDocument/2006/relationships/slideLayout" Target="../slideLayouts/slideLayout12.xml"/><Relationship Id="rId21" Type="http://schemas.openxmlformats.org/officeDocument/2006/relationships/tags" Target="../tags/tag42.xml"/><Relationship Id="rId20" Type="http://schemas.openxmlformats.org/officeDocument/2006/relationships/tags" Target="../tags/tag41.xml"/><Relationship Id="rId2" Type="http://schemas.openxmlformats.org/officeDocument/2006/relationships/tags" Target="../tags/tag23.xml"/><Relationship Id="rId19" Type="http://schemas.openxmlformats.org/officeDocument/2006/relationships/tags" Target="../tags/tag40.xml"/><Relationship Id="rId18" Type="http://schemas.openxmlformats.org/officeDocument/2006/relationships/tags" Target="../tags/tag39.xml"/><Relationship Id="rId17" Type="http://schemas.openxmlformats.org/officeDocument/2006/relationships/tags" Target="../tags/tag38.xml"/><Relationship Id="rId16" Type="http://schemas.openxmlformats.org/officeDocument/2006/relationships/tags" Target="../tags/tag37.xml"/><Relationship Id="rId15" Type="http://schemas.openxmlformats.org/officeDocument/2006/relationships/tags" Target="../tags/tag36.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6.xml"/><Relationship Id="rId6" Type="http://schemas.openxmlformats.org/officeDocument/2006/relationships/image" Target="../media/image10.png"/><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8.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17.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9.xml"/><Relationship Id="rId3" Type="http://schemas.openxmlformats.org/officeDocument/2006/relationships/image" Target="../media/image15.png"/><Relationship Id="rId2" Type="http://schemas.openxmlformats.org/officeDocument/2006/relationships/tags" Target="../tags/tag53.xm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0.xml"/><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21.xml"/><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3.xml"/><Relationship Id="rId2" Type="http://schemas.openxmlformats.org/officeDocument/2006/relationships/tags" Target="../tags/tag54.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4.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5.xml"/><Relationship Id="rId2" Type="http://schemas.openxmlformats.org/officeDocument/2006/relationships/image" Target="../media/image20.png"/><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2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7.xml"/><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8.xml"/><Relationship Id="rId2" Type="http://schemas.openxmlformats.org/officeDocument/2006/relationships/image" Target="../media/image30.png"/><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29.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6.jpeg"/></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30.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2.xml"/><Relationship Id="rId1" Type="http://schemas.openxmlformats.org/officeDocument/2006/relationships/image" Target="../media/image6.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2.xml"/><Relationship Id="rId2" Type="http://schemas.openxmlformats.org/officeDocument/2006/relationships/image" Target="../media/image39.png"/><Relationship Id="rId1" Type="http://schemas.openxmlformats.org/officeDocument/2006/relationships/image" Target="../media/image6.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1.xml"/><Relationship Id="rId1" Type="http://schemas.openxmlformats.org/officeDocument/2006/relationships/image" Target="../media/image6.jpeg"/></Relationships>
</file>

<file path=ppt/slides/_rels/slide28.xml.rels><?xml version="1.0" encoding="UTF-8" standalone="yes"?>
<Relationships xmlns="http://schemas.openxmlformats.org/package/2006/relationships"><Relationship Id="rId9" Type="http://schemas.openxmlformats.org/officeDocument/2006/relationships/image" Target="../media/image47.svg"/><Relationship Id="rId8" Type="http://schemas.openxmlformats.org/officeDocument/2006/relationships/image" Target="../media/image46.png"/><Relationship Id="rId7" Type="http://schemas.openxmlformats.org/officeDocument/2006/relationships/image" Target="../media/image45.svg"/><Relationship Id="rId6" Type="http://schemas.openxmlformats.org/officeDocument/2006/relationships/image" Target="../media/image44.png"/><Relationship Id="rId5" Type="http://schemas.openxmlformats.org/officeDocument/2006/relationships/image" Target="../media/image43.svg"/><Relationship Id="rId4" Type="http://schemas.openxmlformats.org/officeDocument/2006/relationships/image" Target="../media/image42.png"/><Relationship Id="rId3" Type="http://schemas.openxmlformats.org/officeDocument/2006/relationships/image" Target="../media/image41.svg"/><Relationship Id="rId2" Type="http://schemas.openxmlformats.org/officeDocument/2006/relationships/image" Target="../media/image40.png"/><Relationship Id="rId11" Type="http://schemas.openxmlformats.org/officeDocument/2006/relationships/notesSlide" Target="../notesSlides/notesSlide28.xml"/><Relationship Id="rId10" Type="http://schemas.openxmlformats.org/officeDocument/2006/relationships/slideLayout" Target="../slideLayouts/slideLayout12.xml"/><Relationship Id="rId1" Type="http://schemas.openxmlformats.org/officeDocument/2006/relationships/image" Target="../media/image6.jpeg"/></Relationships>
</file>

<file path=ppt/slides/_rels/slide29.xml.rels><?xml version="1.0" encoding="UTF-8" standalone="yes"?>
<Relationships xmlns="http://schemas.openxmlformats.org/package/2006/relationships"><Relationship Id="rId9" Type="http://schemas.openxmlformats.org/officeDocument/2006/relationships/notesSlide" Target="../notesSlides/notesSlide29.xml"/><Relationship Id="rId8" Type="http://schemas.openxmlformats.org/officeDocument/2006/relationships/slideLayout" Target="../slideLayouts/slideLayout36.xml"/><Relationship Id="rId7" Type="http://schemas.openxmlformats.org/officeDocument/2006/relationships/image" Target="../media/image53.svg"/><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image" Target="../media/image6.jpeg"/></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30.xml"/><Relationship Id="rId7" Type="http://schemas.openxmlformats.org/officeDocument/2006/relationships/slideLayout" Target="../slideLayouts/slideLayout35.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tags" Target="../tags/tag57.xml"/><Relationship Id="rId1" Type="http://schemas.openxmlformats.org/officeDocument/2006/relationships/image" Target="../media/image6.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2.xml"/><Relationship Id="rId1" Type="http://schemas.openxmlformats.org/officeDocument/2006/relationships/image" Target="../media/image6.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34.xml.rels><?xml version="1.0" encoding="UTF-8" standalone="yes"?>
<Relationships xmlns="http://schemas.openxmlformats.org/package/2006/relationships"><Relationship Id="rId9" Type="http://schemas.openxmlformats.org/officeDocument/2006/relationships/notesSlide" Target="../notesSlides/notesSlide34.xml"/><Relationship Id="rId8" Type="http://schemas.openxmlformats.org/officeDocument/2006/relationships/slideLayout" Target="../slideLayouts/slideLayout12.xml"/><Relationship Id="rId7" Type="http://schemas.openxmlformats.org/officeDocument/2006/relationships/image" Target="../media/image47.svg"/><Relationship Id="rId6" Type="http://schemas.openxmlformats.org/officeDocument/2006/relationships/image" Target="../media/image46.png"/><Relationship Id="rId5" Type="http://schemas.openxmlformats.org/officeDocument/2006/relationships/image" Target="../media/image61.svg"/><Relationship Id="rId4" Type="http://schemas.openxmlformats.org/officeDocument/2006/relationships/image" Target="../media/image60.png"/><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image" Target="../media/image6.jpeg"/></Relationships>
</file>

<file path=ppt/slides/_rels/slide35.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image" Target="../media/image65.svg"/><Relationship Id="rId7" Type="http://schemas.openxmlformats.org/officeDocument/2006/relationships/image" Target="../media/image64.png"/><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image" Target="../media/image63.svg"/><Relationship Id="rId3" Type="http://schemas.openxmlformats.org/officeDocument/2006/relationships/image" Target="../media/image62.png"/><Relationship Id="rId27" Type="http://schemas.openxmlformats.org/officeDocument/2006/relationships/notesSlide" Target="../notesSlides/notesSlide35.xml"/><Relationship Id="rId26" Type="http://schemas.openxmlformats.org/officeDocument/2006/relationships/slideLayout" Target="../slideLayouts/slideLayout12.xml"/><Relationship Id="rId25" Type="http://schemas.openxmlformats.org/officeDocument/2006/relationships/tags" Target="../tags/tag69.xml"/><Relationship Id="rId24" Type="http://schemas.openxmlformats.org/officeDocument/2006/relationships/image" Target="../media/image73.svg"/><Relationship Id="rId23" Type="http://schemas.openxmlformats.org/officeDocument/2006/relationships/image" Target="../media/image72.png"/><Relationship Id="rId22" Type="http://schemas.openxmlformats.org/officeDocument/2006/relationships/tags" Target="../tags/tag68.xml"/><Relationship Id="rId21" Type="http://schemas.openxmlformats.org/officeDocument/2006/relationships/tags" Target="../tags/tag67.xml"/><Relationship Id="rId20" Type="http://schemas.openxmlformats.org/officeDocument/2006/relationships/image" Target="../media/image71.svg"/><Relationship Id="rId2" Type="http://schemas.openxmlformats.org/officeDocument/2006/relationships/tags" Target="../tags/tag58.xml"/><Relationship Id="rId19" Type="http://schemas.openxmlformats.org/officeDocument/2006/relationships/image" Target="../media/image70.png"/><Relationship Id="rId18" Type="http://schemas.openxmlformats.org/officeDocument/2006/relationships/tags" Target="../tags/tag66.xml"/><Relationship Id="rId17" Type="http://schemas.openxmlformats.org/officeDocument/2006/relationships/tags" Target="../tags/tag65.xml"/><Relationship Id="rId16" Type="http://schemas.openxmlformats.org/officeDocument/2006/relationships/image" Target="../media/image69.svg"/><Relationship Id="rId15" Type="http://schemas.openxmlformats.org/officeDocument/2006/relationships/image" Target="../media/image68.png"/><Relationship Id="rId14" Type="http://schemas.openxmlformats.org/officeDocument/2006/relationships/tags" Target="../tags/tag64.xml"/><Relationship Id="rId13" Type="http://schemas.openxmlformats.org/officeDocument/2006/relationships/tags" Target="../tags/tag63.xml"/><Relationship Id="rId12" Type="http://schemas.openxmlformats.org/officeDocument/2006/relationships/image" Target="../media/image67.svg"/><Relationship Id="rId11" Type="http://schemas.openxmlformats.org/officeDocument/2006/relationships/image" Target="../media/image66.png"/><Relationship Id="rId10" Type="http://schemas.openxmlformats.org/officeDocument/2006/relationships/tags" Target="../tags/tag62.xml"/><Relationship Id="rId1" Type="http://schemas.openxmlformats.org/officeDocument/2006/relationships/image" Target="../media/image6.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3.xml"/><Relationship Id="rId1" Type="http://schemas.openxmlformats.org/officeDocument/2006/relationships/image" Target="../media/image6.jpeg"/></Relationships>
</file>

<file path=ppt/slides/_rels/slide38.xml.rels><?xml version="1.0" encoding="UTF-8" standalone="yes"?>
<Relationships xmlns="http://schemas.openxmlformats.org/package/2006/relationships"><Relationship Id="rId9" Type="http://schemas.openxmlformats.org/officeDocument/2006/relationships/notesSlide" Target="../notesSlides/notesSlide38.xml"/><Relationship Id="rId8" Type="http://schemas.openxmlformats.org/officeDocument/2006/relationships/slideLayout" Target="../slideLayouts/slideLayout12.xml"/><Relationship Id="rId7" Type="http://schemas.openxmlformats.org/officeDocument/2006/relationships/image" Target="../media/image79.svg"/><Relationship Id="rId6" Type="http://schemas.openxmlformats.org/officeDocument/2006/relationships/image" Target="../media/image78.png"/><Relationship Id="rId5" Type="http://schemas.openxmlformats.org/officeDocument/2006/relationships/image" Target="../media/image77.svg"/><Relationship Id="rId4" Type="http://schemas.openxmlformats.org/officeDocument/2006/relationships/image" Target="../media/image76.png"/><Relationship Id="rId3" Type="http://schemas.openxmlformats.org/officeDocument/2006/relationships/image" Target="../media/image75.svg"/><Relationship Id="rId2" Type="http://schemas.openxmlformats.org/officeDocument/2006/relationships/image" Target="../media/image74.png"/><Relationship Id="rId1" Type="http://schemas.openxmlformats.org/officeDocument/2006/relationships/image" Target="../media/image6.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4.xml"/><Relationship Id="rId1" Type="http://schemas.openxmlformats.org/officeDocument/2006/relationships/image" Target="../media/image6.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2.xml"/><Relationship Id="rId1" Type="http://schemas.openxmlformats.org/officeDocument/2006/relationships/image" Target="../media/image80.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95000"/>
                </a:srgbClr>
              </a:gs>
              <a:gs pos="30000">
                <a:srgbClr val="0F172A">
                  <a:alpha val="80000"/>
                </a:srgbClr>
              </a:gs>
              <a:gs pos="60000">
                <a:srgbClr val="0F172A">
                  <a:alpha val="40000"/>
                </a:srgbClr>
              </a:gs>
              <a:gs pos="100000">
                <a:srgbClr val="4FD1C5">
                  <a:alpha val="1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1905000"/>
            <a:ext cx="8890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AI驱动的就业状态</a:t>
            </a:r>
            <a:b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数据分析</a:t>
            </a:r>
            <a:endParaRPr lang="zh-CN" alt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4826000"/>
            <a:ext cx="254000" cy="254000"/>
          </a:xfrm>
          <a:prstGeom prst="rect">
            <a:avLst/>
          </a:prstGeom>
        </p:spPr>
      </p:pic>
      <p:sp>
        <p:nvSpPr>
          <p:cNvPr id="6" name="AutoShape 6"/>
          <p:cNvSpPr/>
          <p:nvPr/>
        </p:nvSpPr>
        <p:spPr>
          <a:xfrm>
            <a:off x="1397000" y="4800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郑俨</a:t>
            </a:r>
            <a:endParaRPr lang="zh-CN" alt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334000"/>
            <a:ext cx="254000" cy="254000"/>
          </a:xfrm>
          <a:prstGeom prst="rect">
            <a:avLst/>
          </a:prstGeom>
        </p:spPr>
      </p:pic>
      <p:sp>
        <p:nvSpPr>
          <p:cNvPr id="8" name="AutoShape 8"/>
          <p:cNvSpPr/>
          <p:nvPr/>
        </p:nvSpPr>
        <p:spPr>
          <a:xfrm>
            <a:off x="1397000" y="5308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日期：2026年5月20日</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381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4" name="AutoShape 4"/>
          <p:cNvSpPr/>
          <p:nvPr/>
        </p:nvSpPr>
        <p:spPr>
          <a:xfrm>
            <a:off x="762000" y="1079500"/>
            <a:ext cx="3810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spc="400">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lang="en-US" sz="1100"/>
          </a:p>
        </p:txBody>
      </p:sp>
      <p:sp>
        <p:nvSpPr>
          <p:cNvPr id="26" name="圆角矩形 25"/>
          <p:cNvSpPr/>
          <p:nvPr/>
        </p:nvSpPr>
        <p:spPr>
          <a:xfrm>
            <a:off x="906145" y="1694180"/>
            <a:ext cx="5148000" cy="936000"/>
          </a:xfrm>
          <a:prstGeom prst="roundRect">
            <a:avLst/>
          </a:prstGeom>
          <a:solidFill>
            <a:schemeClr val="bg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l"/>
            <a:r>
              <a:rPr lang="zh-CN" altLang="en-US" sz="2400" b="1">
                <a:solidFill>
                  <a:schemeClr val="tx1"/>
                </a:solidFill>
                <a:latin typeface="+mj-ea"/>
                <a:ea typeface="+mj-ea"/>
              </a:rPr>
              <a:t>板块一、实验概述</a:t>
            </a:r>
            <a:endParaRPr lang="zh-CN" altLang="en-US" sz="2400" b="1">
              <a:solidFill>
                <a:schemeClr val="tx1"/>
              </a:solidFill>
              <a:latin typeface="+mj-ea"/>
              <a:ea typeface="+mj-ea"/>
            </a:endParaRPr>
          </a:p>
        </p:txBody>
      </p:sp>
      <p:sp>
        <p:nvSpPr>
          <p:cNvPr id="27" name="圆角矩形 26"/>
          <p:cNvSpPr/>
          <p:nvPr/>
        </p:nvSpPr>
        <p:spPr>
          <a:xfrm>
            <a:off x="906145" y="3367415"/>
            <a:ext cx="5148000" cy="935990"/>
          </a:xfrm>
          <a:prstGeom prst="roundRect">
            <a:avLst/>
          </a:prstGeom>
          <a:solidFill>
            <a:schemeClr val="bg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l"/>
            <a:r>
              <a:rPr lang="zh-CN" altLang="en-US" sz="2400" b="1">
                <a:solidFill>
                  <a:schemeClr val="tx1"/>
                </a:solidFill>
                <a:latin typeface="+mj-ea"/>
                <a:ea typeface="+mj-ea"/>
                <a:cs typeface="+mj-ea"/>
              </a:rPr>
              <a:t>板块二、数据分析与可视化实现 (简单提示词)</a:t>
            </a:r>
            <a:endParaRPr lang="zh-CN" altLang="en-US" sz="2400" b="1">
              <a:solidFill>
                <a:schemeClr val="tx1"/>
              </a:solidFill>
              <a:latin typeface="+mj-ea"/>
              <a:ea typeface="+mj-ea"/>
              <a:cs typeface="+mj-ea"/>
            </a:endParaRPr>
          </a:p>
        </p:txBody>
      </p:sp>
      <p:sp>
        <p:nvSpPr>
          <p:cNvPr id="28" name="圆角矩形 27"/>
          <p:cNvSpPr/>
          <p:nvPr/>
        </p:nvSpPr>
        <p:spPr>
          <a:xfrm>
            <a:off x="906145" y="5040640"/>
            <a:ext cx="5148000" cy="935990"/>
          </a:xfrm>
          <a:prstGeom prst="roundRect">
            <a:avLst/>
          </a:prstGeom>
          <a:solidFill>
            <a:schemeClr val="bg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l"/>
            <a:r>
              <a:rPr lang="zh-CN" altLang="en-US" sz="2400" b="1">
                <a:solidFill>
                  <a:schemeClr val="tx1"/>
                </a:solidFill>
                <a:latin typeface="+mj-ea"/>
                <a:ea typeface="+mj-ea"/>
                <a:cs typeface="+mj-ea"/>
              </a:rPr>
              <a:t>板块三、基础 </a:t>
            </a:r>
            <a:r>
              <a:rPr lang="en-US" altLang="zh-CN" sz="2400" b="1">
                <a:solidFill>
                  <a:schemeClr val="tx1"/>
                </a:solidFill>
                <a:latin typeface="+mj-ea"/>
                <a:ea typeface="+mj-ea"/>
                <a:cs typeface="+mj-ea"/>
              </a:rPr>
              <a:t>Skill </a:t>
            </a:r>
            <a:r>
              <a:rPr lang="zh-CN" altLang="en-US" sz="2400" b="1">
                <a:solidFill>
                  <a:schemeClr val="tx1"/>
                </a:solidFill>
                <a:latin typeface="+mj-ea"/>
                <a:ea typeface="+mj-ea"/>
                <a:cs typeface="+mj-ea"/>
              </a:rPr>
              <a:t>的技术报告生成</a:t>
            </a:r>
            <a:endParaRPr lang="zh-CN" altLang="en-US" sz="2400" b="1">
              <a:solidFill>
                <a:schemeClr val="tx1"/>
              </a:solidFill>
              <a:latin typeface="+mj-ea"/>
              <a:ea typeface="+mj-ea"/>
              <a:cs typeface="+mj-ea"/>
            </a:endParaRPr>
          </a:p>
        </p:txBody>
      </p:sp>
      <p:sp>
        <p:nvSpPr>
          <p:cNvPr id="29" name="圆角矩形 28"/>
          <p:cNvSpPr/>
          <p:nvPr/>
        </p:nvSpPr>
        <p:spPr>
          <a:xfrm>
            <a:off x="6587490" y="1694180"/>
            <a:ext cx="5148000" cy="935990"/>
          </a:xfrm>
          <a:prstGeom prst="roundRect">
            <a:avLst/>
          </a:prstGeom>
          <a:solidFill>
            <a:schemeClr val="bg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l"/>
            <a:r>
              <a:rPr lang="zh-CN" altLang="en-US" sz="2400" b="1">
                <a:solidFill>
                  <a:schemeClr val="tx1"/>
                </a:solidFill>
                <a:latin typeface="+mj-ea"/>
                <a:ea typeface="+mj-ea"/>
                <a:cs typeface="+mj-ea"/>
              </a:rPr>
              <a:t>板块四、</a:t>
            </a:r>
            <a:r>
              <a:rPr lang="en-US" altLang="zh-CN" sz="2400" b="1">
                <a:solidFill>
                  <a:schemeClr val="tx1"/>
                </a:solidFill>
                <a:latin typeface="+mj-ea"/>
                <a:ea typeface="+mj-ea"/>
                <a:cs typeface="+mj-ea"/>
              </a:rPr>
              <a:t>Skill </a:t>
            </a:r>
            <a:r>
              <a:rPr lang="zh-CN" altLang="en-US" sz="2400" b="1">
                <a:solidFill>
                  <a:schemeClr val="tx1"/>
                </a:solidFill>
                <a:latin typeface="+mj-ea"/>
                <a:ea typeface="+mj-ea"/>
                <a:cs typeface="+mj-ea"/>
              </a:rPr>
              <a:t>搜索、优化与自动生成</a:t>
            </a:r>
            <a:endParaRPr lang="zh-CN" altLang="en-US" sz="2400" b="1">
              <a:solidFill>
                <a:schemeClr val="tx1"/>
              </a:solidFill>
              <a:latin typeface="+mj-ea"/>
              <a:ea typeface="+mj-ea"/>
              <a:cs typeface="+mj-ea"/>
            </a:endParaRPr>
          </a:p>
        </p:txBody>
      </p:sp>
      <p:sp>
        <p:nvSpPr>
          <p:cNvPr id="30" name="圆角矩形 29"/>
          <p:cNvSpPr/>
          <p:nvPr/>
        </p:nvSpPr>
        <p:spPr>
          <a:xfrm>
            <a:off x="6587490" y="3367415"/>
            <a:ext cx="5148000" cy="935990"/>
          </a:xfrm>
          <a:prstGeom prst="roundRect">
            <a:avLst/>
          </a:prstGeom>
          <a:solidFill>
            <a:schemeClr val="bg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l"/>
            <a:r>
              <a:rPr lang="zh-CN" altLang="en-US" sz="2400" b="1">
                <a:solidFill>
                  <a:schemeClr val="tx1"/>
                </a:solidFill>
                <a:latin typeface="+mj-ea"/>
                <a:ea typeface="+mj-ea"/>
              </a:rPr>
              <a:t>板块五、两种方法的对比与范例评价</a:t>
            </a:r>
            <a:endParaRPr lang="zh-CN" altLang="en-US" sz="2400" b="1">
              <a:solidFill>
                <a:schemeClr val="tx1"/>
              </a:solidFill>
              <a:latin typeface="+mj-ea"/>
              <a:ea typeface="+mj-ea"/>
            </a:endParaRPr>
          </a:p>
        </p:txBody>
      </p:sp>
      <p:sp>
        <p:nvSpPr>
          <p:cNvPr id="31" name="圆角矩形 30"/>
          <p:cNvSpPr/>
          <p:nvPr/>
        </p:nvSpPr>
        <p:spPr>
          <a:xfrm>
            <a:off x="6587490" y="5040640"/>
            <a:ext cx="5148000" cy="935990"/>
          </a:xfrm>
          <a:prstGeom prst="roundRect">
            <a:avLst/>
          </a:prstGeom>
          <a:solidFill>
            <a:schemeClr val="bg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l"/>
            <a:r>
              <a:rPr lang="zh-CN" altLang="en-US" sz="2400" b="1">
                <a:solidFill>
                  <a:schemeClr val="tx1"/>
                </a:solidFill>
                <a:latin typeface="+mj-ea"/>
                <a:ea typeface="+mj-ea"/>
                <a:cs typeface="+mj-ea"/>
              </a:rPr>
              <a:t>板块六、实验总结</a:t>
            </a:r>
            <a:endParaRPr lang="zh-CN" altLang="en-US" sz="2400" b="1">
              <a:solidFill>
                <a:schemeClr val="tx1"/>
              </a:solidFill>
              <a:latin typeface="+mj-ea"/>
              <a:ea typeface="+mj-ea"/>
              <a:cs typeface="+mj-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AutoShape 4"/>
          <p:cNvSpPr/>
          <p:nvPr/>
        </p:nvSpPr>
        <p:spPr>
          <a:xfrm>
            <a:off x="0" y="2921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板块一、实验概述</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实验背景</a:t>
            </a:r>
            <a:endParaRPr lang="en-US" sz="1100"/>
          </a:p>
        </p:txBody>
      </p:sp>
      <p:sp>
        <p:nvSpPr>
          <p:cNvPr id="24" name="AutoShape 5"/>
          <p:cNvSpPr/>
          <p:nvPr>
            <p:custDataLst>
              <p:tags r:id="rId2"/>
            </p:custDataLst>
          </p:nvPr>
        </p:nvSpPr>
        <p:spPr>
          <a:xfrm>
            <a:off x="701675" y="1506220"/>
            <a:ext cx="10668000" cy="616585"/>
          </a:xfrm>
          <a:prstGeom prst="roundRect">
            <a:avLst>
              <a:gd name="adj" fmla="val 0"/>
            </a:avLst>
          </a:prstGeom>
          <a:solidFill>
            <a:srgbClr val="4FD1C5">
              <a:alpha val="10000"/>
            </a:srgbClr>
          </a:solidFill>
          <a:ln w="12700" cap="flat" cmpd="sng">
            <a:solidFill>
              <a:srgbClr val="4FD1C5">
                <a:alpha val="100000"/>
              </a:srgbClr>
            </a:solidFill>
            <a:prstDash val="solid"/>
            <a:round/>
          </a:ln>
        </p:spPr>
        <p:txBody>
          <a:bodyPr vert="horz" wrap="square" lIns="63500" tIns="63500" rIns="63500" bIns="63500" rtlCol="0" anchor="ctr"/>
          <a:lstStyle/>
          <a:p>
            <a:pPr algn="l">
              <a:defRPr/>
            </a:pPr>
            <a:r>
              <a:rPr lang="zh-CN" altLang="en-US" sz="2400"/>
              <a:t>题目：就业状态分析与预测</a:t>
            </a:r>
            <a:endParaRPr lang="zh-CN" altLang="en-US" sz="2400"/>
          </a:p>
        </p:txBody>
      </p:sp>
      <p:sp>
        <p:nvSpPr>
          <p:cNvPr id="26" name="AutoShape 5"/>
          <p:cNvSpPr/>
          <p:nvPr>
            <p:custDataLst>
              <p:tags r:id="rId3"/>
            </p:custDataLst>
          </p:nvPr>
        </p:nvSpPr>
        <p:spPr>
          <a:xfrm>
            <a:off x="701675" y="2490470"/>
            <a:ext cx="10668000" cy="616585"/>
          </a:xfrm>
          <a:prstGeom prst="roundRect">
            <a:avLst>
              <a:gd name="adj" fmla="val 0"/>
            </a:avLst>
          </a:prstGeom>
          <a:solidFill>
            <a:srgbClr val="4FD1C5">
              <a:alpha val="10000"/>
            </a:srgbClr>
          </a:solidFill>
          <a:ln w="12700" cap="flat" cmpd="sng">
            <a:solidFill>
              <a:srgbClr val="4FD1C5">
                <a:alpha val="100000"/>
              </a:srgbClr>
            </a:solidFill>
            <a:prstDash val="solid"/>
            <a:round/>
          </a:ln>
        </p:spPr>
        <p:txBody>
          <a:bodyPr vert="horz" wrap="square" lIns="63500" tIns="63500" rIns="63500" bIns="63500" rtlCol="0" anchor="ctr"/>
          <a:lstStyle/>
          <a:p>
            <a:pPr algn="l">
              <a:defRPr/>
            </a:pPr>
            <a:r>
              <a:rPr lang="zh-CN" altLang="en-US" sz="2400"/>
              <a:t>数据集：附件1 数据</a:t>
            </a:r>
            <a:r>
              <a:rPr lang="en-US" altLang="zh-CN" sz="2400"/>
              <a:t>.xls</a:t>
            </a:r>
            <a:endParaRPr lang="en-US" altLang="zh-CN" sz="2400"/>
          </a:p>
        </p:txBody>
      </p:sp>
      <p:sp>
        <p:nvSpPr>
          <p:cNvPr id="27" name="AutoShape 5"/>
          <p:cNvSpPr/>
          <p:nvPr>
            <p:custDataLst>
              <p:tags r:id="rId4"/>
            </p:custDataLst>
          </p:nvPr>
        </p:nvSpPr>
        <p:spPr>
          <a:xfrm>
            <a:off x="701675" y="3474720"/>
            <a:ext cx="10668000" cy="616585"/>
          </a:xfrm>
          <a:prstGeom prst="roundRect">
            <a:avLst>
              <a:gd name="adj" fmla="val 0"/>
            </a:avLst>
          </a:prstGeom>
          <a:solidFill>
            <a:srgbClr val="4FD1C5">
              <a:alpha val="10000"/>
            </a:srgbClr>
          </a:solidFill>
          <a:ln w="12700" cap="flat" cmpd="sng">
            <a:solidFill>
              <a:srgbClr val="4FD1C5">
                <a:alpha val="100000"/>
              </a:srgbClr>
            </a:solidFill>
            <a:prstDash val="solid"/>
            <a:round/>
          </a:ln>
        </p:spPr>
        <p:txBody>
          <a:bodyPr vert="horz" wrap="square" lIns="63500" tIns="63500" rIns="63500" bIns="63500" rtlCol="0" anchor="ctr"/>
          <a:lstStyle/>
          <a:p>
            <a:pPr algn="l">
              <a:defRPr/>
            </a:pPr>
            <a:r>
              <a:rPr lang="zh-CN" altLang="en-US" sz="2400"/>
              <a:t>任务要求：使用大模型以及</a:t>
            </a:r>
            <a:r>
              <a:rPr lang="en-US" altLang="zh-CN" sz="2400"/>
              <a:t>agent+skill</a:t>
            </a:r>
            <a:r>
              <a:rPr lang="zh-CN" altLang="en-US" sz="2400"/>
              <a:t>对数据集进行数据分析，并生成报告</a:t>
            </a:r>
            <a:endParaRPr lang="zh-CN"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实验目的</a:t>
            </a:r>
            <a:endParaRPr lang="en-US" sz="1100"/>
          </a:p>
        </p:txBody>
      </p:sp>
      <p:sp>
        <p:nvSpPr>
          <p:cNvPr id="24" name="AutoShape 5"/>
          <p:cNvSpPr/>
          <p:nvPr>
            <p:custDataLst>
              <p:tags r:id="rId2"/>
            </p:custDataLst>
          </p:nvPr>
        </p:nvSpPr>
        <p:spPr>
          <a:xfrm>
            <a:off x="701675" y="1506220"/>
            <a:ext cx="10668000" cy="616585"/>
          </a:xfrm>
          <a:prstGeom prst="roundRect">
            <a:avLst>
              <a:gd name="adj" fmla="val 0"/>
            </a:avLst>
          </a:prstGeom>
          <a:solidFill>
            <a:srgbClr val="4FD1C5">
              <a:alpha val="10000"/>
            </a:srgbClr>
          </a:solidFill>
          <a:ln w="12700" cap="flat" cmpd="sng">
            <a:solidFill>
              <a:srgbClr val="4FD1C5">
                <a:alpha val="100000"/>
              </a:srgbClr>
            </a:solidFill>
            <a:prstDash val="solid"/>
            <a:round/>
          </a:ln>
        </p:spPr>
        <p:txBody>
          <a:bodyPr vert="horz" wrap="square" lIns="63500" tIns="63500" rIns="63500" bIns="63500" rtlCol="0" anchor="ctr"/>
          <a:lstStyle/>
          <a:p>
            <a:pPr algn="l">
              <a:defRPr/>
            </a:pPr>
            <a:r>
              <a:rPr lang="en-US" altLang="zh-CN" sz="2400"/>
              <a:t>1</a:t>
            </a:r>
            <a:r>
              <a:rPr lang="zh-CN" altLang="en-US" sz="2400">
                <a:ea typeface="宋体" panose="02010600030101010101" pitchFamily="2" charset="-122"/>
              </a:rPr>
              <a:t>、</a:t>
            </a:r>
            <a:r>
              <a:rPr lang="zh-CN" altLang="en-US" sz="2400"/>
              <a:t>了解并会使用数据分析流程</a:t>
            </a:r>
            <a:endParaRPr lang="zh-CN" altLang="en-US" sz="2400"/>
          </a:p>
        </p:txBody>
      </p:sp>
      <p:sp>
        <p:nvSpPr>
          <p:cNvPr id="26" name="AutoShape 5"/>
          <p:cNvSpPr/>
          <p:nvPr>
            <p:custDataLst>
              <p:tags r:id="rId3"/>
            </p:custDataLst>
          </p:nvPr>
        </p:nvSpPr>
        <p:spPr>
          <a:xfrm>
            <a:off x="701675" y="2490470"/>
            <a:ext cx="10668000" cy="616585"/>
          </a:xfrm>
          <a:prstGeom prst="roundRect">
            <a:avLst>
              <a:gd name="adj" fmla="val 0"/>
            </a:avLst>
          </a:prstGeom>
          <a:solidFill>
            <a:srgbClr val="4FD1C5">
              <a:alpha val="10000"/>
            </a:srgbClr>
          </a:solidFill>
          <a:ln w="12700" cap="flat" cmpd="sng">
            <a:solidFill>
              <a:srgbClr val="4FD1C5">
                <a:alpha val="100000"/>
              </a:srgbClr>
            </a:solidFill>
            <a:prstDash val="solid"/>
            <a:round/>
          </a:ln>
        </p:spPr>
        <p:txBody>
          <a:bodyPr vert="horz" wrap="square" lIns="63500" tIns="63500" rIns="63500" bIns="63500" rtlCol="0" anchor="ctr"/>
          <a:lstStyle/>
          <a:p>
            <a:pPr algn="l">
              <a:defRPr/>
            </a:pPr>
            <a:r>
              <a:rPr lang="en-US" sz="2400"/>
              <a:t>2</a:t>
            </a:r>
            <a:r>
              <a:rPr lang="zh-CN" altLang="en-US" sz="2400">
                <a:ea typeface="宋体" panose="02010600030101010101" pitchFamily="2" charset="-122"/>
              </a:rPr>
              <a:t>、</a:t>
            </a:r>
            <a:r>
              <a:rPr lang="zh-CN" altLang="en-US" sz="2400"/>
              <a:t>掌握大模型辅助分析并生成技术报告</a:t>
            </a:r>
            <a:endParaRPr lang="zh-CN" altLang="en-US" sz="2400"/>
          </a:p>
        </p:txBody>
      </p:sp>
      <p:sp>
        <p:nvSpPr>
          <p:cNvPr id="27" name="AutoShape 5"/>
          <p:cNvSpPr/>
          <p:nvPr>
            <p:custDataLst>
              <p:tags r:id="rId4"/>
            </p:custDataLst>
          </p:nvPr>
        </p:nvSpPr>
        <p:spPr>
          <a:xfrm>
            <a:off x="701675" y="3474720"/>
            <a:ext cx="10668000" cy="616585"/>
          </a:xfrm>
          <a:prstGeom prst="roundRect">
            <a:avLst>
              <a:gd name="adj" fmla="val 0"/>
            </a:avLst>
          </a:prstGeom>
          <a:solidFill>
            <a:srgbClr val="4FD1C5">
              <a:alpha val="10000"/>
            </a:srgbClr>
          </a:solidFill>
          <a:ln w="12700" cap="flat" cmpd="sng">
            <a:solidFill>
              <a:srgbClr val="4FD1C5">
                <a:alpha val="100000"/>
              </a:srgbClr>
            </a:solidFill>
            <a:prstDash val="solid"/>
            <a:round/>
          </a:ln>
        </p:spPr>
        <p:txBody>
          <a:bodyPr vert="horz" wrap="square" lIns="63500" tIns="63500" rIns="63500" bIns="63500" rtlCol="0" anchor="ctr"/>
          <a:lstStyle/>
          <a:p>
            <a:pPr algn="l">
              <a:defRPr/>
            </a:pPr>
            <a:r>
              <a:rPr lang="en-US" altLang="zh-CN" sz="2400"/>
              <a:t>3</a:t>
            </a:r>
            <a:r>
              <a:rPr lang="zh-CN" altLang="en-US" sz="2400">
                <a:ea typeface="宋体" panose="02010600030101010101" pitchFamily="2" charset="-122"/>
              </a:rPr>
              <a:t>、理解如何使用</a:t>
            </a:r>
            <a:r>
              <a:rPr lang="en-US" altLang="zh-CN" sz="2400"/>
              <a:t>Agent </a:t>
            </a:r>
            <a:r>
              <a:rPr lang="zh-CN" altLang="en-US" sz="2400"/>
              <a:t>与 </a:t>
            </a:r>
            <a:r>
              <a:rPr lang="en-US" altLang="zh-CN" sz="2400"/>
              <a:t>Skills </a:t>
            </a:r>
            <a:r>
              <a:rPr lang="zh-CN" altLang="en-US" sz="2400"/>
              <a:t>技术及其有什么优化作用</a:t>
            </a:r>
            <a:endParaRPr lang="zh-CN" altLang="en-US" sz="2400"/>
          </a:p>
        </p:txBody>
      </p:sp>
      <p:sp>
        <p:nvSpPr>
          <p:cNvPr id="28" name="AutoShape 5"/>
          <p:cNvSpPr/>
          <p:nvPr>
            <p:custDataLst>
              <p:tags r:id="rId5"/>
            </p:custDataLst>
          </p:nvPr>
        </p:nvSpPr>
        <p:spPr>
          <a:xfrm>
            <a:off x="701675" y="4458970"/>
            <a:ext cx="10668000" cy="616585"/>
          </a:xfrm>
          <a:prstGeom prst="roundRect">
            <a:avLst>
              <a:gd name="adj" fmla="val 0"/>
            </a:avLst>
          </a:prstGeom>
          <a:solidFill>
            <a:srgbClr val="4FD1C5">
              <a:alpha val="10000"/>
            </a:srgbClr>
          </a:solidFill>
          <a:ln w="12700" cap="flat" cmpd="sng">
            <a:solidFill>
              <a:srgbClr val="4FD1C5">
                <a:alpha val="100000"/>
              </a:srgbClr>
            </a:solidFill>
            <a:prstDash val="solid"/>
            <a:round/>
          </a:ln>
        </p:spPr>
        <p:txBody>
          <a:bodyPr vert="horz" wrap="square" lIns="63500" tIns="63500" rIns="63500" bIns="63500" rtlCol="0" anchor="ctr"/>
          <a:lstStyle/>
          <a:p>
            <a:pPr algn="l">
              <a:defRPr/>
            </a:pPr>
            <a:r>
              <a:rPr lang="en-US" altLang="zh-CN" sz="2400"/>
              <a:t>4</a:t>
            </a:r>
            <a:r>
              <a:rPr lang="zh-CN" altLang="en-US" sz="2400">
                <a:ea typeface="宋体" panose="02010600030101010101" pitchFamily="2" charset="-122"/>
              </a:rPr>
              <a:t>、实现自动生成 </a:t>
            </a:r>
            <a:r>
              <a:rPr lang="en-US" altLang="zh-CN" sz="2400">
                <a:ea typeface="宋体" panose="02010600030101010101" pitchFamily="2" charset="-122"/>
              </a:rPr>
              <a:t>Skill </a:t>
            </a:r>
            <a:r>
              <a:rPr lang="zh-CN" altLang="en-US" sz="2400">
                <a:ea typeface="宋体" panose="02010600030101010101" pitchFamily="2" charset="-122"/>
              </a:rPr>
              <a:t>并进一步改进技术报告</a:t>
            </a:r>
            <a:endParaRPr lang="zh-CN" altLang="en-US" sz="240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实验环境配置</a:t>
            </a:r>
            <a:endParaRPr lang="en-US" sz="1100"/>
          </a:p>
        </p:txBody>
      </p:sp>
      <p:sp>
        <p:nvSpPr>
          <p:cNvPr id="24" name="AutoShape 5"/>
          <p:cNvSpPr/>
          <p:nvPr>
            <p:custDataLst>
              <p:tags r:id="rId2"/>
            </p:custDataLst>
          </p:nvPr>
        </p:nvSpPr>
        <p:spPr>
          <a:xfrm>
            <a:off x="701675" y="1506220"/>
            <a:ext cx="10668000" cy="616585"/>
          </a:xfrm>
          <a:prstGeom prst="roundRect">
            <a:avLst>
              <a:gd name="adj" fmla="val 0"/>
            </a:avLst>
          </a:prstGeom>
          <a:solidFill>
            <a:srgbClr val="4FD1C5">
              <a:alpha val="10000"/>
            </a:srgbClr>
          </a:solidFill>
          <a:ln w="12700" cap="flat" cmpd="sng">
            <a:solidFill>
              <a:srgbClr val="4FD1C5">
                <a:alpha val="100000"/>
              </a:srgbClr>
            </a:solidFill>
            <a:prstDash val="solid"/>
            <a:round/>
          </a:ln>
        </p:spPr>
        <p:txBody>
          <a:bodyPr vert="horz" wrap="square" lIns="63500" tIns="63500" rIns="63500" bIns="63500" rtlCol="0" anchor="ctr"/>
          <a:lstStyle/>
          <a:p>
            <a:pPr algn="l">
              <a:defRPr/>
            </a:pPr>
            <a:r>
              <a:rPr lang="zh-CN" altLang="en-US" sz="2400">
                <a:ea typeface="宋体" panose="02010600030101010101" pitchFamily="2" charset="-122"/>
              </a:rPr>
              <a:t>使用工具</a:t>
            </a:r>
            <a:r>
              <a:rPr lang="en-US" altLang="zh-CN" sz="2400">
                <a:ea typeface="宋体" panose="02010600030101010101" pitchFamily="2" charset="-122"/>
              </a:rPr>
              <a:t>:</a:t>
            </a:r>
            <a:r>
              <a:rPr lang="en-US" sz="2400"/>
              <a:t>Vscode+Claude(</a:t>
            </a:r>
            <a:r>
              <a:rPr lang="zh-CN" altLang="en-US" sz="2400">
                <a:ea typeface="宋体" panose="02010600030101010101" pitchFamily="2" charset="-122"/>
              </a:rPr>
              <a:t>插件</a:t>
            </a:r>
            <a:r>
              <a:rPr lang="en-US" sz="2400"/>
              <a:t>)+deepseek-v4-pro</a:t>
            </a:r>
            <a:endParaRPr lang="en-US" sz="2400"/>
          </a:p>
        </p:txBody>
      </p:sp>
      <p:pic>
        <p:nvPicPr>
          <p:cNvPr id="4" name="图片 3"/>
          <p:cNvPicPr>
            <a:picLocks noChangeAspect="1"/>
          </p:cNvPicPr>
          <p:nvPr/>
        </p:nvPicPr>
        <p:blipFill>
          <a:blip r:embed="rId3"/>
          <a:stretch>
            <a:fillRect/>
          </a:stretch>
        </p:blipFill>
        <p:spPr>
          <a:xfrm>
            <a:off x="2689225" y="2294890"/>
            <a:ext cx="2842260" cy="746760"/>
          </a:xfrm>
          <a:prstGeom prst="rect">
            <a:avLst/>
          </a:prstGeom>
        </p:spPr>
      </p:pic>
      <p:cxnSp>
        <p:nvCxnSpPr>
          <p:cNvPr id="6" name="直接箭头连接符 5"/>
          <p:cNvCxnSpPr/>
          <p:nvPr/>
        </p:nvCxnSpPr>
        <p:spPr>
          <a:xfrm>
            <a:off x="4009390" y="1917700"/>
            <a:ext cx="0" cy="26733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pic>
        <p:nvPicPr>
          <p:cNvPr id="7" name="图片 6"/>
          <p:cNvPicPr>
            <a:picLocks noChangeAspect="1"/>
          </p:cNvPicPr>
          <p:nvPr/>
        </p:nvPicPr>
        <p:blipFill>
          <a:blip r:embed="rId4"/>
          <a:stretch>
            <a:fillRect/>
          </a:stretch>
        </p:blipFill>
        <p:spPr>
          <a:xfrm>
            <a:off x="8199120" y="2185035"/>
            <a:ext cx="3170555" cy="4467225"/>
          </a:xfrm>
          <a:prstGeom prst="rect">
            <a:avLst/>
          </a:prstGeom>
        </p:spPr>
      </p:pic>
      <p:sp>
        <p:nvSpPr>
          <p:cNvPr id="8" name="AutoShape 5"/>
          <p:cNvSpPr/>
          <p:nvPr>
            <p:custDataLst>
              <p:tags r:id="rId5"/>
            </p:custDataLst>
          </p:nvPr>
        </p:nvSpPr>
        <p:spPr>
          <a:xfrm>
            <a:off x="701675" y="3213100"/>
            <a:ext cx="6614795" cy="616585"/>
          </a:xfrm>
          <a:prstGeom prst="roundRect">
            <a:avLst>
              <a:gd name="adj" fmla="val 0"/>
            </a:avLst>
          </a:prstGeom>
          <a:solidFill>
            <a:srgbClr val="4FD1C5">
              <a:alpha val="10000"/>
            </a:srgbClr>
          </a:solidFill>
          <a:ln w="12700" cap="flat" cmpd="sng">
            <a:solidFill>
              <a:srgbClr val="4FD1C5">
                <a:alpha val="100000"/>
              </a:srgbClr>
            </a:solidFill>
            <a:prstDash val="solid"/>
            <a:round/>
          </a:ln>
        </p:spPr>
        <p:txBody>
          <a:bodyPr vert="horz" wrap="square" lIns="63500" tIns="63500" rIns="63500" bIns="63500" rtlCol="0" anchor="ctr"/>
          <a:lstStyle/>
          <a:p>
            <a:pPr algn="l">
              <a:defRPr/>
            </a:pPr>
            <a:r>
              <a:rPr lang="en-US" sz="2400"/>
              <a:t>python</a:t>
            </a:r>
            <a:r>
              <a:rPr lang="zh-CN" altLang="en-US" sz="2400">
                <a:ea typeface="宋体" panose="02010600030101010101" pitchFamily="2" charset="-122"/>
              </a:rPr>
              <a:t>环境</a:t>
            </a:r>
            <a:r>
              <a:rPr lang="en-US" altLang="zh-CN" sz="2400">
                <a:ea typeface="宋体" panose="02010600030101010101" pitchFamily="2" charset="-122"/>
              </a:rPr>
              <a:t>:</a:t>
            </a:r>
            <a:r>
              <a:rPr lang="en-US" sz="2400"/>
              <a:t>python 3.12</a:t>
            </a:r>
            <a:endParaRPr lang="en-US" sz="2400"/>
          </a:p>
        </p:txBody>
      </p:sp>
      <p:sp>
        <p:nvSpPr>
          <p:cNvPr id="9" name="AutoShape 5"/>
          <p:cNvSpPr/>
          <p:nvPr>
            <p:custDataLst>
              <p:tags r:id="rId6"/>
            </p:custDataLst>
          </p:nvPr>
        </p:nvSpPr>
        <p:spPr>
          <a:xfrm>
            <a:off x="701675" y="4220845"/>
            <a:ext cx="6614795" cy="616585"/>
          </a:xfrm>
          <a:prstGeom prst="roundRect">
            <a:avLst>
              <a:gd name="adj" fmla="val 0"/>
            </a:avLst>
          </a:prstGeom>
          <a:solidFill>
            <a:srgbClr val="4FD1C5">
              <a:alpha val="10000"/>
            </a:srgbClr>
          </a:solidFill>
          <a:ln w="12700" cap="flat" cmpd="sng">
            <a:solidFill>
              <a:srgbClr val="4FD1C5">
                <a:alpha val="100000"/>
              </a:srgbClr>
            </a:solidFill>
            <a:prstDash val="solid"/>
            <a:round/>
          </a:ln>
        </p:spPr>
        <p:txBody>
          <a:bodyPr vert="horz" wrap="square" lIns="63500" tIns="63500" rIns="63500" bIns="63500" rtlCol="0" anchor="ctr"/>
          <a:lstStyle/>
          <a:p>
            <a:pPr algn="l">
              <a:defRPr/>
            </a:pPr>
            <a:r>
              <a:rPr lang="zh-CN" altLang="en-US" sz="2400">
                <a:ea typeface="宋体" panose="02010600030101010101" pitchFamily="2" charset="-122"/>
              </a:rPr>
              <a:t>核心库</a:t>
            </a:r>
            <a:r>
              <a:rPr lang="en-US" altLang="zh-CN" sz="2400">
                <a:ea typeface="宋体" panose="02010600030101010101" pitchFamily="2" charset="-122"/>
              </a:rPr>
              <a:t>:</a:t>
            </a:r>
            <a:r>
              <a:rPr lang="en-US" sz="2400"/>
              <a:t>pandas</a:t>
            </a:r>
            <a:r>
              <a:rPr lang="zh-CN" altLang="en-US" sz="2400">
                <a:ea typeface="宋体" panose="02010600030101010101" pitchFamily="2" charset="-122"/>
              </a:rPr>
              <a:t>、</a:t>
            </a:r>
            <a:r>
              <a:rPr lang="en-US" altLang="zh-CN" sz="2400">
                <a:ea typeface="宋体" panose="02010600030101010101" pitchFamily="2" charset="-122"/>
              </a:rPr>
              <a:t>numpy</a:t>
            </a:r>
            <a:r>
              <a:rPr lang="zh-CN" altLang="en-US" sz="2400">
                <a:ea typeface="宋体" panose="02010600030101010101" pitchFamily="2" charset="-122"/>
              </a:rPr>
              <a:t>、</a:t>
            </a:r>
            <a:r>
              <a:rPr lang="en-US" altLang="zh-CN" sz="2400">
                <a:ea typeface="宋体" panose="02010600030101010101" pitchFamily="2" charset="-122"/>
              </a:rPr>
              <a:t>matplotlib</a:t>
            </a:r>
            <a:r>
              <a:rPr lang="zh-CN" altLang="en-US" sz="2400">
                <a:ea typeface="宋体" panose="02010600030101010101" pitchFamily="2" charset="-122"/>
              </a:rPr>
              <a:t>等</a:t>
            </a:r>
            <a:endParaRPr lang="zh-CN" altLang="en-US" sz="2400">
              <a:ea typeface="宋体" panose="02010600030101010101" pitchFamily="2" charset="-122"/>
            </a:endParaRPr>
          </a:p>
        </p:txBody>
      </p:sp>
      <p:sp>
        <p:nvSpPr>
          <p:cNvPr id="10" name="AutoShape 5"/>
          <p:cNvSpPr/>
          <p:nvPr>
            <p:custDataLst>
              <p:tags r:id="rId7"/>
            </p:custDataLst>
          </p:nvPr>
        </p:nvSpPr>
        <p:spPr>
          <a:xfrm>
            <a:off x="701675" y="5228590"/>
            <a:ext cx="6614795" cy="616585"/>
          </a:xfrm>
          <a:prstGeom prst="roundRect">
            <a:avLst>
              <a:gd name="adj" fmla="val 0"/>
            </a:avLst>
          </a:prstGeom>
          <a:solidFill>
            <a:srgbClr val="4FD1C5">
              <a:alpha val="10000"/>
            </a:srgbClr>
          </a:solidFill>
          <a:ln w="12700" cap="flat" cmpd="sng">
            <a:solidFill>
              <a:srgbClr val="4FD1C5">
                <a:alpha val="100000"/>
              </a:srgbClr>
            </a:solidFill>
            <a:prstDash val="solid"/>
            <a:round/>
          </a:ln>
        </p:spPr>
        <p:txBody>
          <a:bodyPr vert="horz" wrap="square" lIns="63500" tIns="63500" rIns="63500" bIns="63500" rtlCol="0" anchor="ctr"/>
          <a:lstStyle/>
          <a:p>
            <a:pPr algn="l">
              <a:defRPr/>
            </a:pPr>
            <a:r>
              <a:rPr lang="zh-CN" altLang="en-US" sz="2400">
                <a:ea typeface="宋体" panose="02010600030101010101" pitchFamily="2" charset="-122"/>
              </a:rPr>
              <a:t>插件</a:t>
            </a:r>
            <a:r>
              <a:rPr lang="en-US" altLang="zh-CN" sz="2400">
                <a:ea typeface="宋体" panose="02010600030101010101" pitchFamily="2" charset="-122"/>
              </a:rPr>
              <a:t>:LaTex</a:t>
            </a:r>
            <a:endParaRPr lang="en-US" altLang="zh-CN" sz="2400">
              <a:ea typeface="宋体" panose="02010600030101010101" pitchFamily="2" charset="-122"/>
            </a:endParaRPr>
          </a:p>
        </p:txBody>
      </p:sp>
      <p:pic>
        <p:nvPicPr>
          <p:cNvPr id="11" name="图片 10"/>
          <p:cNvPicPr>
            <a:picLocks noChangeAspect="1"/>
          </p:cNvPicPr>
          <p:nvPr/>
        </p:nvPicPr>
        <p:blipFill>
          <a:blip r:embed="rId8"/>
          <a:stretch>
            <a:fillRect/>
          </a:stretch>
        </p:blipFill>
        <p:spPr>
          <a:xfrm>
            <a:off x="2689225" y="5922010"/>
            <a:ext cx="3033395" cy="7302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实验技术</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custDataLst>
              <p:tags r:id="rId2"/>
            </p:custDataLst>
          </p:nvPr>
        </p:nvSpPr>
        <p:spPr>
          <a:xfrm>
            <a:off x="701675" y="1249045"/>
            <a:ext cx="10668000" cy="1397000"/>
          </a:xfrm>
          <a:prstGeom prst="roundRect">
            <a:avLst>
              <a:gd name="adj" fmla="val 0"/>
            </a:avLst>
          </a:prstGeom>
          <a:solidFill>
            <a:srgbClr val="4FD1C5">
              <a:alpha val="10000"/>
            </a:srgbClr>
          </a:solidFill>
          <a:ln w="12700" cap="flat" cmpd="sng">
            <a:solidFill>
              <a:srgbClr val="4FD1C5">
                <a:alpha val="10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831850" y="1303020"/>
            <a:ext cx="90043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a:t>
            </a:r>
            <a:endParaRPr lang="en-US" sz="1100"/>
          </a:p>
        </p:txBody>
      </p:sp>
      <p:sp>
        <p:nvSpPr>
          <p:cNvPr id="8" name="AutoShape 8"/>
          <p:cNvSpPr/>
          <p:nvPr>
            <p:custDataLst>
              <p:tags r:id="rId4"/>
            </p:custDataLst>
          </p:nvPr>
        </p:nvSpPr>
        <p:spPr>
          <a:xfrm>
            <a:off x="831850" y="1684020"/>
            <a:ext cx="10537825" cy="962025"/>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a:t>
            </a:r>
            <a:r>
              <a:rPr lang="zh-CN" alt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附件1 数据.</a:t>
            </a:r>
            <a:r>
              <a:rPr lang="en-US" altLang="zh-CN"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xls</a:t>
            </a:r>
            <a:r>
              <a:rPr 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a:t>
            </a:r>
            <a:r>
              <a:rPr lang="zh-CN" alt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借用</a:t>
            </a:r>
            <a:r>
              <a:rPr lang="en-US" altLang="zh-CN"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Agent</a:t>
            </a:r>
            <a:r>
              <a:rPr 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工具</a:t>
            </a:r>
            <a:r>
              <a:rPr lang="zh-CN" alt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使用不同的方式</a:t>
            </a:r>
            <a:r>
              <a:rPr 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a:t>
            </a:r>
            <a:r>
              <a:rPr lang="zh-CN" alt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根据题目完成数据分析</a:t>
            </a:r>
            <a:r>
              <a:rPr 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到最终生成技术报告</a:t>
            </a:r>
            <a:r>
              <a:rPr lang="zh-CN" alt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，然后与技术报告范例对比分析</a:t>
            </a:r>
            <a:r>
              <a:rPr 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5"/>
            </p:custDataLst>
          </p:nvPr>
        </p:nvSpPr>
        <p:spPr>
          <a:xfrm>
            <a:off x="701675" y="2900045"/>
            <a:ext cx="5207000" cy="2159000"/>
          </a:xfrm>
          <a:prstGeom prst="roundRect">
            <a:avLst>
              <a:gd name="adj" fmla="val 0"/>
            </a:avLst>
          </a:prstGeom>
          <a:solidFill>
            <a:srgbClr val="F7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5" name="AutoShape 15"/>
          <p:cNvSpPr/>
          <p:nvPr>
            <p:custDataLst>
              <p:tags r:id="rId6"/>
            </p:custDataLst>
          </p:nvPr>
        </p:nvSpPr>
        <p:spPr>
          <a:xfrm>
            <a:off x="960755" y="3154680"/>
            <a:ext cx="419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模式A：简单Prompt模式</a:t>
            </a:r>
            <a:endParaRPr lang="en-US" sz="1100"/>
          </a:p>
        </p:txBody>
      </p:sp>
      <p:sp>
        <p:nvSpPr>
          <p:cNvPr id="16" name="AutoShape 16"/>
          <p:cNvSpPr/>
          <p:nvPr>
            <p:custDataLst>
              <p:tags r:id="rId7"/>
            </p:custDataLst>
          </p:nvPr>
        </p:nvSpPr>
        <p:spPr>
          <a:xfrm>
            <a:off x="955675" y="3636645"/>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直接通过自然语言对话让AI完成代码编写、分析和报告生成。</a:t>
            </a:r>
            <a:b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灵活、快速，但高度依赖用户的指令质量和领域知识，结果的可控性较低。</a:t>
            </a:r>
            <a:endParaRPr lang="en-US" sz="1100"/>
          </a:p>
        </p:txBody>
      </p:sp>
      <p:sp>
        <p:nvSpPr>
          <p:cNvPr id="17" name="AutoShape 17"/>
          <p:cNvSpPr/>
          <p:nvPr>
            <p:custDataLst>
              <p:tags r:id="rId8"/>
            </p:custDataLst>
          </p:nvPr>
        </p:nvSpPr>
        <p:spPr>
          <a:xfrm>
            <a:off x="6162675" y="2900045"/>
            <a:ext cx="5207000" cy="2159000"/>
          </a:xfrm>
          <a:prstGeom prst="roundRect">
            <a:avLst>
              <a:gd name="adj" fmla="val 0"/>
            </a:avLst>
          </a:prstGeom>
          <a:solidFill>
            <a:srgbClr val="F7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9" name="AutoShape 19"/>
          <p:cNvSpPr/>
          <p:nvPr>
            <p:custDataLst>
              <p:tags r:id="rId9"/>
            </p:custDataLst>
          </p:nvPr>
        </p:nvSpPr>
        <p:spPr>
          <a:xfrm>
            <a:off x="6670675" y="3154680"/>
            <a:ext cx="419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模式B：Skill增强模式</a:t>
            </a:r>
            <a:endParaRPr lang="en-US" sz="1100"/>
          </a:p>
        </p:txBody>
      </p:sp>
      <p:sp>
        <p:nvSpPr>
          <p:cNvPr id="20" name="AutoShape 20"/>
          <p:cNvSpPr/>
          <p:nvPr>
            <p:custDataLst>
              <p:tags r:id="rId10"/>
            </p:custDataLst>
          </p:nvPr>
        </p:nvSpPr>
        <p:spPr>
          <a:xfrm>
            <a:off x="6416675" y="3636645"/>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调用一系列预设的专业技能（Skill）来系统化地指导AI完成任务。</a:t>
            </a:r>
            <a:b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方法论驱动、流程化、标准化，能够显著提升结果的严谨性和可靠性。</a:t>
            </a:r>
            <a:endParaRPr lang="en-US" sz="1100"/>
          </a:p>
        </p:txBody>
      </p:sp>
      <p:sp>
        <p:nvSpPr>
          <p:cNvPr id="21" name="AutoShape 13"/>
          <p:cNvSpPr/>
          <p:nvPr>
            <p:custDataLst>
              <p:tags r:id="rId11"/>
            </p:custDataLst>
          </p:nvPr>
        </p:nvSpPr>
        <p:spPr>
          <a:xfrm>
            <a:off x="701675" y="5452110"/>
            <a:ext cx="10668000" cy="1024890"/>
          </a:xfrm>
          <a:prstGeom prst="roundRect">
            <a:avLst>
              <a:gd name="adj" fmla="val 0"/>
            </a:avLst>
          </a:prstGeom>
          <a:solidFill>
            <a:srgbClr val="F7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22" name="AutoShape 15"/>
          <p:cNvSpPr/>
          <p:nvPr>
            <p:custDataLst>
              <p:tags r:id="rId12"/>
            </p:custDataLst>
          </p:nvPr>
        </p:nvSpPr>
        <p:spPr>
          <a:xfrm>
            <a:off x="3940175" y="5507355"/>
            <a:ext cx="419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技术报告</a:t>
            </a:r>
            <a:r>
              <a:rPr lang="en-US" altLang="zh-CN"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a:t>
            </a:r>
            <a:endParaRPr lang="en-US" altLang="zh-CN"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文本框 22"/>
          <p:cNvSpPr txBox="1"/>
          <p:nvPr/>
        </p:nvSpPr>
        <p:spPr>
          <a:xfrm>
            <a:off x="2298700" y="5972175"/>
            <a:ext cx="7604125" cy="337185"/>
          </a:xfrm>
          <a:prstGeom prst="rect">
            <a:avLst/>
          </a:prstGeom>
          <a:noFill/>
        </p:spPr>
        <p:txBody>
          <a:bodyPr wrap="square" rtlCol="0" anchor="t" anchorCtr="0">
            <a:spAutoFit/>
          </a:bodyPr>
          <a:p>
            <a:pPr algn="ctr"/>
            <a:r>
              <a:rPr lang="zh-CN" altLang="en-US" sz="1600"/>
              <a:t>利用模板生成技术报告的基础</a:t>
            </a:r>
            <a:r>
              <a:rPr lang="en-US" altLang="zh-CN" sz="1600"/>
              <a:t>skills，</a:t>
            </a:r>
            <a:r>
              <a:rPr lang="zh-CN" altLang="en-US" sz="1600"/>
              <a:t>并利用基础</a:t>
            </a:r>
            <a:r>
              <a:rPr lang="en-US" altLang="zh-CN" sz="1600"/>
              <a:t>skills</a:t>
            </a:r>
            <a:r>
              <a:rPr lang="zh-CN" altLang="en-US" sz="1600"/>
              <a:t>来生成就业分析的技术报告</a:t>
            </a:r>
            <a:endParaRPr lang="zh-CN" altLang="en-US"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AutoShape 4"/>
          <p:cNvSpPr/>
          <p:nvPr/>
        </p:nvSpPr>
        <p:spPr>
          <a:xfrm>
            <a:off x="72390" y="3048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板块二、数据分析与可视化分析</a:t>
            </a:r>
            <a:r>
              <a:rPr lang="en-US" altLang="zh-CN"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简单提示词</a:t>
            </a:r>
            <a:r>
              <a:rPr lang="en-US" altLang="zh-CN"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635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了解标准的数据分析流程</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13"/>
          <p:cNvSpPr/>
          <p:nvPr>
            <p:custDataLst>
              <p:tags r:id="rId2"/>
            </p:custDataLst>
          </p:nvPr>
        </p:nvSpPr>
        <p:spPr>
          <a:xfrm>
            <a:off x="762000" y="1181100"/>
            <a:ext cx="2144395" cy="556260"/>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ctr">
              <a:defRPr/>
            </a:pPr>
            <a:r>
              <a:rPr lang="zh-CN" altLang="en-US" sz="2000">
                <a:ea typeface="宋体" panose="02010600030101010101" pitchFamily="2" charset="-122"/>
              </a:rPr>
              <a:t>业务理解</a:t>
            </a:r>
            <a:endParaRPr lang="zh-CN" altLang="en-US" sz="2000">
              <a:ea typeface="宋体" panose="02010600030101010101" pitchFamily="2" charset="-122"/>
            </a:endParaRPr>
          </a:p>
        </p:txBody>
      </p:sp>
      <p:sp>
        <p:nvSpPr>
          <p:cNvPr id="31" name="AutoShape 13"/>
          <p:cNvSpPr/>
          <p:nvPr>
            <p:custDataLst>
              <p:tags r:id="rId3"/>
            </p:custDataLst>
          </p:nvPr>
        </p:nvSpPr>
        <p:spPr>
          <a:xfrm>
            <a:off x="762000" y="1985645"/>
            <a:ext cx="2144395" cy="556260"/>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ctr">
              <a:defRPr/>
            </a:pPr>
            <a:r>
              <a:rPr lang="zh-CN" sz="2000">
                <a:ea typeface="宋体" panose="02010600030101010101" pitchFamily="2" charset="-122"/>
              </a:rPr>
              <a:t>获取理解数据</a:t>
            </a:r>
            <a:endParaRPr lang="zh-CN" sz="2000">
              <a:ea typeface="宋体" panose="02010600030101010101" pitchFamily="2" charset="-122"/>
            </a:endParaRPr>
          </a:p>
        </p:txBody>
      </p:sp>
      <p:sp>
        <p:nvSpPr>
          <p:cNvPr id="32" name="AutoShape 13"/>
          <p:cNvSpPr/>
          <p:nvPr>
            <p:custDataLst>
              <p:tags r:id="rId4"/>
            </p:custDataLst>
          </p:nvPr>
        </p:nvSpPr>
        <p:spPr>
          <a:xfrm>
            <a:off x="762000" y="2790190"/>
            <a:ext cx="2144395" cy="556260"/>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ctr">
              <a:defRPr/>
            </a:pPr>
            <a:r>
              <a:rPr lang="zh-CN" sz="2000">
                <a:ea typeface="宋体" panose="02010600030101010101" pitchFamily="2" charset="-122"/>
              </a:rPr>
              <a:t>清洗预处理</a:t>
            </a:r>
            <a:endParaRPr lang="zh-CN" sz="2000">
              <a:ea typeface="宋体" panose="02010600030101010101" pitchFamily="2" charset="-122"/>
            </a:endParaRPr>
          </a:p>
        </p:txBody>
      </p:sp>
      <p:sp>
        <p:nvSpPr>
          <p:cNvPr id="33" name="AutoShape 13"/>
          <p:cNvSpPr/>
          <p:nvPr>
            <p:custDataLst>
              <p:tags r:id="rId5"/>
            </p:custDataLst>
          </p:nvPr>
        </p:nvSpPr>
        <p:spPr>
          <a:xfrm>
            <a:off x="762000" y="3594735"/>
            <a:ext cx="2144395" cy="556260"/>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ctr">
              <a:defRPr/>
            </a:pPr>
            <a:r>
              <a:rPr lang="zh-CN" sz="2000">
                <a:ea typeface="宋体" panose="02010600030101010101" pitchFamily="2" charset="-122"/>
              </a:rPr>
              <a:t>探索性分析</a:t>
            </a:r>
            <a:endParaRPr lang="zh-CN" sz="2000">
              <a:ea typeface="宋体" panose="02010600030101010101" pitchFamily="2" charset="-122"/>
            </a:endParaRPr>
          </a:p>
        </p:txBody>
      </p:sp>
      <p:sp>
        <p:nvSpPr>
          <p:cNvPr id="34" name="AutoShape 13"/>
          <p:cNvSpPr/>
          <p:nvPr>
            <p:custDataLst>
              <p:tags r:id="rId6"/>
            </p:custDataLst>
          </p:nvPr>
        </p:nvSpPr>
        <p:spPr>
          <a:xfrm>
            <a:off x="762000" y="4399280"/>
            <a:ext cx="2144395" cy="556260"/>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ctr">
              <a:defRPr/>
            </a:pPr>
            <a:r>
              <a:rPr lang="zh-CN" sz="2000">
                <a:ea typeface="宋体" panose="02010600030101010101" pitchFamily="2" charset="-122"/>
              </a:rPr>
              <a:t>建模分析</a:t>
            </a:r>
            <a:endParaRPr lang="zh-CN" sz="2000">
              <a:ea typeface="宋体" panose="02010600030101010101" pitchFamily="2" charset="-122"/>
            </a:endParaRPr>
          </a:p>
        </p:txBody>
      </p:sp>
      <p:sp>
        <p:nvSpPr>
          <p:cNvPr id="35" name="AutoShape 13"/>
          <p:cNvSpPr/>
          <p:nvPr>
            <p:custDataLst>
              <p:tags r:id="rId7"/>
            </p:custDataLst>
          </p:nvPr>
        </p:nvSpPr>
        <p:spPr>
          <a:xfrm>
            <a:off x="762000" y="5203825"/>
            <a:ext cx="2144395" cy="556260"/>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ctr">
              <a:defRPr/>
            </a:pPr>
            <a:r>
              <a:rPr lang="zh-CN" sz="2000">
                <a:ea typeface="宋体" panose="02010600030101010101" pitchFamily="2" charset="-122"/>
              </a:rPr>
              <a:t>评估解释</a:t>
            </a:r>
            <a:endParaRPr lang="zh-CN" sz="2000">
              <a:ea typeface="宋体" panose="02010600030101010101" pitchFamily="2" charset="-122"/>
            </a:endParaRPr>
          </a:p>
        </p:txBody>
      </p:sp>
      <p:sp>
        <p:nvSpPr>
          <p:cNvPr id="36" name="AutoShape 13"/>
          <p:cNvSpPr/>
          <p:nvPr>
            <p:custDataLst>
              <p:tags r:id="rId8"/>
            </p:custDataLst>
          </p:nvPr>
        </p:nvSpPr>
        <p:spPr>
          <a:xfrm>
            <a:off x="762000" y="6008370"/>
            <a:ext cx="2144395" cy="556260"/>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ctr">
              <a:defRPr/>
            </a:pPr>
            <a:r>
              <a:rPr lang="zh-CN" sz="2000">
                <a:ea typeface="宋体" panose="02010600030101010101" pitchFamily="2" charset="-122"/>
              </a:rPr>
              <a:t>可视化</a:t>
            </a:r>
            <a:endParaRPr lang="zh-CN" sz="2000">
              <a:ea typeface="宋体" panose="02010600030101010101" pitchFamily="2" charset="-122"/>
            </a:endParaRPr>
          </a:p>
        </p:txBody>
      </p:sp>
      <p:sp>
        <p:nvSpPr>
          <p:cNvPr id="37" name="AutoShape 13"/>
          <p:cNvSpPr/>
          <p:nvPr>
            <p:custDataLst>
              <p:tags r:id="rId9"/>
            </p:custDataLst>
          </p:nvPr>
        </p:nvSpPr>
        <p:spPr>
          <a:xfrm>
            <a:off x="3210560" y="1181100"/>
            <a:ext cx="7847330" cy="556260"/>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l">
              <a:defRPr/>
            </a:pPr>
            <a:r>
              <a:rPr lang="zh-CN" altLang="en-US" sz="2000">
                <a:ea typeface="宋体" panose="02010600030101010101" pitchFamily="2" charset="-122"/>
              </a:rPr>
              <a:t>将业务疑问转化为可量化的分析目标与假设</a:t>
            </a:r>
            <a:endParaRPr lang="zh-CN" altLang="en-US" sz="2000">
              <a:ea typeface="宋体" panose="02010600030101010101" pitchFamily="2" charset="-122"/>
            </a:endParaRPr>
          </a:p>
        </p:txBody>
      </p:sp>
      <p:sp>
        <p:nvSpPr>
          <p:cNvPr id="38" name="AutoShape 13"/>
          <p:cNvSpPr/>
          <p:nvPr>
            <p:custDataLst>
              <p:tags r:id="rId10"/>
            </p:custDataLst>
          </p:nvPr>
        </p:nvSpPr>
        <p:spPr>
          <a:xfrm>
            <a:off x="3210560" y="1982470"/>
            <a:ext cx="7847330" cy="556260"/>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l">
              <a:defRPr/>
            </a:pPr>
            <a:r>
              <a:rPr lang="zh-CN" altLang="en-US" sz="2000">
                <a:ea typeface="宋体" panose="02010600030101010101" pitchFamily="2" charset="-122"/>
              </a:rPr>
              <a:t>收集数据，理解字段含义并初步评估质量</a:t>
            </a:r>
            <a:endParaRPr lang="zh-CN" altLang="en-US" sz="2000">
              <a:ea typeface="宋体" panose="02010600030101010101" pitchFamily="2" charset="-122"/>
            </a:endParaRPr>
          </a:p>
        </p:txBody>
      </p:sp>
      <p:sp>
        <p:nvSpPr>
          <p:cNvPr id="39" name="AutoShape 13"/>
          <p:cNvSpPr/>
          <p:nvPr>
            <p:custDataLst>
              <p:tags r:id="rId11"/>
            </p:custDataLst>
          </p:nvPr>
        </p:nvSpPr>
        <p:spPr>
          <a:xfrm>
            <a:off x="3210560" y="2783840"/>
            <a:ext cx="7847330" cy="556260"/>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l">
              <a:defRPr/>
            </a:pPr>
            <a:r>
              <a:rPr lang="zh-CN" altLang="en-US" sz="2000">
                <a:ea typeface="宋体" panose="02010600030101010101" pitchFamily="2" charset="-122"/>
              </a:rPr>
              <a:t>处理缺失值、异常值，统一格式等</a:t>
            </a:r>
            <a:endParaRPr lang="en-US" altLang="zh-CN" sz="2000">
              <a:ea typeface="宋体" panose="02010600030101010101" pitchFamily="2" charset="-122"/>
            </a:endParaRPr>
          </a:p>
        </p:txBody>
      </p:sp>
      <p:sp>
        <p:nvSpPr>
          <p:cNvPr id="40" name="AutoShape 13"/>
          <p:cNvSpPr/>
          <p:nvPr>
            <p:custDataLst>
              <p:tags r:id="rId12"/>
            </p:custDataLst>
          </p:nvPr>
        </p:nvSpPr>
        <p:spPr>
          <a:xfrm>
            <a:off x="3210560" y="3585210"/>
            <a:ext cx="7847330" cy="556260"/>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l">
              <a:defRPr/>
            </a:pPr>
            <a:r>
              <a:rPr lang="zh-CN" altLang="en-US" sz="2000">
                <a:ea typeface="宋体" panose="02010600030101010101" pitchFamily="2" charset="-122"/>
              </a:rPr>
              <a:t>通过统计和可视化发现模式、关系和异常，形成洞察</a:t>
            </a:r>
            <a:endParaRPr lang="zh-CN" altLang="en-US" sz="2000">
              <a:ea typeface="宋体" panose="02010600030101010101" pitchFamily="2" charset="-122"/>
            </a:endParaRPr>
          </a:p>
        </p:txBody>
      </p:sp>
      <p:sp>
        <p:nvSpPr>
          <p:cNvPr id="41" name="AutoShape 13"/>
          <p:cNvSpPr/>
          <p:nvPr>
            <p:custDataLst>
              <p:tags r:id="rId13"/>
            </p:custDataLst>
          </p:nvPr>
        </p:nvSpPr>
        <p:spPr>
          <a:xfrm>
            <a:off x="3210560" y="4386580"/>
            <a:ext cx="7847330" cy="556260"/>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l">
              <a:defRPr/>
            </a:pPr>
            <a:r>
              <a:rPr lang="zh-CN" altLang="en-US" sz="2000">
                <a:ea typeface="宋体" panose="02010600030101010101" pitchFamily="2" charset="-122"/>
              </a:rPr>
              <a:t>选用描述性、诊断性、预测性或规范性方法回答问题</a:t>
            </a:r>
            <a:endParaRPr lang="zh-CN" altLang="en-US" sz="2000">
              <a:ea typeface="宋体" panose="02010600030101010101" pitchFamily="2" charset="-122"/>
            </a:endParaRPr>
          </a:p>
        </p:txBody>
      </p:sp>
      <p:sp>
        <p:nvSpPr>
          <p:cNvPr id="43" name="AutoShape 13"/>
          <p:cNvSpPr/>
          <p:nvPr>
            <p:custDataLst>
              <p:tags r:id="rId14"/>
            </p:custDataLst>
          </p:nvPr>
        </p:nvSpPr>
        <p:spPr>
          <a:xfrm>
            <a:off x="3210560" y="5989320"/>
            <a:ext cx="7847330" cy="556260"/>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l">
              <a:defRPr/>
            </a:pPr>
            <a:r>
              <a:rPr lang="zh-CN" altLang="en-US" sz="2000">
                <a:ea typeface="宋体" panose="02010600030101010101" pitchFamily="2" charset="-122"/>
              </a:rPr>
              <a:t>用可视化讲故事，输出可执行的行动建议</a:t>
            </a:r>
            <a:endParaRPr lang="zh-CN" altLang="en-US" sz="2000">
              <a:ea typeface="宋体" panose="02010600030101010101" pitchFamily="2" charset="-122"/>
            </a:endParaRPr>
          </a:p>
        </p:txBody>
      </p:sp>
      <p:sp>
        <p:nvSpPr>
          <p:cNvPr id="46" name="AutoShape 13"/>
          <p:cNvSpPr/>
          <p:nvPr>
            <p:custDataLst>
              <p:tags r:id="rId15"/>
            </p:custDataLst>
          </p:nvPr>
        </p:nvSpPr>
        <p:spPr>
          <a:xfrm>
            <a:off x="3210560" y="5187950"/>
            <a:ext cx="7847330" cy="556260"/>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l">
              <a:defRPr/>
            </a:pPr>
            <a:r>
              <a:rPr lang="zh-CN" altLang="en-US" sz="2000">
                <a:ea typeface="宋体" panose="02010600030101010101" pitchFamily="2" charset="-122"/>
              </a:rPr>
              <a:t>检验结果可靠性，解读业务含义，确保能解决最初的问题</a:t>
            </a:r>
            <a:endParaRPr lang="zh-CN" altLang="en-US" sz="2000">
              <a:ea typeface="宋体" panose="02010600030101010101" pitchFamily="2" charset="-122"/>
            </a:endParaRPr>
          </a:p>
        </p:txBody>
      </p:sp>
      <p:sp>
        <p:nvSpPr>
          <p:cNvPr id="47" name="下箭头 46"/>
          <p:cNvSpPr/>
          <p:nvPr>
            <p:custDataLst>
              <p:tags r:id="rId16"/>
            </p:custDataLst>
          </p:nvPr>
        </p:nvSpPr>
        <p:spPr>
          <a:xfrm>
            <a:off x="1686560" y="1683385"/>
            <a:ext cx="295275" cy="382270"/>
          </a:xfrm>
          <a:prstGeom prst="downArrow">
            <a:avLst/>
          </a:pr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下箭头 47"/>
          <p:cNvSpPr/>
          <p:nvPr>
            <p:custDataLst>
              <p:tags r:id="rId17"/>
            </p:custDataLst>
          </p:nvPr>
        </p:nvSpPr>
        <p:spPr>
          <a:xfrm>
            <a:off x="1686560" y="2474595"/>
            <a:ext cx="295275" cy="382270"/>
          </a:xfrm>
          <a:prstGeom prst="downArrow">
            <a:avLst/>
          </a:pr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下箭头 48"/>
          <p:cNvSpPr/>
          <p:nvPr>
            <p:custDataLst>
              <p:tags r:id="rId18"/>
            </p:custDataLst>
          </p:nvPr>
        </p:nvSpPr>
        <p:spPr>
          <a:xfrm>
            <a:off x="1686560" y="3279775"/>
            <a:ext cx="295275" cy="382270"/>
          </a:xfrm>
          <a:prstGeom prst="downArrow">
            <a:avLst/>
          </a:pr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0" name="下箭头 49"/>
          <p:cNvSpPr/>
          <p:nvPr>
            <p:custDataLst>
              <p:tags r:id="rId19"/>
            </p:custDataLst>
          </p:nvPr>
        </p:nvSpPr>
        <p:spPr>
          <a:xfrm>
            <a:off x="1686560" y="4084955"/>
            <a:ext cx="295275" cy="382270"/>
          </a:xfrm>
          <a:prstGeom prst="downArrow">
            <a:avLst/>
          </a:pr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下箭头 50"/>
          <p:cNvSpPr/>
          <p:nvPr>
            <p:custDataLst>
              <p:tags r:id="rId20"/>
            </p:custDataLst>
          </p:nvPr>
        </p:nvSpPr>
        <p:spPr>
          <a:xfrm>
            <a:off x="1686560" y="4876165"/>
            <a:ext cx="295275" cy="382270"/>
          </a:xfrm>
          <a:prstGeom prst="downArrow">
            <a:avLst/>
          </a:pr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下箭头 51"/>
          <p:cNvSpPr/>
          <p:nvPr>
            <p:custDataLst>
              <p:tags r:id="rId21"/>
            </p:custDataLst>
          </p:nvPr>
        </p:nvSpPr>
        <p:spPr>
          <a:xfrm>
            <a:off x="1686560" y="5692775"/>
            <a:ext cx="295275" cy="382270"/>
          </a:xfrm>
          <a:prstGeom prst="downArrow">
            <a:avLst/>
          </a:pr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1069784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简单</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prompt</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驱动</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AI_</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示例</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1-2</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（业务理解</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数据预处理）</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6" name="组合 5"/>
          <p:cNvGrpSpPr/>
          <p:nvPr/>
        </p:nvGrpSpPr>
        <p:grpSpPr>
          <a:xfrm>
            <a:off x="762000" y="1181100"/>
            <a:ext cx="10728325" cy="2040890"/>
            <a:chOff x="1200" y="1860"/>
            <a:chExt cx="16895" cy="3214"/>
          </a:xfrm>
        </p:grpSpPr>
        <p:sp>
          <p:nvSpPr>
            <p:cNvPr id="2" name="AutoShape 13"/>
            <p:cNvSpPr/>
            <p:nvPr>
              <p:custDataLst>
                <p:tags r:id="rId2"/>
              </p:custDataLst>
            </p:nvPr>
          </p:nvSpPr>
          <p:spPr>
            <a:xfrm>
              <a:off x="1200" y="1860"/>
              <a:ext cx="16895" cy="876"/>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l">
                <a:defRPr/>
              </a:pPr>
              <a:r>
                <a:rPr lang="en-US" altLang="zh-CN" sz="2000">
                  <a:ea typeface="宋体" panose="02010600030101010101" pitchFamily="2" charset="-122"/>
                </a:rPr>
                <a:t>prompt:</a:t>
              </a:r>
              <a:r>
                <a:rPr lang="zh-CN" altLang="en-US" sz="2000">
                  <a:ea typeface="宋体" panose="02010600030101010101" pitchFamily="2" charset="-122"/>
                </a:rPr>
                <a:t>先查看文件列表 → 读取题目</a:t>
              </a:r>
              <a:r>
                <a:rPr lang="en-US" altLang="zh-CN" sz="2000">
                  <a:ea typeface="宋体" panose="02010600030101010101" pitchFamily="2" charset="-122"/>
                </a:rPr>
                <a:t>PDF → </a:t>
              </a:r>
              <a:r>
                <a:rPr lang="zh-CN" altLang="en-US" sz="2000">
                  <a:ea typeface="宋体" panose="02010600030101010101" pitchFamily="2" charset="-122"/>
                </a:rPr>
                <a:t>读取</a:t>
              </a:r>
              <a:r>
                <a:rPr lang="en-US" altLang="zh-CN" sz="2000">
                  <a:ea typeface="宋体" panose="02010600030101010101" pitchFamily="2" charset="-122"/>
                </a:rPr>
                <a:t>Excel</a:t>
              </a:r>
              <a:r>
                <a:rPr lang="zh-CN" altLang="en-US" sz="2000">
                  <a:ea typeface="宋体" panose="02010600030101010101" pitchFamily="2" charset="-122"/>
                </a:rPr>
                <a:t>数据结构 → 读取范例报告</a:t>
              </a:r>
              <a:r>
                <a:rPr lang="en-US" altLang="zh-CN" sz="2000">
                  <a:ea typeface="宋体" panose="02010600030101010101" pitchFamily="2" charset="-122"/>
                </a:rPr>
                <a:t>(Latex)</a:t>
              </a:r>
              <a:endParaRPr lang="en-US" altLang="zh-CN" sz="2000">
                <a:ea typeface="宋体" panose="02010600030101010101" pitchFamily="2" charset="-122"/>
              </a:endParaRPr>
            </a:p>
          </p:txBody>
        </p:sp>
        <p:sp>
          <p:nvSpPr>
            <p:cNvPr id="5" name="AutoShape 13"/>
            <p:cNvSpPr/>
            <p:nvPr>
              <p:custDataLst>
                <p:tags r:id="rId3"/>
              </p:custDataLst>
            </p:nvPr>
          </p:nvSpPr>
          <p:spPr>
            <a:xfrm>
              <a:off x="1200" y="2872"/>
              <a:ext cx="16895" cy="2202"/>
            </a:xfrm>
            <a:prstGeom prst="roundRect">
              <a:avLst>
                <a:gd name="adj" fmla="val 50000"/>
              </a:avLst>
            </a:prstGeom>
            <a:solidFill>
              <a:schemeClr val="bg2">
                <a:lumMod val="40000"/>
                <a:lumOff val="60000"/>
              </a:schemeClr>
            </a:solidFill>
            <a:ln w="12700" cap="flat" cmpd="sng">
              <a:noFill/>
              <a:prstDash val="solid"/>
              <a:round/>
            </a:ln>
          </p:spPr>
          <p:txBody>
            <a:bodyPr vert="horz" wrap="square" lIns="63500" tIns="63500" rIns="63500" bIns="63500" rtlCol="0" anchor="ctr"/>
            <a:lstStyle/>
            <a:p>
              <a:pPr algn="l">
                <a:defRPr/>
              </a:pPr>
              <a:r>
                <a:rPr lang="en-US" altLang="zh-CN" sz="2000">
                  <a:ea typeface="宋体" panose="02010600030101010101" pitchFamily="2" charset="-122"/>
                </a:rPr>
                <a:t>Claude:</a:t>
              </a:r>
              <a:r>
                <a:rPr lang="zh-CN" altLang="en-US" sz="2000">
                  <a:ea typeface="宋体" panose="02010600030101010101" pitchFamily="2" charset="-122"/>
                </a:rPr>
                <a:t>逐文件读取，识别出4个</a:t>
              </a:r>
              <a:r>
                <a:rPr lang="en-US" altLang="zh-CN" sz="2000">
                  <a:ea typeface="宋体" panose="02010600030101010101" pitchFamily="2" charset="-122"/>
                </a:rPr>
                <a:t>Sheet</a:t>
              </a:r>
              <a:r>
                <a:rPr lang="zh-CN" altLang="en-US" sz="2000">
                  <a:ea typeface="宋体" panose="02010600030101010101" pitchFamily="2" charset="-122"/>
                </a:rPr>
                <a:t>的数据结构（数据集/预测集/字段注释/行业代码），三层表头格式，`\</a:t>
              </a:r>
              <a:r>
                <a:rPr lang="en-US" altLang="zh-CN" sz="2000">
                  <a:ea typeface="宋体" panose="02010600030101010101" pitchFamily="2" charset="-122"/>
                </a:rPr>
                <a:t>N`</a:t>
              </a:r>
              <a:r>
                <a:rPr lang="zh-CN" altLang="en-US" sz="2000">
                  <a:ea typeface="宋体" panose="02010600030101010101" pitchFamily="2" charset="-122"/>
                </a:rPr>
                <a:t>空值标记，以及范例报告的解题思路。</a:t>
              </a:r>
              <a:r>
                <a:rPr lang="zh-CN" altLang="en-US" sz="2000">
                  <a:sym typeface="+mn-ea"/>
                </a:rPr>
                <a:t>原始数据无直接就业/失业标签字段，需要通过就业时间和失业时间的时序关系自行构建。</a:t>
              </a:r>
              <a:endParaRPr lang="zh-CN" altLang="en-US" sz="2000">
                <a:ea typeface="宋体" panose="02010600030101010101" pitchFamily="2" charset="-122"/>
              </a:endParaRPr>
            </a:p>
          </p:txBody>
        </p:sp>
      </p:grpSp>
      <p:grpSp>
        <p:nvGrpSpPr>
          <p:cNvPr id="11" name="组合 10"/>
          <p:cNvGrpSpPr/>
          <p:nvPr/>
        </p:nvGrpSpPr>
        <p:grpSpPr>
          <a:xfrm>
            <a:off x="731520" y="3387090"/>
            <a:ext cx="10728325" cy="2952115"/>
            <a:chOff x="1200" y="1860"/>
            <a:chExt cx="16895" cy="4649"/>
          </a:xfrm>
        </p:grpSpPr>
        <p:sp>
          <p:nvSpPr>
            <p:cNvPr id="12" name="AutoShape 13"/>
            <p:cNvSpPr/>
            <p:nvPr>
              <p:custDataLst>
                <p:tags r:id="rId4"/>
              </p:custDataLst>
            </p:nvPr>
          </p:nvSpPr>
          <p:spPr>
            <a:xfrm>
              <a:off x="1200" y="1860"/>
              <a:ext cx="16895" cy="876"/>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l">
                <a:defRPr/>
              </a:pPr>
              <a:r>
                <a:rPr lang="en-US" altLang="zh-CN" sz="2000">
                  <a:ea typeface="宋体" panose="02010600030101010101" pitchFamily="2" charset="-122"/>
                </a:rPr>
                <a:t>prompt:</a:t>
              </a:r>
              <a:r>
                <a:rPr lang="zh-CN" altLang="en-US" sz="2000">
                  <a:ea typeface="宋体" panose="02010600030101010101" pitchFamily="2" charset="-122"/>
                </a:rPr>
                <a:t>先做探索</a:t>
              </a:r>
              <a:r>
                <a:rPr lang="en-US" altLang="zh-CN" sz="2000">
                  <a:ea typeface="宋体" panose="02010600030101010101" pitchFamily="2" charset="-122"/>
                </a:rPr>
                <a:t>→ </a:t>
              </a:r>
              <a:r>
                <a:rPr lang="zh-CN" altLang="en-US" sz="2000">
                  <a:ea typeface="宋体" panose="02010600030101010101" pitchFamily="2" charset="-122"/>
                </a:rPr>
                <a:t>确认数据全貌 → 再做正式预处理</a:t>
              </a:r>
              <a:endParaRPr lang="zh-CN" altLang="en-US" sz="2000">
                <a:ea typeface="宋体" panose="02010600030101010101" pitchFamily="2" charset="-122"/>
              </a:endParaRPr>
            </a:p>
          </p:txBody>
        </p:sp>
        <p:sp>
          <p:nvSpPr>
            <p:cNvPr id="13" name="AutoShape 13"/>
            <p:cNvSpPr/>
            <p:nvPr>
              <p:custDataLst>
                <p:tags r:id="rId5"/>
              </p:custDataLst>
            </p:nvPr>
          </p:nvSpPr>
          <p:spPr>
            <a:xfrm>
              <a:off x="1200" y="2872"/>
              <a:ext cx="16895" cy="3637"/>
            </a:xfrm>
            <a:prstGeom prst="roundRect">
              <a:avLst>
                <a:gd name="adj" fmla="val 50000"/>
              </a:avLst>
            </a:prstGeom>
            <a:solidFill>
              <a:schemeClr val="bg2">
                <a:lumMod val="40000"/>
                <a:lumOff val="60000"/>
              </a:schemeClr>
            </a:solidFill>
            <a:ln w="12700" cap="flat" cmpd="sng">
              <a:noFill/>
              <a:prstDash val="solid"/>
              <a:round/>
            </a:ln>
          </p:spPr>
          <p:txBody>
            <a:bodyPr vert="horz" wrap="square" lIns="63500" tIns="63500" rIns="63500" bIns="63500" rtlCol="0" anchor="ctr"/>
            <a:lstStyle/>
            <a:p>
              <a:pPr algn="l">
                <a:defRPr/>
              </a:pPr>
              <a:r>
                <a:rPr lang="en-US" altLang="zh-CN" sz="2000">
                  <a:ea typeface="宋体" panose="02010600030101010101" pitchFamily="2" charset="-122"/>
                </a:rPr>
                <a:t>Claude:</a:t>
              </a:r>
              <a:endParaRPr lang="en-US" altLang="zh-CN" sz="2000">
                <a:ea typeface="宋体" panose="02010600030101010101" pitchFamily="2" charset="-122"/>
              </a:endParaRPr>
            </a:p>
            <a:p>
              <a:pPr algn="l">
                <a:defRPr/>
              </a:pPr>
              <a:r>
                <a:rPr lang="zh-CN" altLang="en-US" sz="2000">
                  <a:ea typeface="宋体" panose="02010600030101010101" pitchFamily="2" charset="-122"/>
                </a:rPr>
                <a:t>- 自动识别出23个字段存在`\</a:t>
              </a:r>
              <a:r>
                <a:rPr lang="en-US" altLang="zh-CN" sz="2000">
                  <a:ea typeface="宋体" panose="02010600030101010101" pitchFamily="2" charset="-122"/>
                </a:rPr>
                <a:t>N`</a:t>
              </a:r>
              <a:r>
                <a:rPr lang="zh-CN" altLang="en-US" sz="2000">
                  <a:ea typeface="宋体" panose="02010600030101010101" pitchFamily="2" charset="-122"/>
                </a:rPr>
                <a:t>空值标记</a:t>
              </a:r>
              <a:endParaRPr lang="zh-CN" altLang="en-US" sz="2000">
                <a:ea typeface="宋体" panose="02010600030101010101" pitchFamily="2" charset="-122"/>
              </a:endParaRPr>
            </a:p>
            <a:p>
              <a:pPr algn="l">
                <a:defRPr/>
              </a:pPr>
              <a:r>
                <a:rPr lang="zh-CN" altLang="en-US" sz="2000">
                  <a:ea typeface="宋体" panose="02010600030101010101" pitchFamily="2" charset="-122"/>
                </a:rPr>
                <a:t>- 统计缺失率分层（极端&gt;95%、严重80-95%、高度40-80%等）</a:t>
              </a:r>
              <a:endParaRPr lang="zh-CN" altLang="en-US" sz="2000">
                <a:ea typeface="宋体" panose="02010600030101010101" pitchFamily="2" charset="-122"/>
              </a:endParaRPr>
            </a:p>
            <a:p>
              <a:pPr algn="l">
                <a:defRPr/>
              </a:pPr>
              <a:r>
                <a:rPr lang="zh-CN" altLang="en-US" sz="2000">
                  <a:ea typeface="宋体" panose="02010600030101010101" pitchFamily="2" charset="-122"/>
                </a:rPr>
                <a:t>- 设计4条标签构建规则（基于时间先后+劳动合同+录用单位兜底）</a:t>
              </a:r>
              <a:endParaRPr lang="zh-CN" altLang="en-US" sz="2000">
                <a:ea typeface="宋体" panose="02010600030101010101" pitchFamily="2" charset="-122"/>
              </a:endParaRPr>
            </a:p>
            <a:p>
              <a:pPr algn="l">
                <a:defRPr/>
              </a:pPr>
              <a:r>
                <a:rPr lang="zh-CN" altLang="en-US" sz="2000">
                  <a:ea typeface="宋体" panose="02010600030101010101" pitchFamily="2" charset="-122"/>
                </a:rPr>
                <a:t>- 丢弃10列缺失率&gt;80%的字段</a:t>
              </a:r>
              <a:endParaRPr lang="zh-CN" altLang="en-US" sz="2000">
                <a:ea typeface="宋体" panose="02010600030101010101" pitchFamily="2" charset="-122"/>
              </a:endParaRPr>
            </a:p>
            <a:p>
              <a:pPr algn="l">
                <a:defRPr/>
              </a:pPr>
              <a:r>
                <a:rPr lang="zh-CN" altLang="en-US" sz="2000">
                  <a:ea typeface="宋体" panose="02010600030101010101" pitchFamily="2" charset="-122"/>
                </a:rPr>
                <a:t>- 处理23%缺失的专业字段（新增`</a:t>
              </a:r>
              <a:r>
                <a:rPr lang="en-US" altLang="zh-CN" sz="2000">
                  <a:ea typeface="宋体" panose="02010600030101010101" pitchFamily="2" charset="-122"/>
                </a:rPr>
                <a:t>profession_has_value`</a:t>
              </a:r>
              <a:r>
                <a:rPr lang="zh-CN" altLang="en-US" sz="2000">
                  <a:ea typeface="宋体" panose="02010600030101010101" pitchFamily="2" charset="-122"/>
                </a:rPr>
                <a:t>特征）</a:t>
              </a:r>
              <a:endParaRPr lang="zh-CN" altLang="en-US" sz="2000">
                <a:ea typeface="宋体" panose="02010600030101010101" pitchFamily="2" charset="-122"/>
              </a:endParaRPr>
            </a:p>
          </p:txBody>
        </p:sp>
      </p:grpSp>
      <p:pic>
        <p:nvPicPr>
          <p:cNvPr id="14" name="图片 13"/>
          <p:cNvPicPr>
            <a:picLocks noChangeAspect="1"/>
          </p:cNvPicPr>
          <p:nvPr/>
        </p:nvPicPr>
        <p:blipFill>
          <a:blip r:embed="rId6"/>
          <a:srcRect t="24655" r="56479"/>
          <a:stretch>
            <a:fillRect/>
          </a:stretch>
        </p:blipFill>
        <p:spPr>
          <a:xfrm>
            <a:off x="8644890" y="4556760"/>
            <a:ext cx="2503170" cy="9105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635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数据探索与预处理报告</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.md</a:t>
            </a:r>
            <a:endPar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 name="图片 3"/>
          <p:cNvPicPr>
            <a:picLocks noChangeAspect="1"/>
          </p:cNvPicPr>
          <p:nvPr/>
        </p:nvPicPr>
        <p:blipFill>
          <a:blip r:embed="rId2"/>
          <a:stretch>
            <a:fillRect/>
          </a:stretch>
        </p:blipFill>
        <p:spPr>
          <a:xfrm>
            <a:off x="1221740" y="3027045"/>
            <a:ext cx="4057650" cy="3144520"/>
          </a:xfrm>
          <a:prstGeom prst="rect">
            <a:avLst/>
          </a:prstGeom>
        </p:spPr>
      </p:pic>
      <p:pic>
        <p:nvPicPr>
          <p:cNvPr id="7" name="图片 6"/>
          <p:cNvPicPr>
            <a:picLocks noChangeAspect="1"/>
          </p:cNvPicPr>
          <p:nvPr/>
        </p:nvPicPr>
        <p:blipFill>
          <a:blip r:embed="rId3"/>
          <a:stretch>
            <a:fillRect/>
          </a:stretch>
        </p:blipFill>
        <p:spPr>
          <a:xfrm>
            <a:off x="6397625" y="1229360"/>
            <a:ext cx="4403725" cy="2199640"/>
          </a:xfrm>
          <a:prstGeom prst="rect">
            <a:avLst/>
          </a:prstGeom>
        </p:spPr>
      </p:pic>
      <p:pic>
        <p:nvPicPr>
          <p:cNvPr id="8" name="图片 7"/>
          <p:cNvPicPr>
            <a:picLocks noChangeAspect="1"/>
          </p:cNvPicPr>
          <p:nvPr/>
        </p:nvPicPr>
        <p:blipFill>
          <a:blip r:embed="rId4"/>
          <a:stretch>
            <a:fillRect/>
          </a:stretch>
        </p:blipFill>
        <p:spPr>
          <a:xfrm>
            <a:off x="1221740" y="1229360"/>
            <a:ext cx="4908550" cy="1633220"/>
          </a:xfrm>
          <a:prstGeom prst="rect">
            <a:avLst/>
          </a:prstGeom>
        </p:spPr>
      </p:pic>
      <p:pic>
        <p:nvPicPr>
          <p:cNvPr id="9" name="图片 8"/>
          <p:cNvPicPr>
            <a:picLocks noChangeAspect="1"/>
          </p:cNvPicPr>
          <p:nvPr/>
        </p:nvPicPr>
        <p:blipFill>
          <a:blip r:embed="rId5"/>
          <a:stretch>
            <a:fillRect/>
          </a:stretch>
        </p:blipFill>
        <p:spPr>
          <a:xfrm>
            <a:off x="5742305" y="4161790"/>
            <a:ext cx="5059045" cy="20097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1069848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简单</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prompt</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驱动</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AI_</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示例</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3-4</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（探索性分析</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建模分析）</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6" name="组合 5"/>
          <p:cNvGrpSpPr/>
          <p:nvPr>
            <p:custDataLst>
              <p:tags r:id="rId2"/>
            </p:custDataLst>
          </p:nvPr>
        </p:nvGrpSpPr>
        <p:grpSpPr>
          <a:xfrm>
            <a:off x="731520" y="1181100"/>
            <a:ext cx="10758805" cy="5534025"/>
            <a:chOff x="1152" y="1860"/>
            <a:chExt cx="16943" cy="8715"/>
          </a:xfrm>
        </p:grpSpPr>
        <p:sp>
          <p:nvSpPr>
            <p:cNvPr id="2" name="AutoShape 13"/>
            <p:cNvSpPr/>
            <p:nvPr>
              <p:custDataLst>
                <p:tags r:id="rId3"/>
              </p:custDataLst>
            </p:nvPr>
          </p:nvSpPr>
          <p:spPr>
            <a:xfrm>
              <a:off x="1200" y="1860"/>
              <a:ext cx="16895" cy="876"/>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l">
                <a:defRPr/>
              </a:pPr>
              <a:r>
                <a:rPr lang="en-US" altLang="zh-CN" sz="2000">
                  <a:ea typeface="宋体" panose="02010600030101010101" pitchFamily="2" charset="-122"/>
                </a:rPr>
                <a:t>prompt:</a:t>
              </a:r>
              <a:r>
                <a:rPr lang="zh-CN" altLang="en-US" sz="2000">
                  <a:ea typeface="宋体" panose="02010600030101010101" pitchFamily="2" charset="-122"/>
                </a:rPr>
                <a:t>先捋清步骤 → 确认 → 再生成代码</a:t>
              </a:r>
              <a:endParaRPr lang="zh-CN" altLang="en-US" sz="2000">
                <a:ea typeface="宋体" panose="02010600030101010101" pitchFamily="2" charset="-122"/>
              </a:endParaRPr>
            </a:p>
          </p:txBody>
        </p:sp>
        <p:sp>
          <p:nvSpPr>
            <p:cNvPr id="5" name="AutoShape 13"/>
            <p:cNvSpPr/>
            <p:nvPr>
              <p:custDataLst>
                <p:tags r:id="rId4"/>
              </p:custDataLst>
            </p:nvPr>
          </p:nvSpPr>
          <p:spPr>
            <a:xfrm>
              <a:off x="1200" y="2872"/>
              <a:ext cx="16895" cy="2881"/>
            </a:xfrm>
            <a:prstGeom prst="roundRect">
              <a:avLst>
                <a:gd name="adj" fmla="val 50000"/>
              </a:avLst>
            </a:prstGeom>
            <a:solidFill>
              <a:schemeClr val="bg2">
                <a:lumMod val="40000"/>
                <a:lumOff val="60000"/>
              </a:schemeClr>
            </a:solidFill>
            <a:ln w="12700" cap="flat" cmpd="sng">
              <a:noFill/>
              <a:prstDash val="solid"/>
              <a:round/>
            </a:ln>
          </p:spPr>
          <p:txBody>
            <a:bodyPr vert="horz" wrap="square" lIns="63500" tIns="63500" rIns="63500" bIns="63500" rtlCol="0" anchor="ctr"/>
            <a:lstStyle/>
            <a:p>
              <a:pPr algn="l">
                <a:defRPr/>
              </a:pPr>
              <a:r>
                <a:rPr lang="en-US" altLang="zh-CN" sz="2000">
                  <a:ea typeface="宋体" panose="02010600030101010101" pitchFamily="2" charset="-122"/>
                </a:rPr>
                <a:t>Claude:</a:t>
              </a:r>
              <a:r>
                <a:rPr lang="zh-CN" altLang="en-US" sz="2000">
                  <a:ea typeface="宋体" panose="02010600030101010101" pitchFamily="2" charset="-122"/>
                </a:rPr>
                <a:t>规划9步分析（总览→年龄→性别→学历→行业→婚姻/户口→相关性→年龄×学历交叉→性别×行业交叉）</a:t>
              </a:r>
              <a:endParaRPr lang="zh-CN" altLang="en-US" sz="2000">
                <a:ea typeface="宋体" panose="02010600030101010101" pitchFamily="2" charset="-122"/>
              </a:endParaRPr>
            </a:p>
            <a:p>
              <a:pPr algn="l">
                <a:defRPr/>
              </a:pPr>
              <a:r>
                <a:rPr lang="zh-CN" altLang="en-US" sz="2000">
                  <a:ea typeface="宋体" panose="02010600030101010101" pitchFamily="2" charset="-122"/>
                </a:rPr>
                <a:t>- 使用</a:t>
              </a:r>
              <a:r>
                <a:rPr lang="en-US" altLang="zh-CN" sz="2000">
                  <a:ea typeface="宋体" panose="02010600030101010101" pitchFamily="2" charset="-122"/>
                </a:rPr>
                <a:t>matplotlib+seaborn</a:t>
              </a:r>
              <a:r>
                <a:rPr lang="zh-CN" altLang="en-US" sz="2000">
                  <a:ea typeface="宋体" panose="02010600030101010101" pitchFamily="2" charset="-122"/>
                </a:rPr>
                <a:t>生成9张图表</a:t>
              </a:r>
              <a:endParaRPr lang="zh-CN" altLang="en-US" sz="2000">
                <a:ea typeface="宋体" panose="02010600030101010101" pitchFamily="2" charset="-122"/>
              </a:endParaRPr>
            </a:p>
            <a:p>
              <a:pPr algn="l">
                <a:defRPr/>
              </a:pPr>
              <a:r>
                <a:rPr lang="zh-CN" altLang="en-US" sz="2000">
                  <a:ea typeface="宋体" panose="02010600030101010101" pitchFamily="2" charset="-122"/>
                </a:rPr>
                <a:t>- 安装缺失的依赖库（</a:t>
              </a:r>
              <a:r>
                <a:rPr lang="en-US" altLang="zh-CN" sz="2000">
                  <a:ea typeface="宋体" panose="02010600030101010101" pitchFamily="2" charset="-122"/>
                </a:rPr>
                <a:t>matplotlib、seaborn）</a:t>
              </a:r>
              <a:endParaRPr lang="en-US" altLang="zh-CN" sz="2000">
                <a:ea typeface="宋体" panose="02010600030101010101" pitchFamily="2" charset="-122"/>
              </a:endParaRPr>
            </a:p>
            <a:p>
              <a:pPr algn="l">
                <a:defRPr/>
              </a:pPr>
              <a:r>
                <a:rPr lang="zh-CN" altLang="en-US" sz="2000">
                  <a:ea typeface="宋体" panose="02010600030101010101" pitchFamily="2" charset="-122"/>
                </a:rPr>
                <a:t>- 中文字体配置（</a:t>
              </a:r>
              <a:r>
                <a:rPr lang="en-US" altLang="zh-CN" sz="2000">
                  <a:ea typeface="宋体" panose="02010600030101010101" pitchFamily="2" charset="-122"/>
                </a:rPr>
                <a:t>SimHei/Microsoft YaHei）</a:t>
              </a:r>
              <a:endParaRPr lang="zh-CN" altLang="en-US" sz="2000">
                <a:ea typeface="宋体" panose="02010600030101010101" pitchFamily="2" charset="-122"/>
              </a:endParaRPr>
            </a:p>
          </p:txBody>
        </p:sp>
        <p:sp>
          <p:nvSpPr>
            <p:cNvPr id="10" name="AutoShape 13"/>
            <p:cNvSpPr/>
            <p:nvPr>
              <p:custDataLst>
                <p:tags r:id="rId5"/>
              </p:custDataLst>
            </p:nvPr>
          </p:nvSpPr>
          <p:spPr>
            <a:xfrm>
              <a:off x="1152" y="6895"/>
              <a:ext cx="16895" cy="876"/>
            </a:xfrm>
            <a:prstGeom prst="roundRect">
              <a:avLst>
                <a:gd name="adj" fmla="val 50000"/>
              </a:avLst>
            </a:prstGeom>
            <a:solidFill>
              <a:schemeClr val="tx2">
                <a:lumMod val="75000"/>
              </a:schemeClr>
            </a:solidFill>
            <a:ln w="12700" cap="flat" cmpd="sng">
              <a:noFill/>
              <a:prstDash val="solid"/>
              <a:round/>
            </a:ln>
          </p:spPr>
          <p:txBody>
            <a:bodyPr vert="horz" wrap="square" lIns="63500" tIns="63500" rIns="63500" bIns="63500" rtlCol="0" anchor="ctr"/>
            <a:lstStyle/>
            <a:p>
              <a:pPr algn="l">
                <a:defRPr/>
              </a:pPr>
              <a:r>
                <a:rPr lang="en-US" altLang="zh-CN" sz="2000">
                  <a:ea typeface="宋体" panose="02010600030101010101" pitchFamily="2" charset="-122"/>
                </a:rPr>
                <a:t>prompt:</a:t>
              </a:r>
              <a:r>
                <a:rPr lang="zh-CN" altLang="en-US" sz="2000">
                  <a:ea typeface="宋体" panose="02010600030101010101" pitchFamily="2" charset="-122"/>
                </a:rPr>
                <a:t>修复代码→ 运行</a:t>
              </a:r>
              <a:endParaRPr lang="zh-CN" altLang="en-US" sz="2000">
                <a:ea typeface="宋体" panose="02010600030101010101" pitchFamily="2" charset="-122"/>
              </a:endParaRPr>
            </a:p>
          </p:txBody>
        </p:sp>
        <p:sp>
          <p:nvSpPr>
            <p:cNvPr id="24" name="AutoShape 13"/>
            <p:cNvSpPr/>
            <p:nvPr>
              <p:custDataLst>
                <p:tags r:id="rId6"/>
              </p:custDataLst>
            </p:nvPr>
          </p:nvSpPr>
          <p:spPr>
            <a:xfrm>
              <a:off x="1152" y="7901"/>
              <a:ext cx="16895" cy="2674"/>
            </a:xfrm>
            <a:prstGeom prst="roundRect">
              <a:avLst>
                <a:gd name="adj" fmla="val 50000"/>
              </a:avLst>
            </a:prstGeom>
            <a:solidFill>
              <a:srgbClr val="ADB9CA"/>
            </a:solidFill>
            <a:ln w="12700" cap="flat" cmpd="sng">
              <a:noFill/>
              <a:prstDash val="solid"/>
              <a:round/>
            </a:ln>
          </p:spPr>
          <p:txBody>
            <a:bodyPr vert="horz" wrap="square" lIns="63500" tIns="63500" rIns="63500" bIns="63500" rtlCol="0" anchor="ctr"/>
            <a:lstStyle/>
            <a:p>
              <a:pPr algn="l">
                <a:defRPr/>
              </a:pPr>
              <a:r>
                <a:rPr lang="en-US" altLang="zh-CN" sz="2000">
                  <a:ea typeface="宋体" panose="02010600030101010101" pitchFamily="2" charset="-122"/>
                </a:rPr>
                <a:t>Claude:</a:t>
              </a:r>
              <a:r>
                <a:rPr lang="zh-CN" altLang="en-US" sz="2000">
                  <a:ea typeface="宋体" panose="02010600030101010101" pitchFamily="2" charset="-122"/>
                </a:rPr>
                <a:t>构建8种分类模型对比框架（</a:t>
              </a:r>
              <a:r>
                <a:rPr lang="en-US" altLang="zh-CN" sz="2000">
                  <a:ea typeface="宋体" panose="02010600030101010101" pitchFamily="2" charset="-122"/>
                </a:rPr>
                <a:t>LR/DT/RF/KNN/SVM/GBDT/XGBoost/LightGBM）</a:t>
              </a:r>
              <a:endParaRPr lang="en-US" altLang="zh-CN" sz="2000">
                <a:ea typeface="宋体" panose="02010600030101010101" pitchFamily="2" charset="-122"/>
              </a:endParaRPr>
            </a:p>
            <a:p>
              <a:pPr algn="l">
                <a:defRPr/>
              </a:pPr>
              <a:r>
                <a:rPr lang="zh-CN" altLang="en-US" sz="2000">
                  <a:ea typeface="宋体" panose="02010600030101010101" pitchFamily="2" charset="-122"/>
                </a:rPr>
                <a:t>- 安装</a:t>
              </a:r>
              <a:r>
                <a:rPr lang="en-US" altLang="zh-CN" sz="2000">
                  <a:ea typeface="宋体" panose="02010600030101010101" pitchFamily="2" charset="-122"/>
                </a:rPr>
                <a:t>scikit-learn、xgboost、lightgbm</a:t>
              </a:r>
              <a:r>
                <a:rPr lang="zh-CN" altLang="en-US" sz="2000">
                  <a:ea typeface="宋体" panose="02010600030101010101" pitchFamily="2" charset="-122"/>
                </a:rPr>
                <a:t>依赖</a:t>
              </a:r>
              <a:endParaRPr lang="zh-CN" altLang="en-US" sz="2000">
                <a:ea typeface="宋体" panose="02010600030101010101" pitchFamily="2" charset="-122"/>
              </a:endParaRPr>
            </a:p>
            <a:p>
              <a:pPr algn="l">
                <a:defRPr/>
              </a:pPr>
              <a:r>
                <a:rPr lang="zh-CN" altLang="en-US" sz="2000">
                  <a:ea typeface="宋体" panose="02010600030101010101" pitchFamily="2" charset="-122"/>
                </a:rPr>
                <a:t>- 分层抽样80/20划分，固定</a:t>
              </a:r>
              <a:r>
                <a:rPr lang="en-US" altLang="zh-CN" sz="2000">
                  <a:ea typeface="宋体" panose="02010600030101010101" pitchFamily="2" charset="-122"/>
                </a:rPr>
                <a:t>random_state=42</a:t>
              </a:r>
              <a:endParaRPr lang="en-US" altLang="zh-CN" sz="2000">
                <a:ea typeface="宋体" panose="02010600030101010101" pitchFamily="2" charset="-122"/>
              </a:endParaRPr>
            </a:p>
            <a:p>
              <a:pPr algn="l">
                <a:defRPr/>
              </a:pPr>
              <a:r>
                <a:rPr lang="zh-CN" altLang="en-US" sz="2000">
                  <a:ea typeface="宋体" panose="02010600030101010101" pitchFamily="2" charset="-122"/>
                </a:rPr>
                <a:t>- 生成特征重要性条形图、混淆矩阵、模型对比图</a:t>
              </a:r>
              <a:endParaRPr lang="zh-CN" altLang="en-US" sz="2000">
                <a:ea typeface="宋体" panose="02010600030101010101" pitchFamily="2" charset="-122"/>
              </a:endParaRPr>
            </a:p>
            <a:p>
              <a:pPr algn="l">
                <a:defRPr/>
              </a:pPr>
              <a:r>
                <a:rPr lang="zh-CN" altLang="en-US" sz="2000">
                  <a:ea typeface="宋体" panose="02010600030101010101" pitchFamily="2" charset="-122"/>
                </a:rPr>
                <a:t>- 对预测集20个样本输出预测结果</a:t>
              </a:r>
              <a:endParaRPr lang="zh-CN" altLang="en-US" sz="2000">
                <a:ea typeface="宋体" panose="02010600030101010101" pitchFamily="2" charset="-122"/>
              </a:endParaRPr>
            </a:p>
          </p:txBody>
        </p:sp>
      </p:grpSp>
      <p:sp>
        <p:nvSpPr>
          <p:cNvPr id="9" name="AutoShape 13"/>
          <p:cNvSpPr/>
          <p:nvPr>
            <p:custDataLst>
              <p:tags r:id="rId7"/>
            </p:custDataLst>
          </p:nvPr>
        </p:nvSpPr>
        <p:spPr>
          <a:xfrm>
            <a:off x="762000" y="3653155"/>
            <a:ext cx="10728325" cy="556260"/>
          </a:xfrm>
          <a:prstGeom prst="roundRect">
            <a:avLst>
              <a:gd name="adj" fmla="val 50000"/>
            </a:avLst>
          </a:prstGeom>
          <a:solidFill>
            <a:schemeClr val="accent2"/>
          </a:solidFill>
          <a:ln w="12700" cap="flat" cmpd="sng">
            <a:noFill/>
            <a:prstDash val="solid"/>
            <a:round/>
          </a:ln>
        </p:spPr>
        <p:txBody>
          <a:bodyPr vert="horz" wrap="square" lIns="63500" tIns="63500" rIns="63500" bIns="63500" rtlCol="0" anchor="ctr"/>
          <a:lstStyle/>
          <a:p>
            <a:pPr algn="l">
              <a:defRPr/>
            </a:pPr>
            <a:r>
              <a:rPr lang="zh-CN" altLang="en-US" sz="2000">
                <a:ea typeface="宋体" panose="02010600030101010101" pitchFamily="2" charset="-122"/>
              </a:rPr>
              <a:t>报错：初次运行汇总输出</a:t>
            </a:r>
            <a:r>
              <a:rPr lang="en-US" altLang="zh-CN" sz="2000">
                <a:ea typeface="宋体" panose="02010600030101010101" pitchFamily="2" charset="-122"/>
              </a:rPr>
              <a:t>hukou_rates.idxmax()</a:t>
            </a:r>
            <a:r>
              <a:rPr lang="zh-CN" altLang="en-US" sz="2000">
                <a:ea typeface="宋体" panose="02010600030101010101" pitchFamily="2" charset="-122"/>
              </a:rPr>
              <a:t>因</a:t>
            </a:r>
            <a:r>
              <a:rPr lang="en-US" altLang="zh-CN" sz="2000">
                <a:ea typeface="宋体" panose="02010600030101010101" pitchFamily="2" charset="-122"/>
              </a:rPr>
              <a:t>NaN</a:t>
            </a:r>
            <a:r>
              <a:rPr lang="zh-CN" altLang="en-US" sz="2000">
                <a:ea typeface="宋体" panose="02010600030101010101" pitchFamily="2" charset="-122"/>
              </a:rPr>
              <a:t>报错 → 添加</a:t>
            </a:r>
            <a:r>
              <a:rPr lang="en-US" altLang="zh-CN" sz="2000">
                <a:ea typeface="宋体" panose="02010600030101010101" pitchFamily="2" charset="-122"/>
              </a:rPr>
              <a:t>dropna()</a:t>
            </a:r>
            <a:r>
              <a:rPr lang="zh-CN" altLang="en-US" sz="2000">
                <a:ea typeface="宋体" panose="02010600030101010101" pitchFamily="2" charset="-122"/>
              </a:rPr>
              <a:t>保护</a:t>
            </a:r>
            <a:endParaRPr lang="zh-CN" altLang="en-US" sz="200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635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所有提示词概括</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2"/>
            </p:custDataLst>
          </p:nvPr>
        </p:nvSpPr>
        <p:spPr>
          <a:xfrm>
            <a:off x="773430" y="1270000"/>
            <a:ext cx="9980930" cy="719455"/>
          </a:xfrm>
          <a:prstGeom prst="roundRect">
            <a:avLst>
              <a:gd name="adj" fmla="val 0"/>
            </a:avLst>
          </a:prstGeom>
          <a:solidFill>
            <a:srgbClr val="F7FAFC">
              <a:alpha val="100000"/>
            </a:srgbClr>
          </a:solidFill>
          <a:ln w="12700" cap="flat" cmpd="sng">
            <a:solidFill>
              <a:srgbClr val="E2E8F0">
                <a:alpha val="100000"/>
              </a:srgbClr>
            </a:solidFill>
            <a:prstDash val="solid"/>
            <a:round/>
          </a:ln>
        </p:spPr>
        <p:txBody>
          <a:bodyPr vert="horz" wrap="square" lIns="63500" tIns="63500" rIns="63500" bIns="63500" rtlCol="0" anchor="t" anchorCtr="0"/>
          <a:lstStyle/>
          <a:p>
            <a:pPr algn="l">
              <a:defRPr/>
            </a:pPr>
            <a:r>
              <a:rPr lang="zh-CN" altLang="en-US" sz="2000">
                <a:solidFill>
                  <a:schemeClr val="tx1"/>
                </a:solidFill>
                <a:ea typeface="宋体" panose="02010600030101010101" pitchFamily="2" charset="-122"/>
              </a:rPr>
              <a:t>简单提示词数据分析总共进行了</a:t>
            </a:r>
            <a:r>
              <a:rPr lang="en-US" altLang="zh-CN" sz="2000" b="1">
                <a:solidFill>
                  <a:schemeClr val="tx1"/>
                </a:solidFill>
                <a:ea typeface="宋体" panose="02010600030101010101" pitchFamily="2" charset="-122"/>
              </a:rPr>
              <a:t>11</a:t>
            </a:r>
            <a:r>
              <a:rPr lang="zh-CN" altLang="en-US" sz="2000" b="1">
                <a:solidFill>
                  <a:schemeClr val="tx1"/>
                </a:solidFill>
                <a:ea typeface="宋体" panose="02010600030101010101" pitchFamily="2" charset="-122"/>
              </a:rPr>
              <a:t>轮</a:t>
            </a:r>
            <a:r>
              <a:rPr lang="zh-CN" altLang="en-US" sz="2000">
                <a:solidFill>
                  <a:schemeClr val="tx1"/>
                </a:solidFill>
                <a:ea typeface="宋体" panose="02010600030101010101" pitchFamily="2" charset="-122"/>
              </a:rPr>
              <a:t>左右，还不包括实验过程中中断思考重新</a:t>
            </a:r>
            <a:r>
              <a:rPr lang="en-US" altLang="zh-CN" sz="2000">
                <a:solidFill>
                  <a:schemeClr val="tx1"/>
                </a:solidFill>
                <a:ea typeface="宋体" panose="02010600030101010101" pitchFamily="2" charset="-122"/>
              </a:rPr>
              <a:t>prompt</a:t>
            </a:r>
            <a:r>
              <a:rPr lang="zh-CN" altLang="en-US" sz="2000">
                <a:solidFill>
                  <a:schemeClr val="tx1"/>
                </a:solidFill>
                <a:ea typeface="宋体" panose="02010600030101010101" pitchFamily="2" charset="-122"/>
              </a:rPr>
              <a:t>设计，网络延迟等问题花费的轮数。</a:t>
            </a:r>
            <a:endParaRPr lang="zh-CN" altLang="en-US" sz="2000">
              <a:solidFill>
                <a:schemeClr val="tx1"/>
              </a:solidFill>
              <a:ea typeface="宋体" panose="02010600030101010101" pitchFamily="2" charset="-122"/>
            </a:endParaRPr>
          </a:p>
        </p:txBody>
      </p:sp>
      <p:pic>
        <p:nvPicPr>
          <p:cNvPr id="8" name="图片 7"/>
          <p:cNvPicPr>
            <a:picLocks noChangeAspect="1"/>
          </p:cNvPicPr>
          <p:nvPr/>
        </p:nvPicPr>
        <p:blipFill>
          <a:blip r:embed="rId3"/>
          <a:stretch>
            <a:fillRect/>
          </a:stretch>
        </p:blipFill>
        <p:spPr>
          <a:xfrm>
            <a:off x="762000" y="2243455"/>
            <a:ext cx="9977755" cy="40881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635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生成的所有文件</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aphicFrame>
        <p:nvGraphicFramePr>
          <p:cNvPr id="2" name="表格 1"/>
          <p:cNvGraphicFramePr/>
          <p:nvPr/>
        </p:nvGraphicFramePr>
        <p:xfrm>
          <a:off x="969645" y="1293080"/>
          <a:ext cx="10252710" cy="4866640"/>
        </p:xfrm>
        <a:graphic>
          <a:graphicData uri="http://schemas.openxmlformats.org/drawingml/2006/table">
            <a:tbl>
              <a:tblPr firstRow="1" bandRow="1">
                <a:tableStyleId>{8FA58086-B989-4382-9B62-BB65C63BEDED}</a:tableStyleId>
              </a:tblPr>
              <a:tblGrid>
                <a:gridCol w="1957705"/>
                <a:gridCol w="1574165"/>
                <a:gridCol w="6720840"/>
              </a:tblGrid>
              <a:tr h="843280">
                <a:tc>
                  <a:txBody>
                    <a:bodyPr/>
                    <a:p>
                      <a:pPr algn="ctr">
                        <a:lnSpc>
                          <a:spcPct val="120000"/>
                        </a:lnSpc>
                      </a:pPr>
                      <a:r>
                        <a:rPr lang="zh-CN" altLang="en-US" sz="2000" spc="130"/>
                        <a:t>类别</a:t>
                      </a:r>
                      <a:endParaRPr lang="zh-CN" altLang="en-US" sz="2000" spc="130"/>
                    </a:p>
                  </a:txBody>
                  <a:tcPr marL="317500" marR="317500" marT="215900" marB="215900" anchor="ctr" anchorCtr="0"/>
                </a:tc>
                <a:tc>
                  <a:txBody>
                    <a:bodyPr/>
                    <a:p>
                      <a:pPr algn="ctr">
                        <a:lnSpc>
                          <a:spcPct val="120000"/>
                        </a:lnSpc>
                      </a:pPr>
                      <a:r>
                        <a:rPr lang="zh-CN" altLang="en-US" sz="2000" spc="130"/>
                        <a:t>文件数</a:t>
                      </a:r>
                      <a:endParaRPr lang="zh-CN" altLang="en-US" sz="2000" spc="130"/>
                    </a:p>
                  </a:txBody>
                  <a:tcPr marL="317500" marR="317500" marT="215900" marB="215900" anchor="ctr" anchorCtr="0"/>
                </a:tc>
                <a:tc>
                  <a:txBody>
                    <a:bodyPr/>
                    <a:p>
                      <a:pPr algn="ctr">
                        <a:lnSpc>
                          <a:spcPct val="120000"/>
                        </a:lnSpc>
                      </a:pPr>
                      <a:r>
                        <a:rPr lang="zh-CN" altLang="en-US" sz="2000" spc="130"/>
                        <a:t>说明</a:t>
                      </a:r>
                      <a:endParaRPr lang="zh-CN" altLang="en-US" sz="2000" spc="130"/>
                    </a:p>
                  </a:txBody>
                  <a:tcPr marL="317500" marR="317500" marT="215900" marB="215900" anchor="ctr" anchorCtr="0"/>
                </a:tc>
              </a:tr>
              <a:tr h="805180">
                <a:tc>
                  <a:txBody>
                    <a:bodyPr/>
                    <a:p>
                      <a:pPr algn="ctr">
                        <a:lnSpc>
                          <a:spcPct val="120000"/>
                        </a:lnSpc>
                      </a:pPr>
                      <a:r>
                        <a:rPr lang="en-US" altLang="zh-CN" sz="2000"/>
                        <a:t>Python</a:t>
                      </a:r>
                      <a:r>
                        <a:rPr lang="zh-CN" altLang="en-US" sz="2000"/>
                        <a:t>脚本</a:t>
                      </a:r>
                      <a:endParaRPr lang="zh-CN" altLang="en-US" sz="2000"/>
                    </a:p>
                  </a:txBody>
                  <a:tcPr marL="317500" marR="317500" marT="215900" marB="215900" anchor="ctr" anchorCtr="0"/>
                </a:tc>
                <a:tc>
                  <a:txBody>
                    <a:bodyPr/>
                    <a:p>
                      <a:pPr algn="ctr">
                        <a:lnSpc>
                          <a:spcPct val="120000"/>
                        </a:lnSpc>
                      </a:pPr>
                      <a:r>
                        <a:rPr lang="en-US" altLang="zh-CN" sz="2000"/>
                        <a:t>5</a:t>
                      </a:r>
                      <a:r>
                        <a:rPr lang="zh-CN" altLang="en-US" sz="2000"/>
                        <a:t>个</a:t>
                      </a:r>
                      <a:endParaRPr lang="zh-CN" altLang="en-US" sz="2000"/>
                    </a:p>
                  </a:txBody>
                  <a:tcPr marL="317500" marR="317500" marT="215900" marB="215900" anchor="ctr" anchorCtr="0"/>
                </a:tc>
                <a:tc>
                  <a:txBody>
                    <a:bodyPr/>
                    <a:p>
                      <a:pPr algn="ctr">
                        <a:lnSpc>
                          <a:spcPct val="120000"/>
                        </a:lnSpc>
                      </a:pPr>
                      <a:r>
                        <a:rPr lang="zh-CN" altLang="en-US" sz="2000"/>
                        <a:t>预处理 </a:t>
                      </a:r>
                      <a:r>
                        <a:rPr lang="en-US" altLang="zh-CN" sz="2000"/>
                        <a:t>+ </a:t>
                      </a:r>
                      <a:r>
                        <a:rPr lang="zh-CN" altLang="en-US" sz="2000"/>
                        <a:t>问题一</a:t>
                      </a:r>
                      <a:r>
                        <a:rPr lang="en-US" altLang="zh-CN" sz="2000"/>
                        <a:t>~</a:t>
                      </a:r>
                      <a:r>
                        <a:rPr lang="zh-CN" altLang="en-US" sz="2000"/>
                        <a:t>四</a:t>
                      </a:r>
                      <a:endParaRPr lang="zh-CN" altLang="en-US" sz="2000"/>
                    </a:p>
                  </a:txBody>
                  <a:tcPr marL="317500" marR="317500" marT="215900" marB="215900" anchor="ctr" anchorCtr="0"/>
                </a:tc>
              </a:tr>
              <a:tr h="804545">
                <a:tc>
                  <a:txBody>
                    <a:bodyPr/>
                    <a:p>
                      <a:pPr algn="ctr">
                        <a:lnSpc>
                          <a:spcPct val="120000"/>
                        </a:lnSpc>
                      </a:pPr>
                      <a:r>
                        <a:rPr lang="en-US" altLang="zh-CN" sz="2000"/>
                        <a:t>CSV</a:t>
                      </a:r>
                      <a:r>
                        <a:rPr lang="zh-CN" altLang="en-US" sz="2000"/>
                        <a:t>数据</a:t>
                      </a:r>
                      <a:endParaRPr lang="zh-CN" altLang="en-US" sz="2000"/>
                    </a:p>
                  </a:txBody>
                  <a:tcPr marL="317500" marR="317500" marT="215900" marB="215900" anchor="ctr" anchorCtr="0"/>
                </a:tc>
                <a:tc>
                  <a:txBody>
                    <a:bodyPr/>
                    <a:p>
                      <a:pPr algn="ctr">
                        <a:lnSpc>
                          <a:spcPct val="120000"/>
                        </a:lnSpc>
                      </a:pPr>
                      <a:r>
                        <a:rPr lang="en-US" altLang="zh-CN" sz="2000"/>
                        <a:t>2</a:t>
                      </a:r>
                      <a:r>
                        <a:rPr lang="zh-CN" altLang="en-US" sz="2000"/>
                        <a:t>个</a:t>
                      </a:r>
                      <a:endParaRPr lang="zh-CN" altLang="en-US" sz="2000"/>
                    </a:p>
                  </a:txBody>
                  <a:tcPr marL="317500" marR="317500" marT="215900" marB="215900" anchor="ctr" anchorCtr="0"/>
                </a:tc>
                <a:tc>
                  <a:txBody>
                    <a:bodyPr/>
                    <a:p>
                      <a:pPr algn="ctr">
                        <a:lnSpc>
                          <a:spcPct val="120000"/>
                        </a:lnSpc>
                      </a:pPr>
                      <a:r>
                        <a:rPr lang="zh-CN" altLang="en-US" sz="2000"/>
                        <a:t>清洗后训练集</a:t>
                      </a:r>
                      <a:r>
                        <a:rPr lang="en-US" altLang="zh-CN" sz="2000"/>
                        <a:t>(4980</a:t>
                      </a:r>
                      <a:r>
                        <a:rPr lang="zh-CN" altLang="en-US" sz="2000"/>
                        <a:t>行</a:t>
                      </a:r>
                      <a:r>
                        <a:rPr lang="en-US" altLang="zh-CN" sz="2000"/>
                        <a:t>) + </a:t>
                      </a:r>
                      <a:r>
                        <a:rPr lang="zh-CN" altLang="en-US" sz="2000"/>
                        <a:t>预测集</a:t>
                      </a:r>
                      <a:r>
                        <a:rPr lang="en-US" altLang="zh-CN" sz="2000"/>
                        <a:t>(20</a:t>
                      </a:r>
                      <a:r>
                        <a:rPr lang="zh-CN" altLang="en-US" sz="2000"/>
                        <a:t>行</a:t>
                      </a:r>
                      <a:r>
                        <a:rPr lang="en-US" altLang="zh-CN" sz="2000"/>
                        <a:t>)</a:t>
                      </a:r>
                      <a:endParaRPr lang="en-US" altLang="zh-CN" sz="2000"/>
                    </a:p>
                  </a:txBody>
                  <a:tcPr marL="317500" marR="317500" marT="215900" marB="215900" anchor="ctr" anchorCtr="0"/>
                </a:tc>
              </a:tr>
              <a:tr h="804545">
                <a:tc>
                  <a:txBody>
                    <a:bodyPr/>
                    <a:p>
                      <a:pPr algn="ctr">
                        <a:lnSpc>
                          <a:spcPct val="120000"/>
                        </a:lnSpc>
                      </a:pPr>
                      <a:r>
                        <a:rPr lang="en-US" altLang="zh-CN" sz="2000"/>
                        <a:t>PNG</a:t>
                      </a:r>
                      <a:r>
                        <a:rPr lang="zh-CN" altLang="en-US" sz="2000"/>
                        <a:t>图表</a:t>
                      </a:r>
                      <a:endParaRPr lang="zh-CN" altLang="en-US" sz="2000"/>
                    </a:p>
                  </a:txBody>
                  <a:tcPr marL="317500" marR="317500" marT="215900" marB="215900" anchor="ctr" anchorCtr="0"/>
                </a:tc>
                <a:tc>
                  <a:txBody>
                    <a:bodyPr/>
                    <a:p>
                      <a:pPr algn="ctr">
                        <a:lnSpc>
                          <a:spcPct val="120000"/>
                        </a:lnSpc>
                      </a:pPr>
                      <a:r>
                        <a:rPr lang="en-US" altLang="zh-CN" sz="2000"/>
                        <a:t>15</a:t>
                      </a:r>
                      <a:r>
                        <a:rPr lang="zh-CN" altLang="en-US" sz="2000"/>
                        <a:t>张</a:t>
                      </a:r>
                      <a:endParaRPr lang="zh-CN" altLang="en-US" sz="2000"/>
                    </a:p>
                  </a:txBody>
                  <a:tcPr marL="317500" marR="317500" marT="215900" marB="215900" anchor="ctr" anchorCtr="0"/>
                </a:tc>
                <a:tc>
                  <a:txBody>
                    <a:bodyPr/>
                    <a:p>
                      <a:pPr algn="ctr">
                        <a:lnSpc>
                          <a:spcPct val="120000"/>
                        </a:lnSpc>
                      </a:pPr>
                      <a:r>
                        <a:rPr lang="zh-CN" altLang="en-US" sz="2000"/>
                        <a:t>问题一</a:t>
                      </a:r>
                      <a:r>
                        <a:rPr lang="en-US" altLang="zh-CN" sz="2000"/>
                        <a:t>(9</a:t>
                      </a:r>
                      <a:r>
                        <a:rPr lang="zh-CN" altLang="en-US" sz="2000"/>
                        <a:t>张</a:t>
                      </a:r>
                      <a:r>
                        <a:rPr lang="en-US" altLang="zh-CN" sz="2000"/>
                        <a:t>) + </a:t>
                      </a:r>
                      <a:r>
                        <a:rPr lang="zh-CN" altLang="en-US" sz="2000"/>
                        <a:t>问题二</a:t>
                      </a:r>
                      <a:r>
                        <a:rPr lang="en-US" altLang="zh-CN" sz="2000"/>
                        <a:t>(3</a:t>
                      </a:r>
                      <a:r>
                        <a:rPr lang="zh-CN" altLang="en-US" sz="2000"/>
                        <a:t>张</a:t>
                      </a:r>
                      <a:r>
                        <a:rPr lang="en-US" altLang="zh-CN" sz="2000"/>
                        <a:t>) + </a:t>
                      </a:r>
                      <a:r>
                        <a:rPr lang="zh-CN" altLang="en-US" sz="2000"/>
                        <a:t>问题三</a:t>
                      </a:r>
                      <a:r>
                        <a:rPr lang="en-US" altLang="zh-CN" sz="2000"/>
                        <a:t>(2</a:t>
                      </a:r>
                      <a:r>
                        <a:rPr lang="zh-CN" altLang="en-US" sz="2000"/>
                        <a:t>张</a:t>
                      </a:r>
                      <a:r>
                        <a:rPr lang="en-US" altLang="zh-CN" sz="2000"/>
                        <a:t>) + </a:t>
                      </a:r>
                      <a:r>
                        <a:rPr lang="zh-CN" altLang="en-US" sz="2000"/>
                        <a:t>问题四</a:t>
                      </a:r>
                      <a:r>
                        <a:rPr lang="en-US" altLang="zh-CN" sz="2000"/>
                        <a:t>(1</a:t>
                      </a:r>
                      <a:r>
                        <a:rPr lang="zh-CN" altLang="en-US" sz="2000"/>
                        <a:t>张</a:t>
                      </a:r>
                      <a:r>
                        <a:rPr lang="en-US" altLang="zh-CN" sz="2000"/>
                        <a:t>)</a:t>
                      </a:r>
                      <a:endParaRPr lang="en-US" altLang="zh-CN" sz="2000"/>
                    </a:p>
                  </a:txBody>
                  <a:tcPr marL="317500" marR="317500" marT="215900" marB="215900" anchor="ctr" anchorCtr="0"/>
                </a:tc>
              </a:tr>
              <a:tr h="804545">
                <a:tc>
                  <a:txBody>
                    <a:bodyPr/>
                    <a:p>
                      <a:pPr algn="ctr">
                        <a:lnSpc>
                          <a:spcPct val="120000"/>
                        </a:lnSpc>
                      </a:pPr>
                      <a:r>
                        <a:rPr lang="en-US" altLang="zh-CN" sz="2000"/>
                        <a:t>LaTeX</a:t>
                      </a:r>
                      <a:r>
                        <a:rPr lang="zh-CN" altLang="en-US" sz="2000"/>
                        <a:t>报告</a:t>
                      </a:r>
                      <a:endParaRPr lang="zh-CN" altLang="en-US" sz="2000"/>
                    </a:p>
                  </a:txBody>
                  <a:tcPr marL="317500" marR="317500" marT="215900" marB="215900" anchor="ctr" anchorCtr="0"/>
                </a:tc>
                <a:tc>
                  <a:txBody>
                    <a:bodyPr/>
                    <a:p>
                      <a:pPr algn="ctr">
                        <a:lnSpc>
                          <a:spcPct val="120000"/>
                        </a:lnSpc>
                      </a:pPr>
                      <a:r>
                        <a:rPr lang="en-US" altLang="zh-CN" sz="2000"/>
                        <a:t>1</a:t>
                      </a:r>
                      <a:r>
                        <a:rPr lang="zh-CN" altLang="en-US" sz="2000"/>
                        <a:t>份</a:t>
                      </a:r>
                      <a:endParaRPr lang="zh-CN" altLang="en-US" sz="2000"/>
                    </a:p>
                  </a:txBody>
                  <a:tcPr marL="317500" marR="317500" marT="215900" marB="215900" anchor="ctr" anchorCtr="0"/>
                </a:tc>
                <a:tc>
                  <a:txBody>
                    <a:bodyPr/>
                    <a:p>
                      <a:pPr algn="ctr">
                        <a:lnSpc>
                          <a:spcPct val="120000"/>
                        </a:lnSpc>
                      </a:pPr>
                      <a:r>
                        <a:rPr lang="en-US" altLang="zh-CN" sz="2000"/>
                        <a:t>30</a:t>
                      </a:r>
                      <a:r>
                        <a:rPr lang="zh-CN" altLang="en-US" sz="2000"/>
                        <a:t>页编译后</a:t>
                      </a:r>
                      <a:r>
                        <a:rPr lang="en-US" altLang="zh-CN" sz="2000"/>
                        <a:t>PDF</a:t>
                      </a:r>
                      <a:endParaRPr lang="en-US" altLang="zh-CN" sz="2000"/>
                    </a:p>
                  </a:txBody>
                  <a:tcPr marL="317500" marR="317500" marT="215900" marB="215900" anchor="ctr" anchorCtr="0"/>
                </a:tc>
              </a:tr>
              <a:tr h="804545">
                <a:tc>
                  <a:txBody>
                    <a:bodyPr/>
                    <a:p>
                      <a:pPr algn="ctr">
                        <a:lnSpc>
                          <a:spcPct val="120000"/>
                        </a:lnSpc>
                      </a:pPr>
                      <a:r>
                        <a:rPr lang="en-US" altLang="zh-CN" sz="2000"/>
                        <a:t>MD</a:t>
                      </a:r>
                      <a:r>
                        <a:rPr lang="zh-CN" altLang="en-US" sz="2000"/>
                        <a:t>文档</a:t>
                      </a:r>
                      <a:endParaRPr lang="zh-CN" altLang="en-US" sz="2000"/>
                    </a:p>
                  </a:txBody>
                  <a:tcPr marL="317500" marR="317500" marT="215900" marB="215900" anchor="ctr" anchorCtr="0"/>
                </a:tc>
                <a:tc>
                  <a:txBody>
                    <a:bodyPr/>
                    <a:p>
                      <a:pPr algn="ctr">
                        <a:lnSpc>
                          <a:spcPct val="120000"/>
                        </a:lnSpc>
                      </a:pPr>
                      <a:r>
                        <a:rPr lang="en-US" altLang="zh-CN" sz="2000"/>
                        <a:t>2</a:t>
                      </a:r>
                      <a:r>
                        <a:rPr lang="zh-CN" altLang="en-US" sz="2000"/>
                        <a:t>份</a:t>
                      </a:r>
                      <a:endParaRPr lang="zh-CN" altLang="en-US" sz="2000"/>
                    </a:p>
                  </a:txBody>
                  <a:tcPr marL="317500" marR="317500" marT="215900" marB="215900" anchor="ctr" anchorCtr="0"/>
                </a:tc>
                <a:tc>
                  <a:txBody>
                    <a:bodyPr/>
                    <a:p>
                      <a:pPr algn="ctr">
                        <a:lnSpc>
                          <a:spcPct val="120000"/>
                        </a:lnSpc>
                      </a:pPr>
                      <a:r>
                        <a:rPr lang="zh-CN" altLang="en-US" sz="2000"/>
                        <a:t>数据探索报告 </a:t>
                      </a:r>
                      <a:r>
                        <a:rPr lang="en-US" altLang="zh-CN" sz="2000"/>
                        <a:t>+ </a:t>
                      </a:r>
                      <a:r>
                        <a:rPr lang="zh-CN" altLang="en-US" sz="2000"/>
                        <a:t>本文档</a:t>
                      </a:r>
                      <a:endParaRPr lang="zh-CN" altLang="en-US" sz="2000"/>
                    </a:p>
                  </a:txBody>
                  <a:tcPr marL="317500" marR="317500" marT="215900" marB="215900" anchor="ctr" anchorCtr="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498792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目录结构和部分可视化结果</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8" name="组合 7"/>
          <p:cNvGrpSpPr/>
          <p:nvPr/>
        </p:nvGrpSpPr>
        <p:grpSpPr>
          <a:xfrm>
            <a:off x="383540" y="1153795"/>
            <a:ext cx="3775710" cy="4244975"/>
            <a:chOff x="1082" y="1817"/>
            <a:chExt cx="5946" cy="7642"/>
          </a:xfrm>
        </p:grpSpPr>
        <p:sp>
          <p:nvSpPr>
            <p:cNvPr id="5" name="矩形 4"/>
            <p:cNvSpPr/>
            <p:nvPr/>
          </p:nvSpPr>
          <p:spPr>
            <a:xfrm>
              <a:off x="1082" y="1817"/>
              <a:ext cx="5947" cy="7642"/>
            </a:xfrm>
            <a:prstGeom prst="rect">
              <a:avLst/>
            </a:prstGeom>
            <a:solidFill>
              <a:schemeClr val="tx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200" y="1856"/>
              <a:ext cx="5579" cy="7321"/>
            </a:xfrm>
            <a:prstGeom prst="rect">
              <a:avLst/>
            </a:prstGeom>
            <a:noFill/>
          </p:spPr>
          <p:txBody>
            <a:bodyPr wrap="square" rtlCol="0" anchor="t">
              <a:noAutofit/>
            </a:bodyPr>
            <a:p>
              <a:r>
                <a:rPr lang="en-US" altLang="zh-CN"/>
                <a:t>prompt</a:t>
              </a:r>
              <a:r>
                <a:rPr lang="zh-CN" altLang="en-US"/>
                <a:t>版本/</a:t>
              </a:r>
              <a:endParaRPr lang="zh-CN" altLang="en-US"/>
            </a:p>
            <a:p>
              <a:r>
                <a:rPr lang="zh-CN" altLang="en-US"/>
                <a:t>├── 数据预处理/</a:t>
              </a:r>
              <a:endParaRPr lang="zh-CN" altLang="en-US"/>
            </a:p>
            <a:p>
              <a:r>
                <a:rPr lang="en-US" altLang="zh-CN"/>
                <a:t>│   ├── 01_data_preprocessing.py</a:t>
              </a:r>
              <a:endParaRPr lang="en-US" altLang="zh-CN"/>
            </a:p>
            <a:p>
              <a:r>
                <a:rPr lang="zh-CN" altLang="en-US"/>
                <a:t>│   ├── 数据探索与预处理报告.</a:t>
              </a:r>
              <a:r>
                <a:rPr lang="en-US" altLang="zh-CN"/>
                <a:t>md</a:t>
              </a:r>
              <a:endParaRPr lang="en-US" altLang="zh-CN"/>
            </a:p>
            <a:p>
              <a:r>
                <a:rPr lang="en-US" altLang="zh-CN"/>
                <a:t>│   ├── predict_clean.csv</a:t>
              </a:r>
              <a:endParaRPr lang="en-US" altLang="zh-CN"/>
            </a:p>
            <a:p>
              <a:r>
                <a:rPr lang="en-US" altLang="zh-CN"/>
                <a:t>│   └── train_clean.csv</a:t>
              </a:r>
              <a:endParaRPr lang="en-US" altLang="zh-CN"/>
            </a:p>
            <a:p>
              <a:r>
                <a:rPr lang="zh-CN" altLang="en-US"/>
                <a:t>├── 问题一/</a:t>
              </a:r>
              <a:endParaRPr lang="zh-CN" altLang="en-US"/>
            </a:p>
            <a:p>
              <a:r>
                <a:rPr lang="en-US" altLang="zh-CN"/>
                <a:t>│   ├── 02_problem1_analysis.py</a:t>
              </a:r>
              <a:endParaRPr lang="en-US" altLang="zh-CN"/>
            </a:p>
            <a:p>
              <a:r>
                <a:rPr lang="en-US" altLang="zh-CN"/>
                <a:t>│   └── charts/</a:t>
              </a:r>
              <a:r>
                <a:rPr lang="zh-CN" altLang="en-US">
                  <a:ea typeface="宋体" panose="02010600030101010101" pitchFamily="2" charset="-122"/>
                </a:rPr>
                <a:t>（结果图片）</a:t>
              </a:r>
              <a:endParaRPr lang="en-US" altLang="zh-CN"/>
            </a:p>
            <a:p>
              <a:r>
                <a:rPr lang="zh-CN" altLang="en-US"/>
                <a:t>├── 问题二/</a:t>
              </a:r>
              <a:endParaRPr lang="zh-CN" altLang="en-US"/>
            </a:p>
            <a:p>
              <a:r>
                <a:rPr lang="en-US" altLang="zh-CN"/>
                <a:t>│   ├── 03_problem2_prediction.py</a:t>
              </a:r>
              <a:endParaRPr lang="en-US" altLang="zh-CN"/>
            </a:p>
            <a:p>
              <a:r>
                <a:rPr lang="en-US" altLang="zh-CN"/>
                <a:t>│   └── charts/</a:t>
              </a:r>
              <a:r>
                <a:rPr lang="zh-CN" altLang="en-US">
                  <a:ea typeface="宋体" panose="02010600030101010101" pitchFamily="2" charset="-122"/>
                  <a:sym typeface="+mn-ea"/>
                </a:rPr>
                <a:t>（结果图片）</a:t>
              </a:r>
              <a:endParaRPr lang="en-US" altLang="zh-CN"/>
            </a:p>
            <a:p>
              <a:r>
                <a:rPr lang="zh-CN" altLang="en-US"/>
                <a:t>├── 问题三/</a:t>
              </a:r>
              <a:endParaRPr lang="zh-CN" altLang="en-US"/>
            </a:p>
            <a:p>
              <a:r>
                <a:rPr lang="en-US" altLang="zh-CN"/>
                <a:t>│   ├── 04_problem3_optimization.py</a:t>
              </a:r>
              <a:endParaRPr lang="en-US" altLang="zh-CN"/>
            </a:p>
            <a:p>
              <a:r>
                <a:rPr lang="en-US" altLang="zh-CN"/>
                <a:t>│   └── charts/</a:t>
              </a:r>
              <a:r>
                <a:rPr lang="zh-CN" altLang="en-US">
                  <a:ea typeface="宋体" panose="02010600030101010101" pitchFamily="2" charset="-122"/>
                  <a:sym typeface="+mn-ea"/>
                </a:rPr>
                <a:t>（结果图片）</a:t>
              </a:r>
              <a:endParaRPr lang="en-US" altLang="zh-CN"/>
            </a:p>
            <a:p>
              <a:r>
                <a:rPr lang="zh-CN" altLang="en-US"/>
                <a:t>├── 问题四/</a:t>
              </a:r>
              <a:endParaRPr lang="zh-CN" altLang="en-US"/>
            </a:p>
            <a:p>
              <a:r>
                <a:rPr lang="en-US" altLang="zh-CN"/>
                <a:t>│   ├── 05_problem4_matching.py</a:t>
              </a:r>
              <a:endParaRPr lang="en-US" altLang="zh-CN"/>
            </a:p>
            <a:p>
              <a:r>
                <a:rPr lang="en-US" altLang="zh-CN"/>
                <a:t>│   └── charts/</a:t>
              </a:r>
              <a:r>
                <a:rPr lang="zh-CN" altLang="en-US">
                  <a:ea typeface="宋体" panose="02010600030101010101" pitchFamily="2" charset="-122"/>
                  <a:sym typeface="+mn-ea"/>
                </a:rPr>
                <a:t>（结果图片）</a:t>
              </a:r>
              <a:endParaRPr lang="en-US" altLang="zh-CN"/>
            </a:p>
            <a:p>
              <a:r>
                <a:rPr lang="en-US" altLang="zh-CN"/>
                <a:t>├── Agent</a:t>
              </a:r>
              <a:r>
                <a:rPr lang="zh-CN" altLang="en-US"/>
                <a:t>与</a:t>
              </a:r>
              <a:r>
                <a:rPr lang="en-US" altLang="zh-CN"/>
                <a:t>Skill</a:t>
              </a:r>
              <a:r>
                <a:rPr lang="zh-CN" altLang="en-US"/>
                <a:t>使用过程记录.</a:t>
              </a:r>
              <a:r>
                <a:rPr lang="en-US" altLang="zh-CN"/>
                <a:t>md</a:t>
              </a:r>
              <a:endParaRPr lang="zh-CN" altLang="en-US"/>
            </a:p>
          </p:txBody>
        </p:sp>
      </p:grpSp>
      <p:pic>
        <p:nvPicPr>
          <p:cNvPr id="6" name="图片 5" descr="04_education_analysis"/>
          <p:cNvPicPr>
            <a:picLocks noChangeAspect="1"/>
          </p:cNvPicPr>
          <p:nvPr/>
        </p:nvPicPr>
        <p:blipFill>
          <a:blip r:embed="rId2"/>
          <a:stretch>
            <a:fillRect/>
          </a:stretch>
        </p:blipFill>
        <p:spPr>
          <a:xfrm>
            <a:off x="7367270" y="1536700"/>
            <a:ext cx="4725035" cy="1945640"/>
          </a:xfrm>
          <a:prstGeom prst="rect">
            <a:avLst/>
          </a:prstGeom>
        </p:spPr>
      </p:pic>
      <p:pic>
        <p:nvPicPr>
          <p:cNvPr id="7" name="图片 6" descr="07_correlation_heatmap"/>
          <p:cNvPicPr>
            <a:picLocks noChangeAspect="1"/>
          </p:cNvPicPr>
          <p:nvPr/>
        </p:nvPicPr>
        <p:blipFill>
          <a:blip r:embed="rId3"/>
          <a:stretch>
            <a:fillRect/>
          </a:stretch>
        </p:blipFill>
        <p:spPr>
          <a:xfrm>
            <a:off x="4377055" y="1153795"/>
            <a:ext cx="2773045" cy="2526030"/>
          </a:xfrm>
          <a:prstGeom prst="rect">
            <a:avLst/>
          </a:prstGeom>
        </p:spPr>
      </p:pic>
      <p:pic>
        <p:nvPicPr>
          <p:cNvPr id="9" name="图片 8" descr="01_employment_overview"/>
          <p:cNvPicPr>
            <a:picLocks noChangeAspect="1"/>
          </p:cNvPicPr>
          <p:nvPr/>
        </p:nvPicPr>
        <p:blipFill>
          <a:blip r:embed="rId4"/>
          <a:stretch>
            <a:fillRect/>
          </a:stretch>
        </p:blipFill>
        <p:spPr>
          <a:xfrm>
            <a:off x="4377055" y="4208145"/>
            <a:ext cx="4700905" cy="2052955"/>
          </a:xfrm>
          <a:prstGeom prst="rect">
            <a:avLst/>
          </a:prstGeom>
        </p:spPr>
      </p:pic>
      <p:pic>
        <p:nvPicPr>
          <p:cNvPr id="10" name="图片 9" descr="14_macro_trends"/>
          <p:cNvPicPr>
            <a:picLocks noChangeAspect="1"/>
          </p:cNvPicPr>
          <p:nvPr/>
        </p:nvPicPr>
        <p:blipFill>
          <a:blip r:embed="rId5"/>
          <a:srcRect r="49906"/>
          <a:stretch>
            <a:fillRect/>
          </a:stretch>
        </p:blipFill>
        <p:spPr>
          <a:xfrm>
            <a:off x="9453880" y="3830320"/>
            <a:ext cx="2378075" cy="2430780"/>
          </a:xfrm>
          <a:prstGeom prst="rect">
            <a:avLst/>
          </a:prstGeom>
        </p:spPr>
      </p:pic>
      <p:sp>
        <p:nvSpPr>
          <p:cNvPr id="12" name="文本框 11"/>
          <p:cNvSpPr txBox="1"/>
          <p:nvPr/>
        </p:nvSpPr>
        <p:spPr>
          <a:xfrm>
            <a:off x="347345" y="5536565"/>
            <a:ext cx="3764915" cy="922020"/>
          </a:xfrm>
          <a:prstGeom prst="rect">
            <a:avLst/>
          </a:prstGeom>
          <a:noFill/>
        </p:spPr>
        <p:txBody>
          <a:bodyPr wrap="square" rtlCol="0">
            <a:spAutoFit/>
          </a:bodyPr>
          <a:p>
            <a:r>
              <a:rPr lang="zh-CN" altLang="en-US" sz="1800"/>
              <a:t>可以看出在十几轮的提示词下，</a:t>
            </a:r>
            <a:r>
              <a:rPr lang="en-US" altLang="zh-CN" sz="1800"/>
              <a:t>Claude</a:t>
            </a:r>
            <a:r>
              <a:rPr lang="zh-CN" altLang="en-US" sz="1800">
                <a:ea typeface="宋体" panose="02010600030101010101" pitchFamily="2" charset="-122"/>
              </a:rPr>
              <a:t>处理数据分析的效果还是相当的可观</a:t>
            </a:r>
            <a:endParaRPr lang="zh-CN" altLang="en-US" sz="180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AutoShape 4"/>
          <p:cNvSpPr/>
          <p:nvPr/>
        </p:nvSpPr>
        <p:spPr>
          <a:xfrm>
            <a:off x="0" y="3048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板块三、基础</a:t>
            </a:r>
            <a:r>
              <a:rPr lang="en-US" altLang="zh-CN"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a:t>
            </a:r>
            <a:r>
              <a:rPr lang="zh-CN" alt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的技术报告生成</a:t>
            </a:r>
            <a:endParaRPr lang="zh-CN" alt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317500"/>
            <a:ext cx="635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为什么要做技术报告的</a:t>
            </a:r>
            <a:r>
              <a:rPr lang="zh-CN" altLang="en-US" sz="3200" b="1">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a:t>
            </a:r>
            <a:endPar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13"/>
          <p:cNvSpPr/>
          <p:nvPr>
            <p:custDataLst>
              <p:tags r:id="rId2"/>
            </p:custDataLst>
          </p:nvPr>
        </p:nvSpPr>
        <p:spPr>
          <a:xfrm>
            <a:off x="762000" y="1016000"/>
            <a:ext cx="10511155" cy="5313045"/>
          </a:xfrm>
          <a:prstGeom prst="roundRect">
            <a:avLst>
              <a:gd name="adj" fmla="val 0"/>
            </a:avLst>
          </a:prstGeom>
          <a:solidFill>
            <a:srgbClr val="F7FAFC">
              <a:alpha val="100000"/>
            </a:srgbClr>
          </a:solidFill>
          <a:ln w="12700" cap="flat" cmpd="sng">
            <a:solidFill>
              <a:srgbClr val="E2E8F0">
                <a:alpha val="100000"/>
              </a:srgbClr>
            </a:solidFill>
            <a:prstDash val="solid"/>
            <a:round/>
          </a:ln>
        </p:spPr>
        <p:txBody>
          <a:bodyPr vert="horz" wrap="square" lIns="63500" tIns="63500" rIns="63500" bIns="63500" rtlCol="0" anchor="t" anchorCtr="0"/>
          <a:lstStyle/>
          <a:p>
            <a:pPr algn="l">
              <a:defRPr/>
            </a:pPr>
            <a:r>
              <a:rPr lang="zh-CN" altLang="en-US" sz="1800" b="1">
                <a:ea typeface="宋体" panose="02010600030101010101" pitchFamily="2" charset="-122"/>
              </a:rPr>
              <a:t>1. 避免重复造轮子</a:t>
            </a:r>
            <a:endParaRPr lang="zh-CN" altLang="en-US" sz="1800" b="1">
              <a:ea typeface="宋体" panose="02010600030101010101" pitchFamily="2" charset="-122"/>
            </a:endParaRPr>
          </a:p>
          <a:p>
            <a:pPr algn="l">
              <a:defRPr/>
            </a:pPr>
            <a:r>
              <a:rPr lang="zh-CN" altLang="en-US" sz="1800">
                <a:ea typeface="宋体" panose="02010600030101010101" pitchFamily="2" charset="-122"/>
              </a:rPr>
              <a:t>每次从头写提示、复制粘贴模板、调整格式，耗时且不稳定。</a:t>
            </a:r>
            <a:r>
              <a:rPr lang="en-US" altLang="zh-CN" sz="1800">
                <a:ea typeface="宋体" panose="02010600030101010101" pitchFamily="2" charset="-122"/>
              </a:rPr>
              <a:t>Skill </a:t>
            </a:r>
            <a:r>
              <a:rPr lang="zh-CN" altLang="en-US" sz="1800">
                <a:ea typeface="宋体" panose="02010600030101010101" pitchFamily="2" charset="-122"/>
              </a:rPr>
              <a:t>把这些流程固化为一条指令，下次生成同类报告时，一句话调用即可，效率提升显著。</a:t>
            </a:r>
            <a:endParaRPr lang="zh-CN" altLang="en-US" sz="1800">
              <a:ea typeface="宋体" panose="02010600030101010101" pitchFamily="2" charset="-122"/>
            </a:endParaRPr>
          </a:p>
          <a:p>
            <a:pPr algn="l">
              <a:defRPr/>
            </a:pPr>
            <a:endParaRPr lang="en-US" altLang="zh-CN" sz="1800">
              <a:ea typeface="宋体" panose="02010600030101010101" pitchFamily="2" charset="-122"/>
            </a:endParaRPr>
          </a:p>
          <a:p>
            <a:pPr algn="l">
              <a:defRPr/>
            </a:pPr>
            <a:r>
              <a:rPr lang="zh-CN" altLang="en-US" sz="1800" b="1">
                <a:ea typeface="宋体" panose="02010600030101010101" pitchFamily="2" charset="-122"/>
              </a:rPr>
              <a:t>2. 保证输出质量与格式统一</a:t>
            </a:r>
            <a:endParaRPr lang="zh-CN" altLang="en-US" sz="1800" b="1">
              <a:ea typeface="宋体" panose="02010600030101010101" pitchFamily="2" charset="-122"/>
            </a:endParaRPr>
          </a:p>
          <a:p>
            <a:pPr algn="l">
              <a:defRPr/>
            </a:pPr>
            <a:r>
              <a:rPr lang="zh-CN" altLang="en-US" sz="1800">
                <a:ea typeface="宋体" panose="02010600030101010101" pitchFamily="2" charset="-122"/>
              </a:rPr>
              <a:t>技术报告对结构、图表规范、术语准确性和可编译性要求极高。</a:t>
            </a:r>
            <a:r>
              <a:rPr lang="en-US" altLang="zh-CN" sz="1800">
                <a:ea typeface="宋体" panose="02010600030101010101" pitchFamily="2" charset="-122"/>
              </a:rPr>
              <a:t>Skill </a:t>
            </a:r>
            <a:r>
              <a:rPr lang="zh-CN" altLang="en-US" sz="1800">
                <a:ea typeface="宋体" panose="02010600030101010101" pitchFamily="2" charset="-122"/>
              </a:rPr>
              <a:t>内嵌了已验证的模板和规则，可以确保每次生成的报告都符合学术或工程标准，不会出现“上次能用、这次乱码”的问题。</a:t>
            </a:r>
            <a:endParaRPr lang="zh-CN" altLang="en-US" sz="1800">
              <a:ea typeface="宋体" panose="02010600030101010101" pitchFamily="2" charset="-122"/>
            </a:endParaRPr>
          </a:p>
          <a:p>
            <a:pPr algn="l">
              <a:defRPr/>
            </a:pPr>
            <a:endParaRPr lang="en-US" altLang="zh-CN" sz="1800">
              <a:ea typeface="宋体" panose="02010600030101010101" pitchFamily="2" charset="-122"/>
            </a:endParaRPr>
          </a:p>
          <a:p>
            <a:pPr algn="l">
              <a:defRPr/>
            </a:pPr>
            <a:r>
              <a:rPr lang="zh-CN" altLang="en-US" sz="1800" b="1">
                <a:ea typeface="宋体" panose="02010600030101010101" pitchFamily="2" charset="-122"/>
              </a:rPr>
              <a:t>3. 降低人工干预与纠错成本</a:t>
            </a:r>
            <a:endParaRPr lang="zh-CN" altLang="en-US" sz="1800" b="1">
              <a:ea typeface="宋体" panose="02010600030101010101" pitchFamily="2" charset="-122"/>
            </a:endParaRPr>
          </a:p>
          <a:p>
            <a:pPr algn="l">
              <a:defRPr/>
            </a:pPr>
            <a:r>
              <a:rPr lang="en-US" altLang="zh-CN" sz="1800">
                <a:ea typeface="宋体" panose="02010600030101010101" pitchFamily="2" charset="-122"/>
              </a:rPr>
              <a:t>LaTeX </a:t>
            </a:r>
            <a:r>
              <a:rPr lang="zh-CN" altLang="en-US" sz="1800">
                <a:ea typeface="宋体" panose="02010600030101010101" pitchFamily="2" charset="-122"/>
              </a:rPr>
              <a:t>报告经历了封面缺失、目录消失、字体报错、内容冗余等多轮修正。这些调试经验都被封装进 </a:t>
            </a:r>
            <a:r>
              <a:rPr lang="en-US" altLang="zh-CN" sz="1800">
                <a:ea typeface="宋体" panose="02010600030101010101" pitchFamily="2" charset="-122"/>
              </a:rPr>
              <a:t>Skill，</a:t>
            </a:r>
            <a:r>
              <a:rPr lang="zh-CN" altLang="en-US" sz="1800">
                <a:ea typeface="宋体" panose="02010600030101010101" pitchFamily="2" charset="-122"/>
              </a:rPr>
              <a:t>后续使用几乎零纠错，一键出稿。</a:t>
            </a:r>
            <a:endParaRPr lang="zh-CN" altLang="en-US" sz="1800">
              <a:ea typeface="宋体" panose="02010600030101010101" pitchFamily="2" charset="-122"/>
            </a:endParaRPr>
          </a:p>
          <a:p>
            <a:pPr algn="l">
              <a:defRPr/>
            </a:pPr>
            <a:endParaRPr lang="en-US" altLang="zh-CN" sz="1800">
              <a:ea typeface="宋体" panose="02010600030101010101" pitchFamily="2" charset="-122"/>
            </a:endParaRPr>
          </a:p>
          <a:p>
            <a:pPr algn="l">
              <a:defRPr/>
            </a:pPr>
            <a:r>
              <a:rPr lang="zh-CN" altLang="en-US" sz="1800" b="1">
                <a:ea typeface="宋体" panose="02010600030101010101" pitchFamily="2" charset="-122"/>
              </a:rPr>
              <a:t>4. 让非技术协作者也能生成规范报告</a:t>
            </a:r>
            <a:endParaRPr lang="zh-CN" altLang="en-US" sz="1800" b="1">
              <a:ea typeface="宋体" panose="02010600030101010101" pitchFamily="2" charset="-122"/>
            </a:endParaRPr>
          </a:p>
          <a:p>
            <a:pPr algn="l">
              <a:defRPr/>
            </a:pPr>
            <a:r>
              <a:rPr lang="zh-CN" altLang="en-US" sz="1800">
                <a:ea typeface="宋体" panose="02010600030101010101" pitchFamily="2" charset="-122"/>
              </a:rPr>
              <a:t>团队中不熟悉 </a:t>
            </a:r>
            <a:r>
              <a:rPr lang="en-US" altLang="zh-CN" sz="1800">
                <a:ea typeface="宋体" panose="02010600030101010101" pitchFamily="2" charset="-122"/>
              </a:rPr>
              <a:t>LaTeX </a:t>
            </a:r>
            <a:r>
              <a:rPr lang="zh-CN" altLang="en-US" sz="1800">
                <a:ea typeface="宋体" panose="02010600030101010101" pitchFamily="2" charset="-122"/>
              </a:rPr>
              <a:t>或数据分析细节的成员，只需提供数据和问题描述，由 </a:t>
            </a:r>
            <a:r>
              <a:rPr lang="en-US" altLang="zh-CN" sz="1800">
                <a:ea typeface="宋体" panose="02010600030101010101" pitchFamily="2" charset="-122"/>
              </a:rPr>
              <a:t>Skill </a:t>
            </a:r>
            <a:r>
              <a:rPr lang="zh-CN" altLang="en-US" sz="1800">
                <a:ea typeface="宋体" panose="02010600030101010101" pitchFamily="2" charset="-122"/>
              </a:rPr>
              <a:t>自动完成分析、可视化和排版，降低了专业门槛。</a:t>
            </a:r>
            <a:endParaRPr lang="en-US" altLang="zh-CN" sz="1800">
              <a:ea typeface="宋体" panose="02010600030101010101" pitchFamily="2" charset="-122"/>
            </a:endParaRPr>
          </a:p>
          <a:p>
            <a:pPr algn="l">
              <a:defRPr/>
            </a:pPr>
            <a:endParaRPr lang="zh-CN" altLang="en-US" sz="180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AutoShape 3"/>
          <p:cNvSpPr/>
          <p:nvPr/>
        </p:nvSpPr>
        <p:spPr>
          <a:xfrm>
            <a:off x="666750" y="259715"/>
            <a:ext cx="635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如何做一个</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a:t>
            </a:r>
            <a:endPar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13"/>
          <p:cNvSpPr/>
          <p:nvPr>
            <p:custDataLst>
              <p:tags r:id="rId2"/>
            </p:custDataLst>
          </p:nvPr>
        </p:nvSpPr>
        <p:spPr>
          <a:xfrm>
            <a:off x="666750" y="862965"/>
            <a:ext cx="10668000" cy="756285"/>
          </a:xfrm>
          <a:prstGeom prst="roundRect">
            <a:avLst>
              <a:gd name="adj" fmla="val 0"/>
            </a:avLst>
          </a:prstGeom>
          <a:solidFill>
            <a:srgbClr val="F7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l">
              <a:defRPr/>
            </a:pPr>
            <a:r>
              <a:rPr lang="zh-CN" altLang="en-US" sz="1800">
                <a:ea typeface="宋体" panose="02010600030101010101" pitchFamily="2" charset="-122"/>
              </a:rPr>
              <a:t>在我们这个实验下可以利用已有的</a:t>
            </a:r>
            <a:r>
              <a:rPr lang="zh-CN" altLang="en-US" sz="1800" b="1">
                <a:ea typeface="宋体" panose="02010600030101010101" pitchFamily="2" charset="-122"/>
              </a:rPr>
              <a:t>技术报告模版</a:t>
            </a:r>
            <a:r>
              <a:rPr lang="zh-CN" altLang="en-US" sz="1800">
                <a:ea typeface="宋体" panose="02010600030101010101" pitchFamily="2" charset="-122"/>
              </a:rPr>
              <a:t>去让</a:t>
            </a:r>
            <a:r>
              <a:rPr lang="en-US" altLang="zh-CN" sz="1800">
                <a:ea typeface="宋体" panose="02010600030101010101" pitchFamily="2" charset="-122"/>
              </a:rPr>
              <a:t>Claude</a:t>
            </a:r>
            <a:r>
              <a:rPr lang="zh-CN" altLang="en-US" sz="1800">
                <a:ea typeface="宋体" panose="02010600030101010101" pitchFamily="2" charset="-122"/>
              </a:rPr>
              <a:t>生成一个基础的</a:t>
            </a:r>
            <a:r>
              <a:rPr lang="en-US" altLang="zh-CN" sz="1800">
                <a:ea typeface="宋体" panose="02010600030101010101" pitchFamily="2" charset="-122"/>
              </a:rPr>
              <a:t>SKill</a:t>
            </a:r>
            <a:endParaRPr lang="en-US" altLang="zh-CN" sz="1800">
              <a:ea typeface="宋体" panose="02010600030101010101" pitchFamily="2" charset="-122"/>
            </a:endParaRPr>
          </a:p>
          <a:p>
            <a:pPr algn="l">
              <a:defRPr/>
            </a:pPr>
            <a:r>
              <a:rPr lang="zh-CN" altLang="en-US" sz="1800">
                <a:ea typeface="宋体" panose="02010600030101010101" pitchFamily="2" charset="-122"/>
              </a:rPr>
              <a:t>在</a:t>
            </a:r>
            <a:r>
              <a:rPr lang="en-US" altLang="zh-CN" sz="1800">
                <a:ea typeface="宋体" panose="02010600030101010101" pitchFamily="2" charset="-122"/>
              </a:rPr>
              <a:t>AI</a:t>
            </a:r>
            <a:r>
              <a:rPr lang="zh-CN" altLang="en-US" sz="1800">
                <a:ea typeface="宋体" panose="02010600030101010101" pitchFamily="2" charset="-122"/>
              </a:rPr>
              <a:t>领域称为</a:t>
            </a:r>
            <a:r>
              <a:rPr lang="zh-CN" altLang="en-US" sz="2400" b="1">
                <a:ea typeface="宋体" panose="02010600030101010101" pitchFamily="2" charset="-122"/>
              </a:rPr>
              <a:t>范例学习生成</a:t>
            </a:r>
            <a:endParaRPr lang="zh-CN" altLang="en-US" sz="2400" b="1">
              <a:ea typeface="宋体" panose="02010600030101010101" pitchFamily="2" charset="-122"/>
            </a:endParaRPr>
          </a:p>
        </p:txBody>
      </p:sp>
      <p:graphicFrame>
        <p:nvGraphicFramePr>
          <p:cNvPr id="2" name="表格 1"/>
          <p:cNvGraphicFramePr/>
          <p:nvPr>
            <p:custDataLst>
              <p:tags r:id="rId3"/>
            </p:custDataLst>
          </p:nvPr>
        </p:nvGraphicFramePr>
        <p:xfrm>
          <a:off x="648970" y="1714500"/>
          <a:ext cx="10685780" cy="4807585"/>
        </p:xfrm>
        <a:graphic>
          <a:graphicData uri="http://schemas.openxmlformats.org/drawingml/2006/table">
            <a:tbl>
              <a:tblPr firstRow="1" bandRow="1">
                <a:tableStyleId>{5553FDD2-9A42-47B8-A0ED-0AC43F81C477}</a:tableStyleId>
              </a:tblPr>
              <a:tblGrid>
                <a:gridCol w="1393190"/>
                <a:gridCol w="1887855"/>
                <a:gridCol w="4040505"/>
                <a:gridCol w="3364230"/>
              </a:tblGrid>
              <a:tr h="292735">
                <a:tc>
                  <a:txBody>
                    <a:bodyPr/>
                    <a:p>
                      <a:pPr algn="ctr">
                        <a:lnSpc>
                          <a:spcPct val="120000"/>
                        </a:lnSpc>
                      </a:pPr>
                      <a:r>
                        <a:rPr lang="zh-CN" altLang="en-US" sz="1000" spc="60"/>
                        <a:t>生成方式大类</a:t>
                      </a:r>
                      <a:endParaRPr lang="zh-CN" altLang="en-US" sz="1000" spc="60"/>
                    </a:p>
                  </a:txBody>
                  <a:tcPr marL="25400" marR="25400" marT="6350" marB="6350" anchor="ctr" anchorCtr="0"/>
                </a:tc>
                <a:tc>
                  <a:txBody>
                    <a:bodyPr/>
                    <a:p>
                      <a:pPr algn="ctr">
                        <a:lnSpc>
                          <a:spcPct val="120000"/>
                        </a:lnSpc>
                      </a:pPr>
                      <a:r>
                        <a:rPr lang="zh-CN" altLang="en-US" sz="1000" spc="60"/>
                        <a:t>具体方法</a:t>
                      </a:r>
                      <a:endParaRPr lang="zh-CN" altLang="en-US" sz="1000" spc="60"/>
                    </a:p>
                  </a:txBody>
                  <a:tcPr marL="25400" marR="25400" marT="6350" marB="6350" anchor="ctr" anchorCtr="0"/>
                </a:tc>
                <a:tc>
                  <a:txBody>
                    <a:bodyPr/>
                    <a:p>
                      <a:pPr algn="l">
                        <a:lnSpc>
                          <a:spcPct val="120000"/>
                        </a:lnSpc>
                      </a:pPr>
                      <a:r>
                        <a:rPr lang="zh-CN" altLang="en-US" sz="1000" spc="60"/>
                        <a:t>简要说明</a:t>
                      </a:r>
                      <a:endParaRPr lang="zh-CN" altLang="en-US" sz="1000" spc="60"/>
                    </a:p>
                  </a:txBody>
                  <a:tcPr marL="25400" marR="25400" marT="6350" marB="6350" anchor="ctr" anchorCtr="0"/>
                </a:tc>
                <a:tc>
                  <a:txBody>
                    <a:bodyPr/>
                    <a:p>
                      <a:pPr algn="l">
                        <a:lnSpc>
                          <a:spcPct val="120000"/>
                        </a:lnSpc>
                      </a:pPr>
                      <a:r>
                        <a:rPr lang="zh-CN" altLang="en-US" sz="1000" spc="60"/>
                        <a:t>适用场景</a:t>
                      </a:r>
                      <a:endParaRPr lang="zh-CN" altLang="en-US" sz="1000" spc="60"/>
                    </a:p>
                  </a:txBody>
                  <a:tcPr marL="25400" marR="25400" marT="6350" marB="6350" anchor="ctr" anchorCtr="0"/>
                </a:tc>
              </a:tr>
              <a:tr h="237490">
                <a:tc>
                  <a:txBody>
                    <a:bodyPr/>
                    <a:p>
                      <a:pPr algn="ctr">
                        <a:lnSpc>
                          <a:spcPct val="120000"/>
                        </a:lnSpc>
                      </a:pPr>
                      <a:r>
                        <a:rPr lang="zh-CN" altLang="en-US" sz="1200"/>
                        <a:t>手动编写型</a:t>
                      </a:r>
                      <a:endParaRPr lang="zh-CN" altLang="en-US" sz="1200"/>
                    </a:p>
                  </a:txBody>
                  <a:tcPr marL="25400" marR="25400" marT="6350" marB="6350" anchor="ctr" anchorCtr="0"/>
                </a:tc>
                <a:tc>
                  <a:txBody>
                    <a:bodyPr/>
                    <a:p>
                      <a:pPr algn="ctr">
                        <a:lnSpc>
                          <a:spcPct val="120000"/>
                        </a:lnSpc>
                      </a:pPr>
                      <a:r>
                        <a:rPr lang="zh-CN" altLang="en-US" sz="1200"/>
                        <a:t>裸写系统提示</a:t>
                      </a:r>
                      <a:endParaRPr lang="zh-CN" altLang="en-US" sz="1200"/>
                    </a:p>
                  </a:txBody>
                  <a:tcPr marL="25400" marR="25400" marT="6350" marB="6350" anchor="ctr" anchorCtr="0"/>
                </a:tc>
                <a:tc>
                  <a:txBody>
                    <a:bodyPr/>
                    <a:p>
                      <a:pPr algn="l">
                        <a:lnSpc>
                          <a:spcPct val="120000"/>
                        </a:lnSpc>
                      </a:pPr>
                      <a:r>
                        <a:rPr lang="zh-CN" altLang="en-US" sz="1200"/>
                        <a:t>直接撰写角色、规则、输出格式等指令</a:t>
                      </a:r>
                      <a:endParaRPr lang="zh-CN" altLang="en-US" sz="1200"/>
                    </a:p>
                  </a:txBody>
                  <a:tcPr marL="25400" marR="25400" marT="6350" marB="6350" anchor="ctr" anchorCtr="0"/>
                </a:tc>
                <a:tc>
                  <a:txBody>
                    <a:bodyPr/>
                    <a:p>
                      <a:pPr algn="l">
                        <a:lnSpc>
                          <a:spcPct val="120000"/>
                        </a:lnSpc>
                      </a:pPr>
                      <a:r>
                        <a:rPr lang="zh-CN" altLang="en-US" sz="1200"/>
                        <a:t>翻译、摘要、文案风格转换等简单任务</a:t>
                      </a:r>
                      <a:endParaRPr lang="zh-CN" altLang="en-US" sz="1200"/>
                    </a:p>
                  </a:txBody>
                  <a:tcPr marL="25400" marR="25400" marT="6350" marB="6350" anchor="ctr" anchorCtr="0"/>
                </a:tc>
              </a:tr>
              <a:tr h="236855">
                <a:tc>
                  <a:txBody>
                    <a:bodyPr/>
                    <a:p>
                      <a:pPr algn="ctr">
                        <a:lnSpc>
                          <a:spcPct val="120000"/>
                        </a:lnSpc>
                      </a:pPr>
                      <a:r>
                        <a:rPr lang="zh-CN" altLang="en-US" sz="1200">
                          <a:highlight>
                            <a:srgbClr val="C0C0C0"/>
                          </a:highlight>
                        </a:rPr>
                        <a:t>范例学习生成</a:t>
                      </a:r>
                      <a:endParaRPr lang="zh-CN" altLang="en-US" sz="1200">
                        <a:highlight>
                          <a:srgbClr val="C0C0C0"/>
                        </a:highlight>
                      </a:endParaRPr>
                    </a:p>
                  </a:txBody>
                  <a:tcPr marL="25400" marR="25400" marT="6350" marB="6350" anchor="ctr" anchorCtr="0"/>
                </a:tc>
                <a:tc>
                  <a:txBody>
                    <a:bodyPr/>
                    <a:p>
                      <a:pPr algn="ctr">
                        <a:lnSpc>
                          <a:spcPct val="120000"/>
                        </a:lnSpc>
                      </a:pPr>
                      <a:r>
                        <a:rPr lang="zh-CN" altLang="en-US" sz="1200"/>
                        <a:t>正例诱导</a:t>
                      </a:r>
                      <a:endParaRPr lang="zh-CN" altLang="en-US" sz="1200"/>
                    </a:p>
                  </a:txBody>
                  <a:tcPr marL="25400" marR="25400" marT="6350" marB="6350" anchor="ctr" anchorCtr="0"/>
                </a:tc>
                <a:tc>
                  <a:txBody>
                    <a:bodyPr/>
                    <a:p>
                      <a:pPr algn="l">
                        <a:lnSpc>
                          <a:spcPct val="120000"/>
                        </a:lnSpc>
                      </a:pPr>
                      <a:r>
                        <a:rPr lang="zh-CN" altLang="en-US" sz="1200"/>
                        <a:t>提供高质量成品，让模型归纳输出规范</a:t>
                      </a:r>
                      <a:endParaRPr lang="zh-CN" altLang="en-US" sz="1200"/>
                    </a:p>
                  </a:txBody>
                  <a:tcPr marL="25400" marR="25400" marT="6350" marB="6350" anchor="ctr" anchorCtr="0"/>
                </a:tc>
                <a:tc>
                  <a:txBody>
                    <a:bodyPr/>
                    <a:p>
                      <a:pPr algn="l">
                        <a:lnSpc>
                          <a:spcPct val="120000"/>
                        </a:lnSpc>
                      </a:pPr>
                      <a:r>
                        <a:rPr lang="zh-CN" altLang="en-US" sz="1200"/>
                        <a:t>定制化报告、特定文风写作</a:t>
                      </a:r>
                      <a:endParaRPr lang="zh-CN" altLang="en-US" sz="1200"/>
                    </a:p>
                  </a:txBody>
                  <a:tcPr marL="25400" marR="25400" marT="6350" marB="6350" anchor="ctr" anchorCtr="0"/>
                </a:tc>
              </a:tr>
              <a:tr h="238125">
                <a:tc>
                  <a:txBody>
                    <a:bodyPr/>
                    <a:p>
                      <a:pPr algn="ctr">
                        <a:lnSpc>
                          <a:spcPct val="120000"/>
                        </a:lnSpc>
                      </a:pPr>
                      <a:endParaRPr sz="1200"/>
                    </a:p>
                  </a:txBody>
                  <a:tcPr marL="25400" marR="25400" marT="6350" marB="6350" anchor="ctr" anchorCtr="0"/>
                </a:tc>
                <a:tc>
                  <a:txBody>
                    <a:bodyPr/>
                    <a:p>
                      <a:pPr algn="ctr">
                        <a:lnSpc>
                          <a:spcPct val="120000"/>
                        </a:lnSpc>
                      </a:pPr>
                      <a:r>
                        <a:rPr lang="zh-CN" altLang="en-US" sz="1200"/>
                        <a:t>对比案例</a:t>
                      </a:r>
                      <a:endParaRPr lang="zh-CN" altLang="en-US" sz="1200"/>
                    </a:p>
                  </a:txBody>
                  <a:tcPr marL="25400" marR="25400" marT="6350" marB="6350" anchor="ctr" anchorCtr="0"/>
                </a:tc>
                <a:tc>
                  <a:txBody>
                    <a:bodyPr/>
                    <a:p>
                      <a:pPr algn="l">
                        <a:lnSpc>
                          <a:spcPct val="120000"/>
                        </a:lnSpc>
                      </a:pPr>
                      <a:r>
                        <a:rPr lang="zh-CN" altLang="en-US" sz="1200"/>
                        <a:t>同时给好例与坏例并标注原因</a:t>
                      </a:r>
                      <a:endParaRPr lang="zh-CN" altLang="en-US" sz="1200"/>
                    </a:p>
                  </a:txBody>
                  <a:tcPr marL="25400" marR="25400" marT="6350" marB="6350" anchor="ctr" anchorCtr="0"/>
                </a:tc>
                <a:tc>
                  <a:txBody>
                    <a:bodyPr/>
                    <a:p>
                      <a:pPr algn="l">
                        <a:lnSpc>
                          <a:spcPct val="120000"/>
                        </a:lnSpc>
                      </a:pPr>
                      <a:r>
                        <a:rPr lang="zh-CN" altLang="en-US" sz="1200"/>
                        <a:t>质量要求严苛的评审、校对类 </a:t>
                      </a:r>
                      <a:r>
                        <a:rPr lang="en-US" altLang="zh-CN" sz="1200"/>
                        <a:t>Skill</a:t>
                      </a:r>
                      <a:endParaRPr lang="en-US" altLang="zh-CN" sz="1200"/>
                    </a:p>
                  </a:txBody>
                  <a:tcPr marL="25400" marR="25400" marT="6350" marB="6350" anchor="ctr" anchorCtr="0"/>
                </a:tc>
              </a:tr>
              <a:tr h="237490">
                <a:tc>
                  <a:txBody>
                    <a:bodyPr/>
                    <a:p>
                      <a:pPr algn="ctr">
                        <a:lnSpc>
                          <a:spcPct val="120000"/>
                        </a:lnSpc>
                      </a:pPr>
                      <a:endParaRPr sz="1200"/>
                    </a:p>
                  </a:txBody>
                  <a:tcPr marL="25400" marR="25400" marT="6350" marB="6350" anchor="ctr" anchorCtr="0"/>
                </a:tc>
                <a:tc>
                  <a:txBody>
                    <a:bodyPr/>
                    <a:p>
                      <a:pPr algn="ctr">
                        <a:lnSpc>
                          <a:spcPct val="120000"/>
                        </a:lnSpc>
                      </a:pPr>
                      <a:r>
                        <a:rPr lang="zh-CN" altLang="en-US" sz="1200"/>
                        <a:t>范例反向工程</a:t>
                      </a:r>
                      <a:endParaRPr lang="zh-CN" altLang="en-US" sz="1200"/>
                    </a:p>
                  </a:txBody>
                  <a:tcPr marL="25400" marR="25400" marT="6350" marB="6350" anchor="ctr" anchorCtr="0">
                    <a:solidFill>
                      <a:schemeClr val="accent1">
                        <a:lumMod val="60000"/>
                        <a:lumOff val="40000"/>
                      </a:schemeClr>
                    </a:solidFill>
                  </a:tcPr>
                </a:tc>
                <a:tc>
                  <a:txBody>
                    <a:bodyPr/>
                    <a:p>
                      <a:pPr algn="l">
                        <a:lnSpc>
                          <a:spcPct val="120000"/>
                        </a:lnSpc>
                      </a:pPr>
                      <a:r>
                        <a:rPr lang="zh-CN" altLang="en-US" sz="1200"/>
                        <a:t>模型分析成品，自动提取规则并生成指令草稿</a:t>
                      </a:r>
                      <a:endParaRPr lang="zh-CN" altLang="en-US" sz="1200"/>
                    </a:p>
                  </a:txBody>
                  <a:tcPr marL="25400" marR="25400" marT="6350" marB="6350" anchor="ctr" anchorCtr="0">
                    <a:solidFill>
                      <a:schemeClr val="accent1">
                        <a:lumMod val="60000"/>
                        <a:lumOff val="40000"/>
                      </a:schemeClr>
                    </a:solidFill>
                  </a:tcPr>
                </a:tc>
                <a:tc>
                  <a:txBody>
                    <a:bodyPr/>
                    <a:p>
                      <a:pPr algn="l">
                        <a:lnSpc>
                          <a:spcPct val="120000"/>
                        </a:lnSpc>
                      </a:pPr>
                      <a:r>
                        <a:rPr lang="zh-CN" altLang="en-US" sz="1200"/>
                        <a:t>已有大量历史优秀文档，想快速沉淀为 </a:t>
                      </a:r>
                      <a:r>
                        <a:rPr lang="en-US" altLang="zh-CN" sz="1200"/>
                        <a:t>Skill</a:t>
                      </a:r>
                      <a:endParaRPr lang="en-US" altLang="zh-CN" sz="1200"/>
                    </a:p>
                  </a:txBody>
                  <a:tcPr marL="25400" marR="25400" marT="6350" marB="6350" anchor="ctr" anchorCtr="0">
                    <a:solidFill>
                      <a:schemeClr val="accent1">
                        <a:lumMod val="60000"/>
                        <a:lumOff val="40000"/>
                      </a:schemeClr>
                    </a:solidFill>
                  </a:tcPr>
                </a:tc>
              </a:tr>
              <a:tr h="237490">
                <a:tc>
                  <a:txBody>
                    <a:bodyPr/>
                    <a:p>
                      <a:pPr algn="ctr">
                        <a:lnSpc>
                          <a:spcPct val="120000"/>
                        </a:lnSpc>
                      </a:pPr>
                      <a:r>
                        <a:rPr lang="zh-CN" altLang="en-US" sz="1200"/>
                        <a:t>模型自我生成</a:t>
                      </a:r>
                      <a:endParaRPr lang="zh-CN" altLang="en-US" sz="1200"/>
                    </a:p>
                  </a:txBody>
                  <a:tcPr marL="25400" marR="25400" marT="6350" marB="6350" anchor="ctr" anchorCtr="0"/>
                </a:tc>
                <a:tc>
                  <a:txBody>
                    <a:bodyPr/>
                    <a:p>
                      <a:pPr algn="ctr">
                        <a:lnSpc>
                          <a:spcPct val="120000"/>
                        </a:lnSpc>
                      </a:pPr>
                      <a:r>
                        <a:rPr lang="zh-CN" altLang="en-US" sz="1200"/>
                        <a:t>自然语言描述转 </a:t>
                      </a:r>
                      <a:r>
                        <a:rPr lang="en-US" altLang="zh-CN" sz="1200"/>
                        <a:t>Skill</a:t>
                      </a:r>
                      <a:endParaRPr lang="en-US" altLang="zh-CN" sz="1200"/>
                    </a:p>
                  </a:txBody>
                  <a:tcPr marL="25400" marR="25400" marT="6350" marB="6350" anchor="ctr" anchorCtr="0"/>
                </a:tc>
                <a:tc>
                  <a:txBody>
                    <a:bodyPr/>
                    <a:p>
                      <a:pPr algn="l">
                        <a:lnSpc>
                          <a:spcPct val="120000"/>
                        </a:lnSpc>
                      </a:pPr>
                      <a:r>
                        <a:rPr lang="zh-CN" altLang="en-US" sz="1200"/>
                        <a:t>用户用大白话描述需求，模型转化为系统指令</a:t>
                      </a:r>
                      <a:endParaRPr lang="zh-CN" altLang="en-US" sz="1200"/>
                    </a:p>
                  </a:txBody>
                  <a:tcPr marL="25400" marR="25400" marT="6350" marB="6350" anchor="ctr" anchorCtr="0"/>
                </a:tc>
                <a:tc>
                  <a:txBody>
                    <a:bodyPr/>
                    <a:p>
                      <a:pPr algn="l">
                        <a:lnSpc>
                          <a:spcPct val="120000"/>
                        </a:lnSpc>
                      </a:pPr>
                      <a:r>
                        <a:rPr lang="zh-CN" altLang="en-US" sz="1200"/>
                        <a:t>非技术用户快速创建 </a:t>
                      </a:r>
                      <a:r>
                        <a:rPr lang="en-US" altLang="zh-CN" sz="1200"/>
                        <a:t>Skill</a:t>
                      </a:r>
                      <a:endParaRPr lang="en-US" altLang="zh-CN" sz="1200"/>
                    </a:p>
                  </a:txBody>
                  <a:tcPr marL="25400" marR="25400" marT="6350" marB="6350" anchor="ctr" anchorCtr="0"/>
                </a:tc>
              </a:tr>
              <a:tr h="237490">
                <a:tc>
                  <a:txBody>
                    <a:bodyPr/>
                    <a:p>
                      <a:pPr algn="ctr">
                        <a:lnSpc>
                          <a:spcPct val="120000"/>
                        </a:lnSpc>
                      </a:pPr>
                      <a:endParaRPr sz="1200"/>
                    </a:p>
                  </a:txBody>
                  <a:tcPr marL="25400" marR="25400" marT="6350" marB="6350" anchor="ctr" anchorCtr="0"/>
                </a:tc>
                <a:tc>
                  <a:txBody>
                    <a:bodyPr/>
                    <a:p>
                      <a:pPr algn="ctr">
                        <a:lnSpc>
                          <a:spcPct val="120000"/>
                        </a:lnSpc>
                      </a:pPr>
                      <a:r>
                        <a:rPr lang="zh-CN" altLang="en-US" sz="1200"/>
                        <a:t>元提示生成器</a:t>
                      </a:r>
                      <a:endParaRPr lang="zh-CN" altLang="en-US" sz="1200"/>
                    </a:p>
                  </a:txBody>
                  <a:tcPr marL="25400" marR="25400" marT="6350" marB="6350" anchor="ctr" anchorCtr="0"/>
                </a:tc>
                <a:tc>
                  <a:txBody>
                    <a:bodyPr/>
                    <a:p>
                      <a:pPr algn="l">
                        <a:lnSpc>
                          <a:spcPct val="120000"/>
                        </a:lnSpc>
                      </a:pPr>
                      <a:r>
                        <a:rPr lang="en-US" altLang="zh-CN" sz="1200"/>
                        <a:t>“Skill </a:t>
                      </a:r>
                      <a:r>
                        <a:rPr lang="zh-CN" altLang="en-US" sz="1200"/>
                        <a:t>工厂”采访需求，自动输出完整配置</a:t>
                      </a:r>
                      <a:endParaRPr lang="zh-CN" altLang="en-US" sz="1200"/>
                    </a:p>
                  </a:txBody>
                  <a:tcPr marL="25400" marR="25400" marT="6350" marB="6350" anchor="ctr" anchorCtr="0"/>
                </a:tc>
                <a:tc>
                  <a:txBody>
                    <a:bodyPr/>
                    <a:p>
                      <a:pPr algn="l">
                        <a:lnSpc>
                          <a:spcPct val="120000"/>
                        </a:lnSpc>
                      </a:pPr>
                      <a:r>
                        <a:rPr lang="zh-CN" altLang="en-US" sz="1200"/>
                        <a:t>团队标准化 </a:t>
                      </a:r>
                      <a:r>
                        <a:rPr lang="en-US" altLang="zh-CN" sz="1200"/>
                        <a:t>Skill </a:t>
                      </a:r>
                      <a:r>
                        <a:rPr lang="zh-CN" altLang="en-US" sz="1200"/>
                        <a:t>生产管线</a:t>
                      </a:r>
                      <a:endParaRPr lang="zh-CN" altLang="en-US" sz="1200"/>
                    </a:p>
                  </a:txBody>
                  <a:tcPr marL="25400" marR="25400" marT="6350" marB="6350" anchor="ctr" anchorCtr="0"/>
                </a:tc>
              </a:tr>
              <a:tr h="238760">
                <a:tc>
                  <a:txBody>
                    <a:bodyPr/>
                    <a:p>
                      <a:pPr algn="ctr">
                        <a:lnSpc>
                          <a:spcPct val="120000"/>
                        </a:lnSpc>
                      </a:pPr>
                      <a:endParaRPr sz="1200"/>
                    </a:p>
                  </a:txBody>
                  <a:tcPr marL="25400" marR="25400" marT="6350" marB="6350" anchor="ctr" anchorCtr="0"/>
                </a:tc>
                <a:tc>
                  <a:txBody>
                    <a:bodyPr/>
                    <a:p>
                      <a:pPr algn="ctr">
                        <a:lnSpc>
                          <a:spcPct val="120000"/>
                        </a:lnSpc>
                      </a:pPr>
                      <a:r>
                        <a:rPr lang="zh-CN" altLang="en-US" sz="1200"/>
                        <a:t>自我迭代优化</a:t>
                      </a:r>
                      <a:endParaRPr lang="zh-CN" altLang="en-US" sz="1200"/>
                    </a:p>
                  </a:txBody>
                  <a:tcPr marL="25400" marR="25400" marT="6350" marB="6350" anchor="ctr" anchorCtr="0"/>
                </a:tc>
                <a:tc>
                  <a:txBody>
                    <a:bodyPr/>
                    <a:p>
                      <a:pPr algn="l">
                        <a:lnSpc>
                          <a:spcPct val="120000"/>
                        </a:lnSpc>
                      </a:pPr>
                      <a:r>
                        <a:rPr lang="en-US" altLang="zh-CN" sz="1200"/>
                        <a:t>Skill </a:t>
                      </a:r>
                      <a:r>
                        <a:rPr lang="zh-CN" altLang="en-US" sz="1200"/>
                        <a:t>测试自身输出，根据自评结果修改指令</a:t>
                      </a:r>
                      <a:endParaRPr lang="zh-CN" altLang="en-US" sz="1200"/>
                    </a:p>
                  </a:txBody>
                  <a:tcPr marL="25400" marR="25400" marT="6350" marB="6350" anchor="ctr" anchorCtr="0"/>
                </a:tc>
                <a:tc>
                  <a:txBody>
                    <a:bodyPr/>
                    <a:p>
                      <a:pPr algn="l">
                        <a:lnSpc>
                          <a:spcPct val="120000"/>
                        </a:lnSpc>
                      </a:pPr>
                      <a:r>
                        <a:rPr lang="zh-CN" altLang="en-US" sz="1200"/>
                        <a:t>持续进化，无需人工干预</a:t>
                      </a:r>
                      <a:endParaRPr lang="zh-CN" altLang="en-US" sz="1200"/>
                    </a:p>
                  </a:txBody>
                  <a:tcPr marL="25400" marR="25400" marT="6350" marB="6350" anchor="ctr" anchorCtr="0"/>
                </a:tc>
              </a:tr>
              <a:tr h="237490">
                <a:tc>
                  <a:txBody>
                    <a:bodyPr/>
                    <a:p>
                      <a:pPr algn="ctr">
                        <a:lnSpc>
                          <a:spcPct val="120000"/>
                        </a:lnSpc>
                      </a:pPr>
                      <a:endParaRPr sz="1200"/>
                    </a:p>
                  </a:txBody>
                  <a:tcPr marL="25400" marR="25400" marT="6350" marB="6350" anchor="ctr" anchorCtr="0"/>
                </a:tc>
                <a:tc>
                  <a:txBody>
                    <a:bodyPr/>
                    <a:p>
                      <a:pPr algn="ctr">
                        <a:lnSpc>
                          <a:spcPct val="120000"/>
                        </a:lnSpc>
                      </a:pPr>
                      <a:r>
                        <a:rPr lang="zh-CN" altLang="en-US" sz="1200"/>
                        <a:t>代码</a:t>
                      </a:r>
                      <a:r>
                        <a:rPr lang="en-US" altLang="zh-CN" sz="1200"/>
                        <a:t>/</a:t>
                      </a:r>
                      <a:r>
                        <a:rPr lang="zh-CN" altLang="en-US" sz="1200"/>
                        <a:t>文档逆向生成</a:t>
                      </a:r>
                      <a:endParaRPr lang="zh-CN" altLang="en-US" sz="1200"/>
                    </a:p>
                  </a:txBody>
                  <a:tcPr marL="25400" marR="25400" marT="6350" marB="6350" anchor="ctr" anchorCtr="0"/>
                </a:tc>
                <a:tc>
                  <a:txBody>
                    <a:bodyPr/>
                    <a:p>
                      <a:pPr algn="l">
                        <a:lnSpc>
                          <a:spcPct val="120000"/>
                        </a:lnSpc>
                      </a:pPr>
                      <a:r>
                        <a:rPr lang="zh-CN" altLang="en-US" sz="1200"/>
                        <a:t>输入代码库或</a:t>
                      </a:r>
                      <a:r>
                        <a:rPr lang="en-US" altLang="zh-CN" sz="1200"/>
                        <a:t>API</a:t>
                      </a:r>
                      <a:r>
                        <a:rPr lang="zh-CN" altLang="en-US" sz="1200"/>
                        <a:t>文档，提取功能并打包成 </a:t>
                      </a:r>
                      <a:r>
                        <a:rPr lang="en-US" altLang="zh-CN" sz="1200"/>
                        <a:t>Skill</a:t>
                      </a:r>
                      <a:endParaRPr lang="en-US" altLang="zh-CN" sz="1200"/>
                    </a:p>
                  </a:txBody>
                  <a:tcPr marL="25400" marR="25400" marT="6350" marB="6350" anchor="ctr" anchorCtr="0"/>
                </a:tc>
                <a:tc>
                  <a:txBody>
                    <a:bodyPr/>
                    <a:p>
                      <a:pPr algn="l">
                        <a:lnSpc>
                          <a:spcPct val="120000"/>
                        </a:lnSpc>
                      </a:pPr>
                      <a:r>
                        <a:rPr lang="zh-CN" altLang="en-US" sz="1200"/>
                        <a:t>为内部工具、库快速构建使用助手</a:t>
                      </a:r>
                      <a:endParaRPr lang="zh-CN" altLang="en-US" sz="1200"/>
                    </a:p>
                  </a:txBody>
                  <a:tcPr marL="25400" marR="25400" marT="6350" marB="6350" anchor="ctr" anchorCtr="0"/>
                </a:tc>
              </a:tr>
              <a:tr h="237490">
                <a:tc>
                  <a:txBody>
                    <a:bodyPr/>
                    <a:p>
                      <a:pPr algn="ctr">
                        <a:lnSpc>
                          <a:spcPct val="120000"/>
                        </a:lnSpc>
                      </a:pPr>
                      <a:r>
                        <a:rPr lang="zh-CN" altLang="en-US" sz="1200"/>
                        <a:t>交互历史挖掘</a:t>
                      </a:r>
                      <a:endParaRPr lang="zh-CN" altLang="en-US" sz="1200"/>
                    </a:p>
                  </a:txBody>
                  <a:tcPr marL="25400" marR="25400" marT="6350" marB="6350" anchor="ctr" anchorCtr="0"/>
                </a:tc>
                <a:tc>
                  <a:txBody>
                    <a:bodyPr/>
                    <a:p>
                      <a:pPr algn="ctr">
                        <a:lnSpc>
                          <a:spcPct val="120000"/>
                        </a:lnSpc>
                      </a:pPr>
                      <a:r>
                        <a:rPr lang="zh-CN" altLang="en-US" sz="1200"/>
                        <a:t>会话摘要提炼</a:t>
                      </a:r>
                      <a:endParaRPr lang="zh-CN" altLang="en-US" sz="1200"/>
                    </a:p>
                  </a:txBody>
                  <a:tcPr marL="25400" marR="25400" marT="6350" marB="6350" anchor="ctr" anchorCtr="0"/>
                </a:tc>
                <a:tc>
                  <a:txBody>
                    <a:bodyPr/>
                    <a:p>
                      <a:pPr algn="l">
                        <a:lnSpc>
                          <a:spcPct val="120000"/>
                        </a:lnSpc>
                      </a:pPr>
                      <a:r>
                        <a:rPr lang="zh-CN" altLang="en-US" sz="1200"/>
                        <a:t>分析高质量对话，提取任务模式、常用指令合成 </a:t>
                      </a:r>
                      <a:r>
                        <a:rPr lang="en-US" altLang="zh-CN" sz="1200"/>
                        <a:t>Skill</a:t>
                      </a:r>
                      <a:endParaRPr lang="en-US" altLang="zh-CN" sz="1200"/>
                    </a:p>
                  </a:txBody>
                  <a:tcPr marL="25400" marR="25400" marT="6350" marB="6350" anchor="ctr" anchorCtr="0"/>
                </a:tc>
                <a:tc>
                  <a:txBody>
                    <a:bodyPr/>
                    <a:p>
                      <a:pPr algn="l">
                        <a:lnSpc>
                          <a:spcPct val="120000"/>
                        </a:lnSpc>
                      </a:pPr>
                      <a:r>
                        <a:rPr lang="zh-CN" altLang="en-US" sz="1200"/>
                        <a:t>个人助手定制，固化反复进行的聊天流程</a:t>
                      </a:r>
                      <a:endParaRPr lang="zh-CN" altLang="en-US" sz="1200"/>
                    </a:p>
                  </a:txBody>
                  <a:tcPr marL="25400" marR="25400" marT="6350" marB="6350" anchor="ctr" anchorCtr="0"/>
                </a:tc>
              </a:tr>
              <a:tr h="237490">
                <a:tc>
                  <a:txBody>
                    <a:bodyPr/>
                    <a:p>
                      <a:pPr algn="ctr">
                        <a:lnSpc>
                          <a:spcPct val="120000"/>
                        </a:lnSpc>
                      </a:pPr>
                      <a:endParaRPr sz="1200"/>
                    </a:p>
                  </a:txBody>
                  <a:tcPr marL="25400" marR="25400" marT="6350" marB="6350" anchor="ctr" anchorCtr="0"/>
                </a:tc>
                <a:tc>
                  <a:txBody>
                    <a:bodyPr/>
                    <a:p>
                      <a:pPr algn="ctr">
                        <a:lnSpc>
                          <a:spcPct val="120000"/>
                        </a:lnSpc>
                      </a:pPr>
                      <a:r>
                        <a:rPr lang="zh-CN" altLang="en-US" sz="1200"/>
                        <a:t>反馈信号学习</a:t>
                      </a:r>
                      <a:endParaRPr lang="zh-CN" altLang="en-US" sz="1200"/>
                    </a:p>
                  </a:txBody>
                  <a:tcPr marL="25400" marR="25400" marT="6350" marB="6350" anchor="ctr" anchorCtr="0"/>
                </a:tc>
                <a:tc>
                  <a:txBody>
                    <a:bodyPr/>
                    <a:p>
                      <a:pPr algn="l">
                        <a:lnSpc>
                          <a:spcPct val="120000"/>
                        </a:lnSpc>
                      </a:pPr>
                      <a:r>
                        <a:rPr lang="zh-CN" altLang="en-US" sz="1200"/>
                        <a:t>收集用户点赞</a:t>
                      </a:r>
                      <a:r>
                        <a:rPr lang="en-US" altLang="zh-CN" sz="1200"/>
                        <a:t>/</a:t>
                      </a:r>
                      <a:r>
                        <a:rPr lang="zh-CN" altLang="en-US" sz="1200"/>
                        <a:t>修改操作，让模型总结期望并改写指令</a:t>
                      </a:r>
                      <a:endParaRPr lang="zh-CN" altLang="en-US" sz="1200"/>
                    </a:p>
                  </a:txBody>
                  <a:tcPr marL="25400" marR="25400" marT="6350" marB="6350" anchor="ctr" anchorCtr="0"/>
                </a:tc>
                <a:tc>
                  <a:txBody>
                    <a:bodyPr/>
                    <a:p>
                      <a:pPr algn="l">
                        <a:lnSpc>
                          <a:spcPct val="120000"/>
                        </a:lnSpc>
                      </a:pPr>
                      <a:r>
                        <a:rPr lang="zh-CN" altLang="en-US" sz="1200"/>
                        <a:t>企业应用，基于真实反馈持续优化</a:t>
                      </a:r>
                      <a:endParaRPr lang="zh-CN" altLang="en-US" sz="1200"/>
                    </a:p>
                  </a:txBody>
                  <a:tcPr marL="25400" marR="25400" marT="6350" marB="6350" anchor="ctr" anchorCtr="0"/>
                </a:tc>
              </a:tr>
              <a:tr h="237490">
                <a:tc>
                  <a:txBody>
                    <a:bodyPr/>
                    <a:p>
                      <a:pPr algn="ctr">
                        <a:lnSpc>
                          <a:spcPct val="120000"/>
                        </a:lnSpc>
                      </a:pPr>
                      <a:endParaRPr sz="1200"/>
                    </a:p>
                  </a:txBody>
                  <a:tcPr marL="25400" marR="25400" marT="6350" marB="6350" anchor="ctr" anchorCtr="0"/>
                </a:tc>
                <a:tc>
                  <a:txBody>
                    <a:bodyPr/>
                    <a:p>
                      <a:pPr algn="ctr">
                        <a:lnSpc>
                          <a:spcPct val="120000"/>
                        </a:lnSpc>
                      </a:pPr>
                      <a:r>
                        <a:rPr lang="zh-CN" altLang="en-US" sz="1200"/>
                        <a:t>隐式约定捕捉</a:t>
                      </a:r>
                      <a:endParaRPr lang="zh-CN" altLang="en-US" sz="1200"/>
                    </a:p>
                  </a:txBody>
                  <a:tcPr marL="25400" marR="25400" marT="6350" marB="6350" anchor="ctr" anchorCtr="0"/>
                </a:tc>
                <a:tc>
                  <a:txBody>
                    <a:bodyPr/>
                    <a:p>
                      <a:pPr algn="l">
                        <a:lnSpc>
                          <a:spcPct val="120000"/>
                        </a:lnSpc>
                      </a:pPr>
                      <a:r>
                        <a:rPr lang="zh-CN" altLang="en-US" sz="1200"/>
                        <a:t>从多次对话中挖掘用户稳定偏好，生成个性化基础 </a:t>
                      </a:r>
                      <a:r>
                        <a:rPr lang="en-US" altLang="zh-CN" sz="1200"/>
                        <a:t>Skill</a:t>
                      </a:r>
                      <a:endParaRPr lang="en-US" altLang="zh-CN" sz="1200"/>
                    </a:p>
                  </a:txBody>
                  <a:tcPr marL="25400" marR="25400" marT="6350" marB="6350" anchor="ctr" anchorCtr="0"/>
                </a:tc>
                <a:tc>
                  <a:txBody>
                    <a:bodyPr/>
                    <a:p>
                      <a:pPr algn="l">
                        <a:lnSpc>
                          <a:spcPct val="120000"/>
                        </a:lnSpc>
                      </a:pPr>
                      <a:r>
                        <a:rPr lang="zh-CN" altLang="en-US" sz="1200"/>
                        <a:t>打造个性化 </a:t>
                      </a:r>
                      <a:r>
                        <a:rPr lang="en-US" altLang="zh-CN" sz="1200"/>
                        <a:t>AI </a:t>
                      </a:r>
                      <a:r>
                        <a:rPr lang="zh-CN" altLang="en-US" sz="1200"/>
                        <a:t>伙伴</a:t>
                      </a:r>
                      <a:endParaRPr lang="zh-CN" altLang="en-US" sz="1200"/>
                    </a:p>
                  </a:txBody>
                  <a:tcPr marL="25400" marR="25400" marT="6350" marB="6350" anchor="ctr" anchorCtr="0"/>
                </a:tc>
              </a:tr>
              <a:tr h="238125">
                <a:tc>
                  <a:txBody>
                    <a:bodyPr/>
                    <a:p>
                      <a:pPr algn="ctr">
                        <a:lnSpc>
                          <a:spcPct val="120000"/>
                        </a:lnSpc>
                      </a:pPr>
                      <a:r>
                        <a:rPr lang="zh-CN" altLang="en-US" sz="1200"/>
                        <a:t>结构化知识源</a:t>
                      </a:r>
                      <a:endParaRPr lang="zh-CN" altLang="en-US" sz="1200"/>
                    </a:p>
                  </a:txBody>
                  <a:tcPr marL="25400" marR="25400" marT="6350" marB="6350" anchor="ctr" anchorCtr="0"/>
                </a:tc>
                <a:tc>
                  <a:txBody>
                    <a:bodyPr/>
                    <a:p>
                      <a:pPr algn="ctr">
                        <a:lnSpc>
                          <a:spcPct val="120000"/>
                        </a:lnSpc>
                      </a:pPr>
                      <a:r>
                        <a:rPr lang="zh-CN" altLang="en-US" sz="1200"/>
                        <a:t>数据库模式驱动</a:t>
                      </a:r>
                      <a:endParaRPr lang="zh-CN" altLang="en-US" sz="1200"/>
                    </a:p>
                  </a:txBody>
                  <a:tcPr marL="25400" marR="25400" marT="6350" marB="6350" anchor="ctr" anchorCtr="0"/>
                </a:tc>
                <a:tc>
                  <a:txBody>
                    <a:bodyPr/>
                    <a:p>
                      <a:pPr algn="l">
                        <a:lnSpc>
                          <a:spcPct val="120000"/>
                        </a:lnSpc>
                      </a:pPr>
                      <a:r>
                        <a:rPr lang="zh-CN" altLang="en-US" sz="1200"/>
                        <a:t>输入 </a:t>
                      </a:r>
                      <a:r>
                        <a:rPr lang="en-US" altLang="zh-CN" sz="1200"/>
                        <a:t>SQL Schema</a:t>
                      </a:r>
                      <a:r>
                        <a:rPr lang="zh-CN" altLang="en-US" sz="1200"/>
                        <a:t>，生成能理解查询意图的 </a:t>
                      </a:r>
                      <a:r>
                        <a:rPr lang="en-US" altLang="zh-CN" sz="1200"/>
                        <a:t>Skill</a:t>
                      </a:r>
                      <a:endParaRPr lang="en-US" altLang="zh-CN" sz="1200"/>
                    </a:p>
                  </a:txBody>
                  <a:tcPr marL="25400" marR="25400" marT="6350" marB="6350" anchor="ctr" anchorCtr="0"/>
                </a:tc>
                <a:tc>
                  <a:txBody>
                    <a:bodyPr/>
                    <a:p>
                      <a:pPr algn="l">
                        <a:lnSpc>
                          <a:spcPct val="120000"/>
                        </a:lnSpc>
                      </a:pPr>
                      <a:r>
                        <a:rPr lang="zh-CN" altLang="en-US" sz="1200"/>
                        <a:t>数据分析助手、自然语言转 </a:t>
                      </a:r>
                      <a:r>
                        <a:rPr lang="en-US" altLang="zh-CN" sz="1200"/>
                        <a:t>SQL</a:t>
                      </a:r>
                      <a:endParaRPr lang="en-US" altLang="zh-CN" sz="1200"/>
                    </a:p>
                  </a:txBody>
                  <a:tcPr marL="25400" marR="25400" marT="6350" marB="6350" anchor="ctr" anchorCtr="0"/>
                </a:tc>
              </a:tr>
              <a:tr h="237490">
                <a:tc>
                  <a:txBody>
                    <a:bodyPr/>
                    <a:p>
                      <a:pPr algn="ctr">
                        <a:lnSpc>
                          <a:spcPct val="120000"/>
                        </a:lnSpc>
                      </a:pPr>
                      <a:endParaRPr sz="1200"/>
                    </a:p>
                  </a:txBody>
                  <a:tcPr marL="25400" marR="25400" marT="6350" marB="6350" anchor="ctr" anchorCtr="0"/>
                </a:tc>
                <a:tc>
                  <a:txBody>
                    <a:bodyPr/>
                    <a:p>
                      <a:pPr algn="ctr">
                        <a:lnSpc>
                          <a:spcPct val="120000"/>
                        </a:lnSpc>
                      </a:pPr>
                      <a:r>
                        <a:rPr lang="en-US" altLang="zh-CN" sz="1200"/>
                        <a:t>API </a:t>
                      </a:r>
                      <a:r>
                        <a:rPr lang="zh-CN" altLang="en-US" sz="1200"/>
                        <a:t>文档解析</a:t>
                      </a:r>
                      <a:endParaRPr lang="zh-CN" altLang="en-US" sz="1200"/>
                    </a:p>
                  </a:txBody>
                  <a:tcPr marL="25400" marR="25400" marT="6350" marB="6350" anchor="ctr" anchorCtr="0"/>
                </a:tc>
                <a:tc>
                  <a:txBody>
                    <a:bodyPr/>
                    <a:p>
                      <a:pPr algn="l">
                        <a:lnSpc>
                          <a:spcPct val="120000"/>
                        </a:lnSpc>
                      </a:pPr>
                      <a:r>
                        <a:rPr lang="zh-CN" altLang="en-US" sz="1200"/>
                        <a:t>分析 </a:t>
                      </a:r>
                      <a:r>
                        <a:rPr lang="en-US" altLang="zh-CN" sz="1200"/>
                        <a:t>OpenAPI/Swagger</a:t>
                      </a:r>
                      <a:r>
                        <a:rPr lang="zh-CN" altLang="en-US" sz="1200"/>
                        <a:t>，生成能调用接口的 </a:t>
                      </a:r>
                      <a:r>
                        <a:rPr lang="en-US" altLang="zh-CN" sz="1200"/>
                        <a:t>Skill</a:t>
                      </a:r>
                      <a:endParaRPr lang="en-US" altLang="zh-CN" sz="1200"/>
                    </a:p>
                  </a:txBody>
                  <a:tcPr marL="25400" marR="25400" marT="6350" marB="6350" anchor="ctr" anchorCtr="0"/>
                </a:tc>
                <a:tc>
                  <a:txBody>
                    <a:bodyPr/>
                    <a:p>
                      <a:pPr algn="l">
                        <a:lnSpc>
                          <a:spcPct val="120000"/>
                        </a:lnSpc>
                      </a:pPr>
                      <a:r>
                        <a:rPr lang="zh-CN" altLang="en-US" sz="1200"/>
                        <a:t>自动化工作流、平台集成助手</a:t>
                      </a:r>
                      <a:endParaRPr lang="zh-CN" altLang="en-US" sz="1200"/>
                    </a:p>
                  </a:txBody>
                  <a:tcPr marL="25400" marR="25400" marT="6350" marB="6350" anchor="ctr" anchorCtr="0"/>
                </a:tc>
              </a:tr>
              <a:tr h="237490">
                <a:tc>
                  <a:txBody>
                    <a:bodyPr/>
                    <a:p>
                      <a:pPr algn="ctr">
                        <a:lnSpc>
                          <a:spcPct val="120000"/>
                        </a:lnSpc>
                      </a:pPr>
                      <a:endParaRPr sz="1200"/>
                    </a:p>
                  </a:txBody>
                  <a:tcPr marL="25400" marR="25400" marT="6350" marB="6350" anchor="ctr" anchorCtr="0"/>
                </a:tc>
                <a:tc>
                  <a:txBody>
                    <a:bodyPr/>
                    <a:p>
                      <a:pPr algn="ctr">
                        <a:lnSpc>
                          <a:spcPct val="120000"/>
                        </a:lnSpc>
                      </a:pPr>
                      <a:r>
                        <a:rPr lang="zh-CN" altLang="en-US" sz="1200"/>
                        <a:t>知识图谱映射</a:t>
                      </a:r>
                      <a:endParaRPr lang="zh-CN" altLang="en-US" sz="1200"/>
                    </a:p>
                  </a:txBody>
                  <a:tcPr marL="25400" marR="25400" marT="6350" marB="6350" anchor="ctr" anchorCtr="0"/>
                </a:tc>
                <a:tc>
                  <a:txBody>
                    <a:bodyPr/>
                    <a:p>
                      <a:pPr algn="l">
                        <a:lnSpc>
                          <a:spcPct val="120000"/>
                        </a:lnSpc>
                      </a:pPr>
                      <a:r>
                        <a:rPr lang="zh-CN" altLang="en-US" sz="1200"/>
                        <a:t>将领域本体、术语关系录入 </a:t>
                      </a:r>
                      <a:r>
                        <a:rPr lang="en-US" altLang="zh-CN" sz="1200"/>
                        <a:t>Skill</a:t>
                      </a:r>
                      <a:r>
                        <a:rPr lang="zh-CN" altLang="en-US" sz="1200"/>
                        <a:t>，赋予复杂推理能力</a:t>
                      </a:r>
                      <a:endParaRPr lang="zh-CN" altLang="en-US" sz="1200"/>
                    </a:p>
                  </a:txBody>
                  <a:tcPr marL="25400" marR="25400" marT="6350" marB="6350" anchor="ctr" anchorCtr="0"/>
                </a:tc>
                <a:tc>
                  <a:txBody>
                    <a:bodyPr/>
                    <a:p>
                      <a:pPr algn="l">
                        <a:lnSpc>
                          <a:spcPct val="120000"/>
                        </a:lnSpc>
                      </a:pPr>
                      <a:r>
                        <a:rPr lang="zh-CN" altLang="en-US" sz="1200"/>
                        <a:t>医疗、法律等专业领域</a:t>
                      </a:r>
                      <a:endParaRPr lang="zh-CN" altLang="en-US" sz="1200"/>
                    </a:p>
                  </a:txBody>
                  <a:tcPr marL="25400" marR="25400" marT="6350" marB="6350" anchor="ctr" anchorCtr="0"/>
                </a:tc>
              </a:tr>
              <a:tr h="237490">
                <a:tc>
                  <a:txBody>
                    <a:bodyPr/>
                    <a:p>
                      <a:pPr algn="ctr">
                        <a:lnSpc>
                          <a:spcPct val="120000"/>
                        </a:lnSpc>
                      </a:pPr>
                      <a:r>
                        <a:rPr lang="zh-CN" altLang="en-US" sz="1200"/>
                        <a:t>社区共享与混合</a:t>
                      </a:r>
                      <a:endParaRPr lang="zh-CN" altLang="en-US" sz="1200"/>
                    </a:p>
                  </a:txBody>
                  <a:tcPr marL="25400" marR="25400" marT="6350" marB="6350" anchor="ctr" anchorCtr="0"/>
                </a:tc>
                <a:tc>
                  <a:txBody>
                    <a:bodyPr/>
                    <a:p>
                      <a:pPr algn="ctr">
                        <a:lnSpc>
                          <a:spcPct val="120000"/>
                        </a:lnSpc>
                      </a:pPr>
                      <a:r>
                        <a:rPr lang="en-US" altLang="zh-CN" sz="1200"/>
                        <a:t>Skill </a:t>
                      </a:r>
                      <a:r>
                        <a:rPr lang="zh-CN" altLang="en-US" sz="1200"/>
                        <a:t>模板库</a:t>
                      </a:r>
                      <a:endParaRPr lang="zh-CN" altLang="en-US" sz="1200"/>
                    </a:p>
                  </a:txBody>
                  <a:tcPr marL="25400" marR="25400" marT="6350" marB="6350" anchor="ctr" anchorCtr="0"/>
                </a:tc>
                <a:tc>
                  <a:txBody>
                    <a:bodyPr/>
                    <a:p>
                      <a:pPr algn="l">
                        <a:lnSpc>
                          <a:spcPct val="120000"/>
                        </a:lnSpc>
                      </a:pPr>
                      <a:r>
                        <a:rPr lang="zh-CN" altLang="en-US" sz="1200"/>
                        <a:t>官方或社区提供验证过的模板，用户微调使用</a:t>
                      </a:r>
                      <a:endParaRPr lang="zh-CN" altLang="en-US" sz="1200"/>
                    </a:p>
                  </a:txBody>
                  <a:tcPr marL="25400" marR="25400" marT="6350" marB="6350" anchor="ctr" anchorCtr="0"/>
                </a:tc>
                <a:tc>
                  <a:txBody>
                    <a:bodyPr/>
                    <a:p>
                      <a:pPr algn="l">
                        <a:lnSpc>
                          <a:spcPct val="120000"/>
                        </a:lnSpc>
                      </a:pPr>
                      <a:r>
                        <a:rPr lang="zh-CN" altLang="en-US" sz="1200"/>
                        <a:t>快速上手，避免重复造轮子</a:t>
                      </a:r>
                      <a:endParaRPr lang="zh-CN" altLang="en-US" sz="1200"/>
                    </a:p>
                  </a:txBody>
                  <a:tcPr marL="25400" marR="25400" marT="6350" marB="6350" anchor="ctr" anchorCtr="0"/>
                </a:tc>
              </a:tr>
              <a:tr h="237490">
                <a:tc>
                  <a:txBody>
                    <a:bodyPr/>
                    <a:p>
                      <a:pPr algn="ctr">
                        <a:lnSpc>
                          <a:spcPct val="120000"/>
                        </a:lnSpc>
                      </a:pPr>
                      <a:endParaRPr sz="1200"/>
                    </a:p>
                  </a:txBody>
                  <a:tcPr marL="25400" marR="25400" marT="6350" marB="6350" anchor="ctr" anchorCtr="0"/>
                </a:tc>
                <a:tc>
                  <a:txBody>
                    <a:bodyPr/>
                    <a:p>
                      <a:pPr algn="ctr">
                        <a:lnSpc>
                          <a:spcPct val="120000"/>
                        </a:lnSpc>
                      </a:pPr>
                      <a:r>
                        <a:rPr lang="zh-CN" altLang="en-US" sz="1200"/>
                        <a:t>模块化拼装</a:t>
                      </a:r>
                      <a:endParaRPr lang="zh-CN" altLang="en-US" sz="1200"/>
                    </a:p>
                  </a:txBody>
                  <a:tcPr marL="25400" marR="25400" marT="6350" marB="6350" anchor="ctr" anchorCtr="0"/>
                </a:tc>
                <a:tc>
                  <a:txBody>
                    <a:bodyPr/>
                    <a:p>
                      <a:pPr algn="l">
                        <a:lnSpc>
                          <a:spcPct val="120000"/>
                        </a:lnSpc>
                      </a:pPr>
                      <a:r>
                        <a:rPr lang="zh-CN" altLang="en-US" sz="1200"/>
                        <a:t>多个原子 </a:t>
                      </a:r>
                      <a:r>
                        <a:rPr lang="en-US" altLang="zh-CN" sz="1200"/>
                        <a:t>Skill </a:t>
                      </a:r>
                      <a:r>
                        <a:rPr lang="zh-CN" altLang="en-US" sz="1200"/>
                        <a:t>串联</a:t>
                      </a:r>
                      <a:r>
                        <a:rPr lang="en-US" altLang="zh-CN" sz="1200"/>
                        <a:t>/</a:t>
                      </a:r>
                      <a:r>
                        <a:rPr lang="zh-CN" altLang="en-US" sz="1200"/>
                        <a:t>嵌套，形成复合 </a:t>
                      </a:r>
                      <a:r>
                        <a:rPr lang="en-US" altLang="zh-CN" sz="1200"/>
                        <a:t>Skill</a:t>
                      </a:r>
                      <a:endParaRPr lang="en-US" altLang="zh-CN" sz="1200"/>
                    </a:p>
                  </a:txBody>
                  <a:tcPr marL="25400" marR="25400" marT="6350" marB="6350" anchor="ctr" anchorCtr="0"/>
                </a:tc>
                <a:tc>
                  <a:txBody>
                    <a:bodyPr/>
                    <a:p>
                      <a:pPr algn="l">
                        <a:lnSpc>
                          <a:spcPct val="120000"/>
                        </a:lnSpc>
                      </a:pPr>
                      <a:r>
                        <a:rPr lang="zh-CN" altLang="en-US" sz="1200"/>
                        <a:t>复杂工作流，如论文全流程写作</a:t>
                      </a:r>
                      <a:endParaRPr lang="zh-CN" altLang="en-US" sz="1200"/>
                    </a:p>
                  </a:txBody>
                  <a:tcPr marL="25400" marR="25400" marT="6350" marB="6350" anchor="ctr" anchorCtr="0"/>
                </a:tc>
              </a:tr>
              <a:tr h="238125">
                <a:tc>
                  <a:txBody>
                    <a:bodyPr/>
                    <a:p>
                      <a:pPr algn="ctr">
                        <a:lnSpc>
                          <a:spcPct val="120000"/>
                        </a:lnSpc>
                      </a:pPr>
                      <a:endParaRPr sz="1200"/>
                    </a:p>
                  </a:txBody>
                  <a:tcPr marL="25400" marR="25400" marT="6350" marB="6350" anchor="ctr" anchorCtr="0"/>
                </a:tc>
                <a:tc>
                  <a:txBody>
                    <a:bodyPr/>
                    <a:p>
                      <a:pPr algn="ctr">
                        <a:lnSpc>
                          <a:spcPct val="120000"/>
                        </a:lnSpc>
                      </a:pPr>
                      <a:r>
                        <a:rPr lang="zh-CN" altLang="en-US" sz="1200"/>
                        <a:t>克隆与迁移</a:t>
                      </a:r>
                      <a:endParaRPr lang="zh-CN" altLang="en-US" sz="1200"/>
                    </a:p>
                  </a:txBody>
                  <a:tcPr marL="25400" marR="25400" marT="6350" marB="6350" anchor="ctr" anchorCtr="0"/>
                </a:tc>
                <a:tc>
                  <a:txBody>
                    <a:bodyPr/>
                    <a:p>
                      <a:pPr algn="l">
                        <a:lnSpc>
                          <a:spcPct val="120000"/>
                        </a:lnSpc>
                      </a:pPr>
                      <a:r>
                        <a:rPr lang="zh-CN" altLang="en-US" sz="1200"/>
                        <a:t>将成功 </a:t>
                      </a:r>
                      <a:r>
                        <a:rPr lang="en-US" altLang="zh-CN" sz="1200"/>
                        <a:t>Skill </a:t>
                      </a:r>
                      <a:r>
                        <a:rPr lang="zh-CN" altLang="en-US" sz="1200"/>
                        <a:t>适配到相似领域</a:t>
                      </a:r>
                      <a:endParaRPr lang="zh-CN" altLang="en-US" sz="1200"/>
                    </a:p>
                  </a:txBody>
                  <a:tcPr marL="25400" marR="25400" marT="6350" marB="6350" anchor="ctr" anchorCtr="0"/>
                </a:tc>
                <a:tc>
                  <a:txBody>
                    <a:bodyPr/>
                    <a:p>
                      <a:pPr algn="l">
                        <a:lnSpc>
                          <a:spcPct val="120000"/>
                        </a:lnSpc>
                      </a:pPr>
                      <a:r>
                        <a:rPr lang="zh-CN" altLang="en-US" sz="1200"/>
                        <a:t>横向扩展 </a:t>
                      </a:r>
                      <a:r>
                        <a:rPr lang="en-US" altLang="zh-CN" sz="1200"/>
                        <a:t>Skill </a:t>
                      </a:r>
                      <a:r>
                        <a:rPr lang="zh-CN" altLang="en-US" sz="1200"/>
                        <a:t>覆盖范围</a:t>
                      </a:r>
                      <a:endParaRPr lang="zh-CN" altLang="en-US" sz="1200"/>
                    </a:p>
                  </a:txBody>
                  <a:tcPr marL="25400" marR="25400" marT="6350" marB="6350" anchor="ctr" anchorCtr="0"/>
                </a:tc>
              </a:tr>
              <a:tr h="236855">
                <a:tc>
                  <a:txBody>
                    <a:bodyPr/>
                    <a:p>
                      <a:pPr algn="ctr">
                        <a:lnSpc>
                          <a:spcPct val="120000"/>
                        </a:lnSpc>
                      </a:pPr>
                      <a:r>
                        <a:rPr lang="en-US" altLang="zh-CN" sz="1200"/>
                        <a:t>Agent </a:t>
                      </a:r>
                      <a:r>
                        <a:rPr lang="zh-CN" altLang="en-US" sz="1200"/>
                        <a:t>探索强化</a:t>
                      </a:r>
                      <a:endParaRPr lang="zh-CN" altLang="en-US" sz="1200"/>
                    </a:p>
                  </a:txBody>
                  <a:tcPr marL="25400" marR="25400" marT="6350" marB="6350" anchor="ctr" anchorCtr="0"/>
                </a:tc>
                <a:tc>
                  <a:txBody>
                    <a:bodyPr/>
                    <a:p>
                      <a:pPr algn="ctr">
                        <a:lnSpc>
                          <a:spcPct val="120000"/>
                        </a:lnSpc>
                      </a:pPr>
                      <a:r>
                        <a:rPr lang="zh-CN" altLang="en-US" sz="1200"/>
                        <a:t>基于环境反馈的强化学习</a:t>
                      </a:r>
                      <a:endParaRPr lang="zh-CN" altLang="en-US" sz="1200"/>
                    </a:p>
                  </a:txBody>
                  <a:tcPr marL="25400" marR="25400" marT="6350" marB="6350" anchor="ctr" anchorCtr="0"/>
                </a:tc>
                <a:tc>
                  <a:txBody>
                    <a:bodyPr/>
                    <a:p>
                      <a:pPr algn="l">
                        <a:lnSpc>
                          <a:spcPct val="120000"/>
                        </a:lnSpc>
                      </a:pPr>
                      <a:r>
                        <a:rPr lang="zh-CN" altLang="en-US" sz="1200"/>
                        <a:t>定义奖励函数，让模型反复尝试优化指令</a:t>
                      </a:r>
                      <a:endParaRPr lang="zh-CN" altLang="en-US" sz="1200"/>
                    </a:p>
                  </a:txBody>
                  <a:tcPr marL="25400" marR="25400" marT="6350" marB="6350" anchor="ctr" anchorCtr="0"/>
                </a:tc>
                <a:tc>
                  <a:txBody>
                    <a:bodyPr/>
                    <a:p>
                      <a:pPr algn="l">
                        <a:lnSpc>
                          <a:spcPct val="120000"/>
                        </a:lnSpc>
                      </a:pPr>
                      <a:r>
                        <a:rPr lang="zh-CN" altLang="en-US" sz="1200"/>
                        <a:t>代码生成、数学证明等有明确客观指标的任务</a:t>
                      </a:r>
                      <a:endParaRPr lang="zh-CN" altLang="en-US" sz="1200"/>
                    </a:p>
                  </a:txBody>
                  <a:tcPr marL="25400" marR="25400" marT="6350" marB="6350" anchor="ctr" anchorCtr="0"/>
                </a:tc>
              </a:tr>
              <a:tr h="238125">
                <a:tc>
                  <a:txBody>
                    <a:bodyPr/>
                    <a:p>
                      <a:pPr algn="ctr">
                        <a:lnSpc>
                          <a:spcPct val="120000"/>
                        </a:lnSpc>
                      </a:pPr>
                      <a:endParaRPr sz="1200"/>
                    </a:p>
                  </a:txBody>
                  <a:tcPr marL="25400" marR="25400" marT="6350" marB="6350" anchor="ctr" anchorCtr="0"/>
                </a:tc>
                <a:tc>
                  <a:txBody>
                    <a:bodyPr/>
                    <a:p>
                      <a:pPr algn="ctr">
                        <a:lnSpc>
                          <a:spcPct val="120000"/>
                        </a:lnSpc>
                      </a:pPr>
                      <a:r>
                        <a:rPr lang="zh-CN" altLang="en-US" sz="1200"/>
                        <a:t>多智能体协作进化</a:t>
                      </a:r>
                      <a:endParaRPr lang="zh-CN" altLang="en-US" sz="1200"/>
                    </a:p>
                  </a:txBody>
                  <a:tcPr marL="25400" marR="25400" marT="6350" marB="6350" anchor="ctr" anchorCtr="0"/>
                </a:tc>
                <a:tc>
                  <a:txBody>
                    <a:bodyPr/>
                    <a:p>
                      <a:pPr algn="l">
                        <a:lnSpc>
                          <a:spcPct val="120000"/>
                        </a:lnSpc>
                      </a:pPr>
                      <a:r>
                        <a:rPr lang="zh-CN" altLang="en-US" sz="1200"/>
                        <a:t>生成 </a:t>
                      </a:r>
                      <a:r>
                        <a:rPr lang="en-US" altLang="zh-CN" sz="1200"/>
                        <a:t>Skill </a:t>
                      </a:r>
                      <a:r>
                        <a:rPr lang="zh-CN" altLang="en-US" sz="1200"/>
                        <a:t>与测试批评两个模型循环改进</a:t>
                      </a:r>
                      <a:endParaRPr lang="zh-CN" altLang="en-US" sz="1200"/>
                    </a:p>
                  </a:txBody>
                  <a:tcPr marL="25400" marR="25400" marT="6350" marB="6350" anchor="ctr" anchorCtr="0"/>
                </a:tc>
                <a:tc>
                  <a:txBody>
                    <a:bodyPr/>
                    <a:p>
                      <a:pPr algn="l">
                        <a:lnSpc>
                          <a:spcPct val="120000"/>
                        </a:lnSpc>
                      </a:pPr>
                      <a:r>
                        <a:rPr lang="zh-CN" altLang="en-US" sz="1200"/>
                        <a:t>对质量要求极高的关键任务 </a:t>
                      </a:r>
                      <a:r>
                        <a:rPr lang="en-US" altLang="zh-CN" sz="1200"/>
                        <a:t>Skill</a:t>
                      </a:r>
                      <a:endParaRPr lang="en-US" altLang="zh-CN" sz="1200"/>
                    </a:p>
                  </a:txBody>
                  <a:tcPr marL="25400" marR="25400" marT="6350" marB="6350" anchor="ctr" anchorCtr="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AutoShape 3"/>
          <p:cNvSpPr/>
          <p:nvPr/>
        </p:nvSpPr>
        <p:spPr>
          <a:xfrm>
            <a:off x="666750" y="259715"/>
            <a:ext cx="1055941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做</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latex-report-generator</a:t>
            </a:r>
            <a:endPar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圆角矩形 2"/>
          <p:cNvSpPr/>
          <p:nvPr/>
        </p:nvSpPr>
        <p:spPr>
          <a:xfrm>
            <a:off x="921385" y="1067435"/>
            <a:ext cx="10217785" cy="520700"/>
          </a:xfrm>
          <a:prstGeom prst="roundRect">
            <a:avLst/>
          </a:prstGeom>
          <a:solidFill>
            <a:schemeClr val="tx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solidFill>
                  <a:schemeClr val="tx1"/>
                </a:solidFill>
              </a:rPr>
              <a:t>创建一个专门针对</a:t>
            </a:r>
            <a:r>
              <a:rPr lang="en-US" altLang="zh-CN" sz="1800">
                <a:solidFill>
                  <a:schemeClr val="tx1"/>
                </a:solidFill>
              </a:rPr>
              <a:t>LaTeX</a:t>
            </a:r>
            <a:r>
              <a:rPr lang="zh-CN" altLang="en-US" sz="1800">
                <a:solidFill>
                  <a:schemeClr val="tx1"/>
                </a:solidFill>
              </a:rPr>
              <a:t>报告生成</a:t>
            </a:r>
            <a:r>
              <a:rPr lang="en-US" altLang="zh-CN" sz="1800">
                <a:solidFill>
                  <a:schemeClr val="tx1"/>
                </a:solidFill>
              </a:rPr>
              <a:t>Skill，</a:t>
            </a:r>
            <a:r>
              <a:rPr lang="zh-CN" altLang="en-US" sz="1800">
                <a:solidFill>
                  <a:schemeClr val="tx1"/>
                </a:solidFill>
              </a:rPr>
              <a:t>把踩过的坑固化为检查规则。</a:t>
            </a:r>
            <a:endParaRPr lang="zh-CN" altLang="en-US" sz="1800">
              <a:solidFill>
                <a:schemeClr val="tx1"/>
              </a:solidFill>
            </a:endParaRPr>
          </a:p>
        </p:txBody>
      </p:sp>
      <p:sp>
        <p:nvSpPr>
          <p:cNvPr id="6" name="圆角矩形 5"/>
          <p:cNvSpPr/>
          <p:nvPr/>
        </p:nvSpPr>
        <p:spPr>
          <a:xfrm>
            <a:off x="921385" y="1822450"/>
            <a:ext cx="10217785" cy="520700"/>
          </a:xfrm>
          <a:prstGeom prst="roundRect">
            <a:avLst/>
          </a:prstGeom>
          <a:solidFill>
            <a:schemeClr val="tx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solidFill>
                  <a:schemeClr val="tx1"/>
                </a:solidFill>
              </a:rPr>
              <a:t>报告范例直接喂给</a:t>
            </a:r>
            <a:r>
              <a:rPr lang="en-US" altLang="zh-CN" sz="1800">
                <a:solidFill>
                  <a:schemeClr val="tx1"/>
                </a:solidFill>
              </a:rPr>
              <a:t>Claude</a:t>
            </a:r>
            <a:r>
              <a:rPr lang="zh-CN" altLang="en-US" sz="1800">
                <a:solidFill>
                  <a:schemeClr val="tx1"/>
                </a:solidFill>
              </a:rPr>
              <a:t>，让它学习生成基础</a:t>
            </a:r>
            <a:r>
              <a:rPr lang="en-US" altLang="zh-CN" sz="1800">
                <a:solidFill>
                  <a:schemeClr val="tx1"/>
                </a:solidFill>
              </a:rPr>
              <a:t>skill</a:t>
            </a:r>
            <a:endParaRPr lang="en-US" altLang="zh-CN" sz="1800">
              <a:solidFill>
                <a:schemeClr val="tx1"/>
              </a:solidFill>
            </a:endParaRPr>
          </a:p>
        </p:txBody>
      </p:sp>
      <p:sp>
        <p:nvSpPr>
          <p:cNvPr id="7" name="圆角矩形 6"/>
          <p:cNvSpPr/>
          <p:nvPr/>
        </p:nvSpPr>
        <p:spPr>
          <a:xfrm>
            <a:off x="921385" y="2629535"/>
            <a:ext cx="10217785" cy="520700"/>
          </a:xfrm>
          <a:prstGeom prst="roundRect">
            <a:avLst/>
          </a:prstGeom>
          <a:solidFill>
            <a:schemeClr val="tx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solidFill>
                  <a:schemeClr val="tx1"/>
                </a:solidFill>
              </a:rPr>
              <a:t>遇到问题：</a:t>
            </a:r>
            <a:r>
              <a:rPr lang="en-US" altLang="zh-CN" sz="1800">
                <a:solidFill>
                  <a:schemeClr val="tx1"/>
                </a:solidFill>
              </a:rPr>
              <a:t>Claude</a:t>
            </a:r>
            <a:r>
              <a:rPr lang="zh-CN" altLang="en-US" sz="1800">
                <a:solidFill>
                  <a:schemeClr val="tx1"/>
                </a:solidFill>
              </a:rPr>
              <a:t>无法直接或者说仅仅靠脚本很难读取</a:t>
            </a:r>
            <a:r>
              <a:rPr lang="en-US" altLang="zh-CN" sz="1800">
                <a:solidFill>
                  <a:schemeClr val="tx1"/>
                </a:solidFill>
              </a:rPr>
              <a:t>pdf</a:t>
            </a:r>
            <a:r>
              <a:rPr lang="zh-CN" altLang="en-US" sz="1800">
                <a:solidFill>
                  <a:schemeClr val="tx1"/>
                </a:solidFill>
              </a:rPr>
              <a:t>文件，而且还是加密</a:t>
            </a:r>
            <a:r>
              <a:rPr lang="en-US" altLang="zh-CN" sz="1800">
                <a:solidFill>
                  <a:schemeClr val="tx1"/>
                </a:solidFill>
              </a:rPr>
              <a:t>pdf</a:t>
            </a:r>
            <a:endParaRPr lang="en-US" altLang="zh-CN" sz="1800">
              <a:solidFill>
                <a:schemeClr val="tx1"/>
              </a:solidFill>
            </a:endParaRPr>
          </a:p>
        </p:txBody>
      </p:sp>
      <p:sp>
        <p:nvSpPr>
          <p:cNvPr id="8" name="下箭头 7"/>
          <p:cNvSpPr/>
          <p:nvPr/>
        </p:nvSpPr>
        <p:spPr>
          <a:xfrm>
            <a:off x="5887085" y="2245360"/>
            <a:ext cx="355600" cy="38227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921385" y="3436620"/>
            <a:ext cx="10217785" cy="520700"/>
          </a:xfrm>
          <a:prstGeom prst="roundRect">
            <a:avLst/>
          </a:prstGeom>
          <a:solidFill>
            <a:schemeClr val="tx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solidFill>
                  <a:schemeClr val="tx1"/>
                </a:solidFill>
              </a:rPr>
              <a:t>我们给</a:t>
            </a:r>
            <a:r>
              <a:rPr lang="en-US" altLang="zh-CN" sz="1800">
                <a:solidFill>
                  <a:schemeClr val="tx1"/>
                </a:solidFill>
              </a:rPr>
              <a:t>Claude</a:t>
            </a:r>
            <a:r>
              <a:rPr lang="zh-CN" altLang="en-US" sz="1800">
                <a:solidFill>
                  <a:schemeClr val="tx1"/>
                </a:solidFill>
              </a:rPr>
              <a:t>一个</a:t>
            </a:r>
            <a:r>
              <a:rPr lang="en-US" altLang="zh-CN" sz="1800">
                <a:solidFill>
                  <a:schemeClr val="tx1"/>
                </a:solidFill>
              </a:rPr>
              <a:t>skill:pdf</a:t>
            </a:r>
            <a:endParaRPr lang="en-US" altLang="zh-CN" sz="1800">
              <a:solidFill>
                <a:schemeClr val="tx1"/>
              </a:solidFill>
            </a:endParaRPr>
          </a:p>
        </p:txBody>
      </p:sp>
      <p:sp>
        <p:nvSpPr>
          <p:cNvPr id="10" name="下箭头 9"/>
          <p:cNvSpPr/>
          <p:nvPr/>
        </p:nvSpPr>
        <p:spPr>
          <a:xfrm>
            <a:off x="5939155" y="3150235"/>
            <a:ext cx="355600" cy="38227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图片 10"/>
          <p:cNvPicPr>
            <a:picLocks noChangeAspect="1"/>
          </p:cNvPicPr>
          <p:nvPr/>
        </p:nvPicPr>
        <p:blipFill>
          <a:blip r:embed="rId2"/>
          <a:srcRect t="21759" r="14738" b="39500"/>
          <a:stretch>
            <a:fillRect/>
          </a:stretch>
        </p:blipFill>
        <p:spPr>
          <a:xfrm>
            <a:off x="969010" y="4105275"/>
            <a:ext cx="9955530" cy="2656840"/>
          </a:xfrm>
          <a:prstGeom prst="rect">
            <a:avLst/>
          </a:prstGeom>
        </p:spPr>
      </p:pic>
      <p:sp>
        <p:nvSpPr>
          <p:cNvPr id="12" name="矩形 11"/>
          <p:cNvSpPr>
            <a:spLocks noChangeAspect="1"/>
          </p:cNvSpPr>
          <p:nvPr/>
        </p:nvSpPr>
        <p:spPr>
          <a:xfrm>
            <a:off x="3612515" y="6536055"/>
            <a:ext cx="1680210" cy="226060"/>
          </a:xfrm>
          <a:prstGeom prst="rect">
            <a:avLst/>
          </a:prstGeom>
          <a:noFill/>
          <a:ln w="53975">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AutoShape 3"/>
          <p:cNvSpPr/>
          <p:nvPr/>
        </p:nvSpPr>
        <p:spPr>
          <a:xfrm>
            <a:off x="666750" y="259715"/>
            <a:ext cx="1055941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做</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latex-report-generator</a:t>
            </a:r>
            <a:endPar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 name="图片 1"/>
          <p:cNvPicPr>
            <a:picLocks noChangeAspect="1"/>
          </p:cNvPicPr>
          <p:nvPr/>
        </p:nvPicPr>
        <p:blipFill>
          <a:blip r:embed="rId2"/>
          <a:srcRect r="23636" b="114"/>
          <a:stretch>
            <a:fillRect/>
          </a:stretch>
        </p:blipFill>
        <p:spPr>
          <a:xfrm>
            <a:off x="2915285" y="1128395"/>
            <a:ext cx="8510270" cy="710565"/>
          </a:xfrm>
          <a:prstGeom prst="rect">
            <a:avLst/>
          </a:prstGeom>
        </p:spPr>
      </p:pic>
      <p:sp>
        <p:nvSpPr>
          <p:cNvPr id="13" name="左弧形箭头 12"/>
          <p:cNvSpPr/>
          <p:nvPr/>
        </p:nvSpPr>
        <p:spPr>
          <a:xfrm>
            <a:off x="2386330" y="1206500"/>
            <a:ext cx="528955" cy="554355"/>
          </a:xfrm>
          <a:prstGeom prst="curvedRightArrow">
            <a:avLst/>
          </a:prstGeom>
          <a:solidFill>
            <a:schemeClr val="tx1">
              <a:lumMod val="65000"/>
              <a:lumOff val="3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4" name="文本框 13"/>
          <p:cNvSpPr txBox="1"/>
          <p:nvPr/>
        </p:nvSpPr>
        <p:spPr>
          <a:xfrm>
            <a:off x="650240" y="1238885"/>
            <a:ext cx="1736090" cy="583565"/>
          </a:xfrm>
          <a:prstGeom prst="rect">
            <a:avLst/>
          </a:prstGeom>
          <a:noFill/>
        </p:spPr>
        <p:txBody>
          <a:bodyPr wrap="square" rtlCol="0">
            <a:spAutoFit/>
          </a:bodyPr>
          <a:p>
            <a:r>
              <a:rPr lang="zh-CN" altLang="en-US" sz="1600">
                <a:ea typeface="宋体" panose="02010600030101010101" pitchFamily="2" charset="-122"/>
              </a:rPr>
              <a:t>解密并复制，方便团队后续使用</a:t>
            </a:r>
            <a:endParaRPr lang="zh-CN" altLang="en-US" sz="1600">
              <a:ea typeface="宋体" panose="02010600030101010101" pitchFamily="2" charset="-122"/>
            </a:endParaRPr>
          </a:p>
        </p:txBody>
      </p:sp>
      <p:sp>
        <p:nvSpPr>
          <p:cNvPr id="15" name="下箭头 14"/>
          <p:cNvSpPr/>
          <p:nvPr/>
        </p:nvSpPr>
        <p:spPr>
          <a:xfrm>
            <a:off x="4871085" y="1883410"/>
            <a:ext cx="443230" cy="49466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圆角矩形 15"/>
          <p:cNvSpPr/>
          <p:nvPr/>
        </p:nvSpPr>
        <p:spPr>
          <a:xfrm>
            <a:off x="3317240" y="2413000"/>
            <a:ext cx="3611245" cy="459740"/>
          </a:xfrm>
          <a:prstGeom prst="roundRect">
            <a:avLst/>
          </a:prstGeom>
          <a:solidFill>
            <a:schemeClr val="tx1">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solidFill>
                  <a:schemeClr val="tx1"/>
                </a:solidFill>
              </a:rPr>
              <a:t>生成</a:t>
            </a:r>
            <a:r>
              <a:rPr lang="en-US" altLang="zh-CN" sz="2000">
                <a:solidFill>
                  <a:schemeClr val="tx1"/>
                </a:solidFill>
              </a:rPr>
              <a:t>Skill</a:t>
            </a:r>
            <a:endParaRPr lang="en-US" altLang="zh-CN" sz="2000">
              <a:solidFill>
                <a:schemeClr val="tx1"/>
              </a:solidFill>
            </a:endParaRPr>
          </a:p>
        </p:txBody>
      </p:sp>
      <p:grpSp>
        <p:nvGrpSpPr>
          <p:cNvPr id="21" name="组合 20"/>
          <p:cNvGrpSpPr/>
          <p:nvPr/>
        </p:nvGrpSpPr>
        <p:grpSpPr>
          <a:xfrm>
            <a:off x="1143635" y="3204210"/>
            <a:ext cx="8582025" cy="765175"/>
            <a:chOff x="3362" y="4856"/>
            <a:chExt cx="10031" cy="712"/>
          </a:xfrm>
        </p:grpSpPr>
        <p:pic>
          <p:nvPicPr>
            <p:cNvPr id="18" name="图片 17"/>
            <p:cNvPicPr>
              <a:picLocks noChangeAspect="1"/>
            </p:cNvPicPr>
            <p:nvPr/>
          </p:nvPicPr>
          <p:blipFill>
            <a:blip r:embed="rId3"/>
            <a:stretch>
              <a:fillRect/>
            </a:stretch>
          </p:blipFill>
          <p:spPr>
            <a:xfrm>
              <a:off x="3362" y="4856"/>
              <a:ext cx="10031" cy="376"/>
            </a:xfrm>
            <a:prstGeom prst="rect">
              <a:avLst/>
            </a:prstGeom>
          </p:spPr>
        </p:pic>
        <p:pic>
          <p:nvPicPr>
            <p:cNvPr id="19" name="图片 18"/>
            <p:cNvPicPr>
              <a:picLocks noChangeAspect="1"/>
            </p:cNvPicPr>
            <p:nvPr/>
          </p:nvPicPr>
          <p:blipFill>
            <a:blip r:embed="rId4"/>
            <a:stretch>
              <a:fillRect/>
            </a:stretch>
          </p:blipFill>
          <p:spPr>
            <a:xfrm>
              <a:off x="4429" y="5232"/>
              <a:ext cx="8964" cy="336"/>
            </a:xfrm>
            <a:prstGeom prst="rect">
              <a:avLst/>
            </a:prstGeom>
          </p:spPr>
        </p:pic>
        <p:cxnSp>
          <p:nvCxnSpPr>
            <p:cNvPr id="20" name="肘形连接符 19"/>
            <p:cNvCxnSpPr/>
            <p:nvPr/>
          </p:nvCxnSpPr>
          <p:spPr>
            <a:xfrm>
              <a:off x="3926" y="5167"/>
              <a:ext cx="503" cy="233"/>
            </a:xfrm>
            <a:prstGeom prst="bentConnector3">
              <a:avLst>
                <a:gd name="adj1" fmla="val 50099"/>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grpSp>
      <p:sp>
        <p:nvSpPr>
          <p:cNvPr id="22" name="圆角矩形 21"/>
          <p:cNvSpPr/>
          <p:nvPr/>
        </p:nvSpPr>
        <p:spPr>
          <a:xfrm>
            <a:off x="666750" y="4518025"/>
            <a:ext cx="10397490" cy="565150"/>
          </a:xfrm>
          <a:prstGeom prst="roundRect">
            <a:avLst/>
          </a:prstGeom>
          <a:solidFill>
            <a:schemeClr val="tx1">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solidFill>
                  <a:schemeClr val="tx1"/>
                </a:solidFill>
              </a:rPr>
              <a:t>在当前目录下创建</a:t>
            </a:r>
            <a:r>
              <a:rPr lang="en-US" altLang="zh-CN" sz="2000">
                <a:solidFill>
                  <a:schemeClr val="tx1"/>
                </a:solidFill>
              </a:rPr>
              <a:t>.claude</a:t>
            </a:r>
            <a:r>
              <a:rPr lang="zh-CN" altLang="en-US" sz="2000">
                <a:solidFill>
                  <a:schemeClr val="tx1"/>
                </a:solidFill>
              </a:rPr>
              <a:t>，然后在</a:t>
            </a:r>
            <a:r>
              <a:rPr lang="en-US" altLang="zh-CN" sz="2000">
                <a:solidFill>
                  <a:schemeClr val="tx1"/>
                </a:solidFill>
              </a:rPr>
              <a:t>.claude</a:t>
            </a:r>
            <a:r>
              <a:rPr lang="zh-CN" altLang="en-US" sz="2000">
                <a:solidFill>
                  <a:schemeClr val="tx1"/>
                </a:solidFill>
              </a:rPr>
              <a:t>下创建</a:t>
            </a:r>
            <a:r>
              <a:rPr lang="en-US" altLang="zh-CN" sz="2000">
                <a:solidFill>
                  <a:schemeClr val="tx1"/>
                </a:solidFill>
              </a:rPr>
              <a:t>skills</a:t>
            </a:r>
            <a:r>
              <a:rPr lang="zh-CN" altLang="en-US" sz="2000">
                <a:solidFill>
                  <a:schemeClr val="tx1"/>
                </a:solidFill>
              </a:rPr>
              <a:t>目录，将技能以文件夹的形式放入</a:t>
            </a:r>
            <a:endParaRPr lang="en-US" altLang="zh-CN" sz="2000">
              <a:solidFill>
                <a:schemeClr val="tx1"/>
              </a:solidFill>
            </a:endParaRPr>
          </a:p>
        </p:txBody>
      </p:sp>
      <p:sp>
        <p:nvSpPr>
          <p:cNvPr id="23" name="下箭头 22"/>
          <p:cNvSpPr/>
          <p:nvPr/>
        </p:nvSpPr>
        <p:spPr>
          <a:xfrm>
            <a:off x="4901565" y="3966845"/>
            <a:ext cx="443230" cy="49466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4" name="图片 23"/>
          <p:cNvPicPr>
            <a:picLocks noChangeAspect="1"/>
          </p:cNvPicPr>
          <p:nvPr/>
        </p:nvPicPr>
        <p:blipFill>
          <a:blip r:embed="rId5"/>
          <a:stretch>
            <a:fillRect/>
          </a:stretch>
        </p:blipFill>
        <p:spPr>
          <a:xfrm>
            <a:off x="1143635" y="5201920"/>
            <a:ext cx="9920605" cy="321310"/>
          </a:xfrm>
          <a:prstGeom prst="rect">
            <a:avLst/>
          </a:prstGeom>
        </p:spPr>
      </p:pic>
      <p:pic>
        <p:nvPicPr>
          <p:cNvPr id="25" name="图片 24"/>
          <p:cNvPicPr>
            <a:picLocks noChangeAspect="1"/>
          </p:cNvPicPr>
          <p:nvPr/>
        </p:nvPicPr>
        <p:blipFill>
          <a:blip r:embed="rId6"/>
          <a:stretch>
            <a:fillRect/>
          </a:stretch>
        </p:blipFill>
        <p:spPr>
          <a:xfrm>
            <a:off x="2442210" y="5488940"/>
            <a:ext cx="8622030" cy="323215"/>
          </a:xfrm>
          <a:prstGeom prst="rect">
            <a:avLst/>
          </a:prstGeom>
        </p:spPr>
      </p:pic>
      <p:pic>
        <p:nvPicPr>
          <p:cNvPr id="26" name="图片 25"/>
          <p:cNvPicPr>
            <a:picLocks noChangeAspect="1"/>
          </p:cNvPicPr>
          <p:nvPr/>
        </p:nvPicPr>
        <p:blipFill>
          <a:blip r:embed="rId3"/>
          <a:stretch>
            <a:fillRect/>
          </a:stretch>
        </p:blipFill>
        <p:spPr>
          <a:xfrm>
            <a:off x="3288665" y="5755005"/>
            <a:ext cx="7775575" cy="291465"/>
          </a:xfrm>
          <a:prstGeom prst="rect">
            <a:avLst/>
          </a:prstGeom>
        </p:spPr>
      </p:pic>
      <p:cxnSp>
        <p:nvCxnSpPr>
          <p:cNvPr id="37" name="肘形连接符 36"/>
          <p:cNvCxnSpPr/>
          <p:nvPr/>
        </p:nvCxnSpPr>
        <p:spPr>
          <a:xfrm>
            <a:off x="1902460" y="5494655"/>
            <a:ext cx="494665" cy="156210"/>
          </a:xfrm>
          <a:prstGeom prst="bentConnector3">
            <a:avLst>
              <a:gd name="adj1" fmla="val 50064"/>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8" name="肘形连接符 37"/>
          <p:cNvCxnSpPr/>
          <p:nvPr/>
        </p:nvCxnSpPr>
        <p:spPr>
          <a:xfrm>
            <a:off x="2794000" y="5755005"/>
            <a:ext cx="494665" cy="156210"/>
          </a:xfrm>
          <a:prstGeom prst="bentConnector3">
            <a:avLst>
              <a:gd name="adj1" fmla="val 50064"/>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AutoShape 3"/>
          <p:cNvSpPr/>
          <p:nvPr/>
        </p:nvSpPr>
        <p:spPr>
          <a:xfrm>
            <a:off x="666750" y="259715"/>
            <a:ext cx="1055941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latex-report-generator</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内容示例</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 name="图片 2"/>
          <p:cNvPicPr>
            <a:picLocks noChangeAspect="1"/>
          </p:cNvPicPr>
          <p:nvPr/>
        </p:nvPicPr>
        <p:blipFill>
          <a:blip r:embed="rId2"/>
          <a:stretch>
            <a:fillRect/>
          </a:stretch>
        </p:blipFill>
        <p:spPr>
          <a:xfrm>
            <a:off x="666750" y="916305"/>
            <a:ext cx="5717540" cy="1425575"/>
          </a:xfrm>
          <a:prstGeom prst="rect">
            <a:avLst/>
          </a:prstGeom>
        </p:spPr>
      </p:pic>
      <p:pic>
        <p:nvPicPr>
          <p:cNvPr id="5" name="图片 4"/>
          <p:cNvPicPr>
            <a:picLocks noChangeAspect="1"/>
          </p:cNvPicPr>
          <p:nvPr/>
        </p:nvPicPr>
        <p:blipFill>
          <a:blip r:embed="rId3"/>
          <a:stretch>
            <a:fillRect/>
          </a:stretch>
        </p:blipFill>
        <p:spPr>
          <a:xfrm>
            <a:off x="666750" y="2490470"/>
            <a:ext cx="5716905" cy="2906395"/>
          </a:xfrm>
          <a:prstGeom prst="rect">
            <a:avLst/>
          </a:prstGeom>
        </p:spPr>
      </p:pic>
      <p:pic>
        <p:nvPicPr>
          <p:cNvPr id="6" name="图片 5"/>
          <p:cNvPicPr>
            <a:picLocks noChangeAspect="1"/>
          </p:cNvPicPr>
          <p:nvPr/>
        </p:nvPicPr>
        <p:blipFill>
          <a:blip r:embed="rId4"/>
          <a:stretch>
            <a:fillRect/>
          </a:stretch>
        </p:blipFill>
        <p:spPr>
          <a:xfrm>
            <a:off x="6835140" y="916305"/>
            <a:ext cx="5177790" cy="1894205"/>
          </a:xfrm>
          <a:prstGeom prst="rect">
            <a:avLst/>
          </a:prstGeom>
        </p:spPr>
      </p:pic>
      <p:pic>
        <p:nvPicPr>
          <p:cNvPr id="7" name="图片 6"/>
          <p:cNvPicPr>
            <a:picLocks noChangeAspect="1"/>
          </p:cNvPicPr>
          <p:nvPr/>
        </p:nvPicPr>
        <p:blipFill>
          <a:blip r:embed="rId5"/>
          <a:stretch>
            <a:fillRect/>
          </a:stretch>
        </p:blipFill>
        <p:spPr>
          <a:xfrm>
            <a:off x="6870700" y="2900045"/>
            <a:ext cx="5142230" cy="2435860"/>
          </a:xfrm>
          <a:prstGeom prst="rect">
            <a:avLst/>
          </a:prstGeom>
        </p:spPr>
      </p:pic>
      <p:sp>
        <p:nvSpPr>
          <p:cNvPr id="8" name="圆角矩形 7"/>
          <p:cNvSpPr/>
          <p:nvPr/>
        </p:nvSpPr>
        <p:spPr>
          <a:xfrm>
            <a:off x="1320800" y="5694045"/>
            <a:ext cx="9712960" cy="459740"/>
          </a:xfrm>
          <a:prstGeom prst="roundRect">
            <a:avLst/>
          </a:prstGeom>
          <a:solidFill>
            <a:schemeClr val="tx1">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solidFill>
                  <a:schemeClr val="tx1"/>
                </a:solidFill>
              </a:rPr>
              <a:t>可以看到该</a:t>
            </a:r>
            <a:r>
              <a:rPr lang="en-US" altLang="zh-CN" sz="2000">
                <a:solidFill>
                  <a:schemeClr val="tx1"/>
                </a:solidFill>
              </a:rPr>
              <a:t>skill</a:t>
            </a:r>
            <a:r>
              <a:rPr lang="zh-CN" altLang="en-US" sz="2000">
                <a:solidFill>
                  <a:schemeClr val="tx1"/>
                </a:solidFill>
              </a:rPr>
              <a:t>制定了详细的</a:t>
            </a:r>
            <a:r>
              <a:rPr lang="en-US" altLang="zh-CN" sz="2000">
                <a:solidFill>
                  <a:schemeClr val="tx1"/>
                </a:solidFill>
              </a:rPr>
              <a:t>”</a:t>
            </a:r>
            <a:r>
              <a:rPr lang="zh-CN" altLang="en-US" sz="2000">
                <a:solidFill>
                  <a:schemeClr val="tx1"/>
                </a:solidFill>
              </a:rPr>
              <a:t>规则</a:t>
            </a:r>
            <a:r>
              <a:rPr lang="en-US" altLang="zh-CN" sz="2000">
                <a:solidFill>
                  <a:schemeClr val="tx1"/>
                </a:solidFill>
              </a:rPr>
              <a:t>”Claude</a:t>
            </a:r>
            <a:r>
              <a:rPr lang="zh-CN" altLang="en-US" sz="2000">
                <a:solidFill>
                  <a:schemeClr val="tx1"/>
                </a:solidFill>
              </a:rPr>
              <a:t>去如何生成技术报告</a:t>
            </a:r>
            <a:endParaRPr lang="zh-CN" altLang="en-US" sz="200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AutoShape 3"/>
          <p:cNvSpPr/>
          <p:nvPr/>
        </p:nvSpPr>
        <p:spPr>
          <a:xfrm>
            <a:off x="666750" y="259715"/>
            <a:ext cx="1055941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如何使用</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latex-report-generator</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圆角矩形 7"/>
          <p:cNvSpPr/>
          <p:nvPr/>
        </p:nvSpPr>
        <p:spPr>
          <a:xfrm>
            <a:off x="878205" y="1049655"/>
            <a:ext cx="9712960" cy="459740"/>
          </a:xfrm>
          <a:prstGeom prst="roundRect">
            <a:avLst/>
          </a:prstGeom>
          <a:solidFill>
            <a:schemeClr val="tx1">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solidFill>
                  <a:schemeClr val="tx1"/>
                </a:solidFill>
              </a:rPr>
              <a:t>在对话框先查看技能是否加载成功</a:t>
            </a:r>
            <a:endParaRPr lang="zh-CN" altLang="en-US" sz="2000">
              <a:solidFill>
                <a:schemeClr val="tx1"/>
              </a:solidFill>
            </a:endParaRPr>
          </a:p>
        </p:txBody>
      </p:sp>
      <p:pic>
        <p:nvPicPr>
          <p:cNvPr id="2" name="图片 1"/>
          <p:cNvPicPr>
            <a:picLocks noChangeAspect="1"/>
          </p:cNvPicPr>
          <p:nvPr/>
        </p:nvPicPr>
        <p:blipFill>
          <a:blip r:embed="rId2"/>
          <a:stretch>
            <a:fillRect/>
          </a:stretch>
        </p:blipFill>
        <p:spPr>
          <a:xfrm>
            <a:off x="2658745" y="1791335"/>
            <a:ext cx="6574790" cy="4636135"/>
          </a:xfrm>
          <a:prstGeom prst="rect">
            <a:avLst/>
          </a:prstGeom>
        </p:spPr>
      </p:pic>
      <p:sp>
        <p:nvSpPr>
          <p:cNvPr id="9" name="矩形 8"/>
          <p:cNvSpPr/>
          <p:nvPr/>
        </p:nvSpPr>
        <p:spPr>
          <a:xfrm>
            <a:off x="2701290" y="4018915"/>
            <a:ext cx="1797050" cy="390525"/>
          </a:xfrm>
          <a:prstGeom prst="rect">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0" name="直接箭头连接符 9"/>
          <p:cNvCxnSpPr/>
          <p:nvPr/>
        </p:nvCxnSpPr>
        <p:spPr>
          <a:xfrm>
            <a:off x="1164590" y="3307080"/>
            <a:ext cx="1310640" cy="720090"/>
          </a:xfrm>
          <a:prstGeom prst="straightConnector1">
            <a:avLst/>
          </a:prstGeom>
          <a:ln w="7620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72390" y="2891155"/>
            <a:ext cx="2402840" cy="306705"/>
          </a:xfrm>
          <a:prstGeom prst="rect">
            <a:avLst/>
          </a:prstGeom>
          <a:noFill/>
        </p:spPr>
        <p:txBody>
          <a:bodyPr wrap="square" rtlCol="0">
            <a:spAutoFit/>
          </a:bodyPr>
          <a:p>
            <a:r>
              <a:rPr lang="zh-CN" altLang="en-US"/>
              <a:t>这个就是我们刚刚做的</a:t>
            </a:r>
            <a:r>
              <a:rPr lang="en-US" altLang="zh-CN"/>
              <a:t>skill</a:t>
            </a:r>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AutoShape 3"/>
          <p:cNvSpPr/>
          <p:nvPr/>
        </p:nvSpPr>
        <p:spPr>
          <a:xfrm>
            <a:off x="666750" y="259715"/>
            <a:ext cx="1055941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如何使用</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latex-report-generator</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圆角矩形 7"/>
          <p:cNvSpPr/>
          <p:nvPr/>
        </p:nvSpPr>
        <p:spPr>
          <a:xfrm>
            <a:off x="878205" y="1049655"/>
            <a:ext cx="9712960" cy="459740"/>
          </a:xfrm>
          <a:prstGeom prst="roundRect">
            <a:avLst/>
          </a:prstGeom>
          <a:solidFill>
            <a:schemeClr val="tx1">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solidFill>
                  <a:schemeClr val="tx1"/>
                </a:solidFill>
              </a:rPr>
              <a:t>加载成功后可以有两种使用方式</a:t>
            </a:r>
            <a:endParaRPr lang="zh-CN" altLang="en-US" sz="2000">
              <a:solidFill>
                <a:schemeClr val="tx1"/>
              </a:solidFill>
            </a:endParaRPr>
          </a:p>
        </p:txBody>
      </p:sp>
      <p:sp>
        <p:nvSpPr>
          <p:cNvPr id="3" name="圆角矩形 2"/>
          <p:cNvSpPr/>
          <p:nvPr/>
        </p:nvSpPr>
        <p:spPr>
          <a:xfrm>
            <a:off x="878205" y="1687830"/>
            <a:ext cx="9712960" cy="459740"/>
          </a:xfrm>
          <a:prstGeom prst="roundRect">
            <a:avLst/>
          </a:prstGeom>
          <a:solidFill>
            <a:schemeClr val="tx1">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solidFill>
                  <a:schemeClr val="tx1"/>
                </a:solidFill>
              </a:rPr>
              <a:t>一、</a:t>
            </a:r>
            <a:r>
              <a:rPr lang="en-US" altLang="zh-CN" sz="2000">
                <a:solidFill>
                  <a:schemeClr val="tx1"/>
                </a:solidFill>
              </a:rPr>
              <a:t>/</a:t>
            </a:r>
            <a:r>
              <a:rPr lang="zh-CN" altLang="en-US" sz="2000">
                <a:solidFill>
                  <a:schemeClr val="tx1"/>
                </a:solidFill>
              </a:rPr>
              <a:t>命令指定使用</a:t>
            </a:r>
            <a:endParaRPr lang="zh-CN" altLang="en-US" sz="2000">
              <a:solidFill>
                <a:schemeClr val="tx1"/>
              </a:solidFill>
            </a:endParaRPr>
          </a:p>
        </p:txBody>
      </p:sp>
      <p:pic>
        <p:nvPicPr>
          <p:cNvPr id="5" name="图片 4"/>
          <p:cNvPicPr>
            <a:picLocks noChangeAspect="1"/>
          </p:cNvPicPr>
          <p:nvPr/>
        </p:nvPicPr>
        <p:blipFill>
          <a:blip r:embed="rId2"/>
          <a:stretch>
            <a:fillRect/>
          </a:stretch>
        </p:blipFill>
        <p:spPr>
          <a:xfrm>
            <a:off x="2118995" y="2326005"/>
            <a:ext cx="7954010" cy="1050290"/>
          </a:xfrm>
          <a:prstGeom prst="rect">
            <a:avLst/>
          </a:prstGeom>
        </p:spPr>
      </p:pic>
      <p:sp>
        <p:nvSpPr>
          <p:cNvPr id="6" name="圆角矩形 5"/>
          <p:cNvSpPr/>
          <p:nvPr/>
        </p:nvSpPr>
        <p:spPr>
          <a:xfrm>
            <a:off x="878205" y="3684270"/>
            <a:ext cx="9712960" cy="459740"/>
          </a:xfrm>
          <a:prstGeom prst="roundRect">
            <a:avLst/>
          </a:prstGeom>
          <a:solidFill>
            <a:schemeClr val="tx1">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solidFill>
                  <a:schemeClr val="tx1"/>
                </a:solidFill>
              </a:rPr>
              <a:t>二、直接说根据某些内容制作技</a:t>
            </a:r>
            <a:r>
              <a:rPr lang="en-US" altLang="zh-CN" sz="2000">
                <a:solidFill>
                  <a:schemeClr val="tx1"/>
                </a:solidFill>
              </a:rPr>
              <a:t>Latex</a:t>
            </a:r>
            <a:r>
              <a:rPr lang="zh-CN" altLang="en-US" sz="2000">
                <a:solidFill>
                  <a:schemeClr val="tx1"/>
                </a:solidFill>
              </a:rPr>
              <a:t>技术报告，它会自动加载合适的</a:t>
            </a:r>
            <a:r>
              <a:rPr lang="en-US" altLang="zh-CN" sz="2000">
                <a:solidFill>
                  <a:schemeClr val="tx1"/>
                </a:solidFill>
              </a:rPr>
              <a:t>skill</a:t>
            </a:r>
            <a:endParaRPr lang="en-US" altLang="zh-CN" sz="2000">
              <a:solidFill>
                <a:schemeClr val="tx1"/>
              </a:solidFill>
            </a:endParaRPr>
          </a:p>
        </p:txBody>
      </p:sp>
      <p:pic>
        <p:nvPicPr>
          <p:cNvPr id="7" name="图片 6"/>
          <p:cNvPicPr>
            <a:picLocks noChangeAspect="1"/>
          </p:cNvPicPr>
          <p:nvPr/>
        </p:nvPicPr>
        <p:blipFill>
          <a:blip r:embed="rId3"/>
          <a:srcRect t="51998"/>
          <a:stretch>
            <a:fillRect/>
          </a:stretch>
        </p:blipFill>
        <p:spPr>
          <a:xfrm>
            <a:off x="878205" y="5629910"/>
            <a:ext cx="10614660" cy="976630"/>
          </a:xfrm>
          <a:prstGeom prst="rect">
            <a:avLst/>
          </a:prstGeom>
        </p:spPr>
      </p:pic>
      <p:pic>
        <p:nvPicPr>
          <p:cNvPr id="12" name="图片 11"/>
          <p:cNvPicPr>
            <a:picLocks noChangeAspect="1"/>
          </p:cNvPicPr>
          <p:nvPr/>
        </p:nvPicPr>
        <p:blipFill>
          <a:blip r:embed="rId4"/>
          <a:stretch>
            <a:fillRect/>
          </a:stretch>
        </p:blipFill>
        <p:spPr>
          <a:xfrm>
            <a:off x="878205" y="4378325"/>
            <a:ext cx="3937635" cy="1017270"/>
          </a:xfrm>
          <a:prstGeom prst="rect">
            <a:avLst/>
          </a:prstGeom>
        </p:spPr>
      </p:pic>
      <p:sp>
        <p:nvSpPr>
          <p:cNvPr id="13" name="右箭头 12"/>
          <p:cNvSpPr/>
          <p:nvPr/>
        </p:nvSpPr>
        <p:spPr>
          <a:xfrm>
            <a:off x="4862830" y="4712970"/>
            <a:ext cx="833120" cy="3473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5930265" y="4451985"/>
            <a:ext cx="4740275" cy="749300"/>
          </a:xfrm>
          <a:prstGeom prst="rect">
            <a:avLst/>
          </a:prstGeom>
          <a:noFill/>
        </p:spPr>
        <p:txBody>
          <a:bodyPr wrap="square" rtlCol="0" anchor="ctr" anchorCtr="0">
            <a:noAutofit/>
          </a:bodyPr>
          <a:p>
            <a:pPr algn="l"/>
            <a:r>
              <a:rPr lang="zh-CN" altLang="en-US" sz="2400">
                <a:ea typeface="宋体" panose="02010600030101010101" pitchFamily="2" charset="-122"/>
              </a:rPr>
              <a:t>这是我发出去的任务（甚至没有加</a:t>
            </a:r>
            <a:r>
              <a:rPr lang="en-US" altLang="zh-CN" sz="2400">
                <a:ea typeface="宋体" panose="02010600030101010101" pitchFamily="2" charset="-122"/>
              </a:rPr>
              <a:t>Latex</a:t>
            </a:r>
            <a:r>
              <a:rPr lang="zh-CN" altLang="en-US" sz="2400">
                <a:ea typeface="宋体" panose="02010600030101010101" pitchFamily="2" charset="-122"/>
              </a:rPr>
              <a:t>来写）</a:t>
            </a:r>
            <a:endParaRPr lang="zh-CN" altLang="en-US" sz="2400">
              <a:ea typeface="宋体" panose="02010600030101010101" pitchFamily="2" charset="-122"/>
            </a:endParaRPr>
          </a:p>
        </p:txBody>
      </p:sp>
      <p:sp>
        <p:nvSpPr>
          <p:cNvPr id="15" name="矩形 14"/>
          <p:cNvSpPr/>
          <p:nvPr/>
        </p:nvSpPr>
        <p:spPr>
          <a:xfrm>
            <a:off x="661035" y="6136640"/>
            <a:ext cx="2526030" cy="503555"/>
          </a:xfrm>
          <a:prstGeom prst="rect">
            <a:avLst/>
          </a:prstGeom>
          <a:noFill/>
          <a:ln w="60325">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右箭头 15"/>
          <p:cNvSpPr/>
          <p:nvPr/>
        </p:nvSpPr>
        <p:spPr>
          <a:xfrm>
            <a:off x="3394710" y="6195060"/>
            <a:ext cx="1368425" cy="41148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框 16"/>
          <p:cNvSpPr txBox="1"/>
          <p:nvPr/>
        </p:nvSpPr>
        <p:spPr>
          <a:xfrm>
            <a:off x="4862830" y="6185535"/>
            <a:ext cx="3055620" cy="420370"/>
          </a:xfrm>
          <a:prstGeom prst="rect">
            <a:avLst/>
          </a:prstGeom>
          <a:noFill/>
        </p:spPr>
        <p:txBody>
          <a:bodyPr wrap="square" rtlCol="0">
            <a:noAutofit/>
          </a:bodyPr>
          <a:p>
            <a:r>
              <a:rPr lang="zh-CN" altLang="en-US" sz="1800">
                <a:solidFill>
                  <a:srgbClr val="C00000"/>
                </a:solidFill>
                <a:ea typeface="宋体" panose="02010600030101010101" pitchFamily="2" charset="-122"/>
              </a:rPr>
              <a:t>这里调用了合适的</a:t>
            </a:r>
            <a:r>
              <a:rPr lang="en-US" altLang="zh-CN" sz="1800">
                <a:solidFill>
                  <a:srgbClr val="C00000"/>
                </a:solidFill>
                <a:ea typeface="宋体" panose="02010600030101010101" pitchFamily="2" charset="-122"/>
              </a:rPr>
              <a:t>skill</a:t>
            </a:r>
            <a:r>
              <a:rPr lang="zh-CN" altLang="en-US" sz="1800">
                <a:solidFill>
                  <a:srgbClr val="C00000"/>
                </a:solidFill>
                <a:ea typeface="宋体" panose="02010600030101010101" pitchFamily="2" charset="-122"/>
              </a:rPr>
              <a:t>了</a:t>
            </a:r>
            <a:endParaRPr lang="zh-CN" altLang="en-US" sz="1800">
              <a:solidFill>
                <a:srgbClr val="C00000"/>
              </a:solidFill>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AutoShape 3"/>
          <p:cNvSpPr/>
          <p:nvPr/>
        </p:nvSpPr>
        <p:spPr>
          <a:xfrm>
            <a:off x="666750" y="259715"/>
            <a:ext cx="1055941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latex-report-generator</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对简单提示词进行报告生成结果</a:t>
            </a:r>
            <a:endPar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 name="图片 1"/>
          <p:cNvPicPr>
            <a:picLocks noChangeAspect="1"/>
          </p:cNvPicPr>
          <p:nvPr/>
        </p:nvPicPr>
        <p:blipFill>
          <a:blip r:embed="rId2"/>
          <a:srcRect r="59134"/>
          <a:stretch>
            <a:fillRect/>
          </a:stretch>
        </p:blipFill>
        <p:spPr>
          <a:xfrm>
            <a:off x="728980" y="1045210"/>
            <a:ext cx="2809875" cy="3667760"/>
          </a:xfrm>
          <a:prstGeom prst="rect">
            <a:avLst/>
          </a:prstGeom>
        </p:spPr>
      </p:pic>
      <p:pic>
        <p:nvPicPr>
          <p:cNvPr id="9" name="图片 8"/>
          <p:cNvPicPr>
            <a:picLocks noChangeAspect="1"/>
          </p:cNvPicPr>
          <p:nvPr/>
        </p:nvPicPr>
        <p:blipFill>
          <a:blip r:embed="rId3"/>
          <a:stretch>
            <a:fillRect/>
          </a:stretch>
        </p:blipFill>
        <p:spPr>
          <a:xfrm>
            <a:off x="4060825" y="1045210"/>
            <a:ext cx="2731770" cy="3667760"/>
          </a:xfrm>
          <a:prstGeom prst="rect">
            <a:avLst/>
          </a:prstGeom>
        </p:spPr>
      </p:pic>
      <p:pic>
        <p:nvPicPr>
          <p:cNvPr id="10" name="图片 9"/>
          <p:cNvPicPr>
            <a:picLocks noChangeAspect="1"/>
          </p:cNvPicPr>
          <p:nvPr/>
        </p:nvPicPr>
        <p:blipFill>
          <a:blip r:embed="rId4"/>
          <a:stretch>
            <a:fillRect/>
          </a:stretch>
        </p:blipFill>
        <p:spPr>
          <a:xfrm>
            <a:off x="7566660" y="1045210"/>
            <a:ext cx="3787140" cy="3604260"/>
          </a:xfrm>
          <a:prstGeom prst="rect">
            <a:avLst/>
          </a:prstGeom>
        </p:spPr>
      </p:pic>
      <p:pic>
        <p:nvPicPr>
          <p:cNvPr id="11" name="图片 10"/>
          <p:cNvPicPr>
            <a:picLocks noChangeAspect="1"/>
          </p:cNvPicPr>
          <p:nvPr/>
        </p:nvPicPr>
        <p:blipFill>
          <a:blip r:embed="rId5"/>
          <a:stretch>
            <a:fillRect/>
          </a:stretch>
        </p:blipFill>
        <p:spPr>
          <a:xfrm>
            <a:off x="728980" y="4851400"/>
            <a:ext cx="3202940" cy="1794510"/>
          </a:xfrm>
          <a:prstGeom prst="rect">
            <a:avLst/>
          </a:prstGeom>
        </p:spPr>
      </p:pic>
      <p:pic>
        <p:nvPicPr>
          <p:cNvPr id="18" name="图片 17"/>
          <p:cNvPicPr>
            <a:picLocks noChangeAspect="1"/>
          </p:cNvPicPr>
          <p:nvPr/>
        </p:nvPicPr>
        <p:blipFill>
          <a:blip r:embed="rId6"/>
          <a:stretch>
            <a:fillRect/>
          </a:stretch>
        </p:blipFill>
        <p:spPr>
          <a:xfrm>
            <a:off x="7301865" y="5193030"/>
            <a:ext cx="3924300" cy="937260"/>
          </a:xfrm>
          <a:prstGeom prst="rect">
            <a:avLst/>
          </a:prstGeom>
        </p:spPr>
      </p:pic>
      <p:sp>
        <p:nvSpPr>
          <p:cNvPr id="19" name="文本框 18"/>
          <p:cNvSpPr txBox="1"/>
          <p:nvPr/>
        </p:nvSpPr>
        <p:spPr>
          <a:xfrm>
            <a:off x="4248785" y="4992370"/>
            <a:ext cx="2891155" cy="1322070"/>
          </a:xfrm>
          <a:prstGeom prst="rect">
            <a:avLst/>
          </a:prstGeom>
          <a:noFill/>
        </p:spPr>
        <p:txBody>
          <a:bodyPr wrap="square" rtlCol="0">
            <a:spAutoFit/>
          </a:bodyPr>
          <a:p>
            <a:r>
              <a:rPr lang="zh-CN" altLang="en-US" sz="2000"/>
              <a:t>可以看出已经很完整的使用了简单提示词所做的结果进行了非常接近范例的技术报告了</a:t>
            </a:r>
            <a:endParaRPr lang="zh-CN" altLang="en-US"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AutoShape 4"/>
          <p:cNvSpPr/>
          <p:nvPr/>
        </p:nvSpPr>
        <p:spPr>
          <a:xfrm>
            <a:off x="0" y="3048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板块四、</a:t>
            </a:r>
            <a:r>
              <a:rPr lang="en-US" altLang="zh-CN"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a:t>
            </a:r>
            <a:r>
              <a:rPr lang="zh-CN" alt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搜索、优化与自动生成</a:t>
            </a:r>
            <a:endParaRPr lang="zh-CN" alt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635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搜索</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圆角矩形 31"/>
          <p:cNvSpPr/>
          <p:nvPr/>
        </p:nvSpPr>
        <p:spPr>
          <a:xfrm>
            <a:off x="869315" y="1275715"/>
            <a:ext cx="10772140" cy="1033780"/>
          </a:xfrm>
          <a:prstGeom prst="roundRect">
            <a:avLst/>
          </a:prstGeom>
          <a:solidFill>
            <a:schemeClr val="tx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l"/>
            <a:r>
              <a:rPr lang="zh-CN" altLang="en-US" sz="1800">
                <a:solidFill>
                  <a:schemeClr val="tx1"/>
                </a:solidFill>
              </a:rPr>
              <a:t>搜索思路很简单我们需要做什么：</a:t>
            </a:r>
            <a:r>
              <a:rPr lang="en-US" altLang="zh-CN" sz="1800">
                <a:solidFill>
                  <a:schemeClr val="tx1"/>
                </a:solidFill>
              </a:rPr>
              <a:t>1.</a:t>
            </a:r>
            <a:r>
              <a:rPr lang="zh-CN" altLang="en-US" sz="1800">
                <a:solidFill>
                  <a:schemeClr val="tx1"/>
                </a:solidFill>
              </a:rPr>
              <a:t>数据分析，</a:t>
            </a:r>
            <a:r>
              <a:rPr lang="en-US" altLang="zh-CN" sz="1800">
                <a:solidFill>
                  <a:schemeClr val="tx1"/>
                </a:solidFill>
              </a:rPr>
              <a:t>2.</a:t>
            </a:r>
            <a:r>
              <a:rPr lang="zh-CN" altLang="en-US" sz="1800">
                <a:solidFill>
                  <a:schemeClr val="tx1"/>
                </a:solidFill>
              </a:rPr>
              <a:t>论文编写；在任务文档已有的都足够使用了。</a:t>
            </a:r>
            <a:endParaRPr lang="zh-CN" altLang="en-US" sz="1800">
              <a:solidFill>
                <a:schemeClr val="tx1"/>
              </a:solidFill>
            </a:endParaRPr>
          </a:p>
          <a:p>
            <a:pPr algn="l"/>
            <a:r>
              <a:rPr lang="zh-CN" altLang="en-US" sz="1800">
                <a:solidFill>
                  <a:schemeClr val="tx1"/>
                </a:solidFill>
                <a:sym typeface="+mn-ea"/>
              </a:rPr>
              <a:t>数据分析又有很多流程这些流程又可以每个都需要专门的</a:t>
            </a:r>
            <a:r>
              <a:rPr lang="en-US" altLang="zh-CN" sz="1800">
                <a:solidFill>
                  <a:schemeClr val="tx1"/>
                </a:solidFill>
                <a:sym typeface="+mn-ea"/>
              </a:rPr>
              <a:t>SKill</a:t>
            </a:r>
            <a:r>
              <a:rPr lang="zh-CN" altLang="en-US" sz="1800">
                <a:solidFill>
                  <a:schemeClr val="tx1"/>
                </a:solidFill>
                <a:sym typeface="+mn-ea"/>
              </a:rPr>
              <a:t>。</a:t>
            </a:r>
            <a:endParaRPr lang="zh-CN" altLang="en-US" sz="1800">
              <a:solidFill>
                <a:schemeClr val="tx1"/>
              </a:solidFill>
              <a:sym typeface="+mn-ea"/>
            </a:endParaRPr>
          </a:p>
        </p:txBody>
      </p:sp>
      <p:pic>
        <p:nvPicPr>
          <p:cNvPr id="38" name="图片 37"/>
          <p:cNvPicPr>
            <a:picLocks noChangeAspect="1"/>
          </p:cNvPicPr>
          <p:nvPr/>
        </p:nvPicPr>
        <p:blipFill>
          <a:blip r:embed="rId2"/>
          <a:stretch>
            <a:fillRect/>
          </a:stretch>
        </p:blipFill>
        <p:spPr>
          <a:xfrm>
            <a:off x="869315" y="2780665"/>
            <a:ext cx="9508490" cy="2684780"/>
          </a:xfrm>
          <a:prstGeom prst="rect">
            <a:avLst/>
          </a:prstGeom>
        </p:spPr>
      </p:pic>
      <p:sp>
        <p:nvSpPr>
          <p:cNvPr id="39" name="文本框 38"/>
          <p:cNvSpPr txBox="1"/>
          <p:nvPr/>
        </p:nvSpPr>
        <p:spPr>
          <a:xfrm>
            <a:off x="3308350" y="3169285"/>
            <a:ext cx="3550920" cy="460375"/>
          </a:xfrm>
          <a:prstGeom prst="rect">
            <a:avLst/>
          </a:prstGeom>
          <a:noFill/>
        </p:spPr>
        <p:txBody>
          <a:bodyPr wrap="square" rtlCol="0">
            <a:spAutoFit/>
          </a:bodyPr>
          <a:p>
            <a:r>
              <a:rPr lang="zh-CN" altLang="en-US" sz="2400">
                <a:solidFill>
                  <a:schemeClr val="tx2"/>
                </a:solidFill>
                <a:ea typeface="宋体" panose="02010600030101010101" pitchFamily="2" charset="-122"/>
              </a:rPr>
              <a:t>下载网址示例</a:t>
            </a:r>
            <a:endParaRPr lang="zh-CN" altLang="en-US" sz="2400">
              <a:solidFill>
                <a:schemeClr val="tx2"/>
              </a:solidFill>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635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使用的非自创</a:t>
            </a:r>
            <a:r>
              <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a:t>
            </a:r>
            <a:endParaRPr lang="en-US" altLang="zh-CN"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aphicFrame>
        <p:nvGraphicFramePr>
          <p:cNvPr id="2" name="表格 1"/>
          <p:cNvGraphicFramePr/>
          <p:nvPr/>
        </p:nvGraphicFramePr>
        <p:xfrm>
          <a:off x="739140" y="1510250"/>
          <a:ext cx="10713720" cy="4495800"/>
        </p:xfrm>
        <a:graphic>
          <a:graphicData uri="http://schemas.openxmlformats.org/drawingml/2006/table">
            <a:tbl>
              <a:tblPr firstRow="1" bandRow="1">
                <a:tableStyleId>{DFC13FD9-167A-4353-B71E-7E4C216633CE}</a:tableStyleId>
              </a:tblPr>
              <a:tblGrid>
                <a:gridCol w="2581275"/>
                <a:gridCol w="1784985"/>
                <a:gridCol w="1574800"/>
                <a:gridCol w="4772660"/>
              </a:tblGrid>
              <a:tr h="784225">
                <a:tc>
                  <a:txBody>
                    <a:bodyPr/>
                    <a:p>
                      <a:pPr algn="ctr">
                        <a:lnSpc>
                          <a:spcPct val="120000"/>
                        </a:lnSpc>
                      </a:pPr>
                      <a:r>
                        <a:rPr lang="en-US" altLang="zh-CN" sz="1800" spc="130"/>
                        <a:t>Skill</a:t>
                      </a:r>
                      <a:r>
                        <a:rPr lang="zh-CN" altLang="en-US" sz="1800" spc="130"/>
                        <a:t>名称</a:t>
                      </a:r>
                      <a:endParaRPr lang="zh-CN" altLang="en-US" sz="1800" spc="130"/>
                    </a:p>
                  </a:txBody>
                  <a:tcPr marL="254000" marR="254000" marT="177800" marB="177800" anchor="ctr" anchorCtr="0"/>
                </a:tc>
                <a:tc>
                  <a:txBody>
                    <a:bodyPr/>
                    <a:p>
                      <a:pPr algn="ctr">
                        <a:lnSpc>
                          <a:spcPct val="120000"/>
                        </a:lnSpc>
                      </a:pPr>
                      <a:r>
                        <a:rPr lang="zh-CN" altLang="en-US" sz="1800" spc="130"/>
                        <a:t>使用阶段</a:t>
                      </a:r>
                      <a:endParaRPr lang="zh-CN" altLang="en-US" sz="1800" spc="130"/>
                    </a:p>
                  </a:txBody>
                  <a:tcPr marL="254000" marR="254000" marT="177800" marB="177800" anchor="ctr" anchorCtr="0"/>
                </a:tc>
                <a:tc>
                  <a:txBody>
                    <a:bodyPr/>
                    <a:p>
                      <a:pPr algn="ctr">
                        <a:lnSpc>
                          <a:spcPct val="120000"/>
                        </a:lnSpc>
                      </a:pPr>
                      <a:r>
                        <a:rPr lang="zh-CN" altLang="en-US" sz="1800" spc="130"/>
                        <a:t>调用次数</a:t>
                      </a:r>
                      <a:endParaRPr lang="zh-CN" altLang="en-US" sz="1800" spc="130"/>
                    </a:p>
                  </a:txBody>
                  <a:tcPr marL="254000" marR="254000" marT="177800" marB="177800" anchor="ctr" anchorCtr="0"/>
                </a:tc>
                <a:tc>
                  <a:txBody>
                    <a:bodyPr/>
                    <a:p>
                      <a:pPr algn="l">
                        <a:lnSpc>
                          <a:spcPct val="120000"/>
                        </a:lnSpc>
                      </a:pPr>
                      <a:r>
                        <a:rPr lang="zh-CN" altLang="en-US" sz="1800" spc="130"/>
                        <a:t>核心作用</a:t>
                      </a:r>
                      <a:endParaRPr lang="zh-CN" altLang="en-US" sz="1800" spc="130"/>
                    </a:p>
                  </a:txBody>
                  <a:tcPr marL="254000" marR="254000" marT="177800" marB="177800" anchor="ctr" anchorCtr="0"/>
                </a:tc>
              </a:tr>
              <a:tr h="742315">
                <a:tc>
                  <a:txBody>
                    <a:bodyPr/>
                    <a:p>
                      <a:pPr algn="ctr">
                        <a:lnSpc>
                          <a:spcPct val="120000"/>
                        </a:lnSpc>
                      </a:pPr>
                      <a:r>
                        <a:rPr lang="en-US" altLang="zh-CN" sz="1600"/>
                        <a:t>data-analyst-prompter</a:t>
                      </a:r>
                      <a:endParaRPr lang="en-US" altLang="zh-CN" sz="1600"/>
                    </a:p>
                  </a:txBody>
                  <a:tcPr marL="254000" marR="254000" marT="177800" marB="177800" anchor="ctr" anchorCtr="0"/>
                </a:tc>
                <a:tc>
                  <a:txBody>
                    <a:bodyPr/>
                    <a:p>
                      <a:pPr algn="ctr">
                        <a:lnSpc>
                          <a:spcPct val="120000"/>
                        </a:lnSpc>
                      </a:pPr>
                      <a:r>
                        <a:rPr lang="zh-CN" altLang="en-US" sz="1600"/>
                        <a:t>数据预处理</a:t>
                      </a:r>
                      <a:endParaRPr lang="zh-CN" altLang="en-US" sz="1600"/>
                    </a:p>
                  </a:txBody>
                  <a:tcPr marL="254000" marR="254000" marT="177800" marB="177800" anchor="ctr" anchorCtr="0"/>
                </a:tc>
                <a:tc>
                  <a:txBody>
                    <a:bodyPr/>
                    <a:p>
                      <a:pPr algn="ctr">
                        <a:lnSpc>
                          <a:spcPct val="120000"/>
                        </a:lnSpc>
                      </a:pPr>
                      <a:r>
                        <a:rPr lang="en-US" altLang="zh-CN" sz="1600"/>
                        <a:t>1</a:t>
                      </a:r>
                      <a:r>
                        <a:rPr lang="zh-CN" altLang="en-US" sz="1600"/>
                        <a:t>次</a:t>
                      </a:r>
                      <a:endParaRPr lang="zh-CN" altLang="en-US" sz="1600"/>
                    </a:p>
                  </a:txBody>
                  <a:tcPr marL="254000" marR="254000" marT="177800" marB="177800" anchor="ctr" anchorCtr="0"/>
                </a:tc>
                <a:tc>
                  <a:txBody>
                    <a:bodyPr/>
                    <a:p>
                      <a:pPr algn="l">
                        <a:lnSpc>
                          <a:spcPct val="120000"/>
                        </a:lnSpc>
                      </a:pPr>
                      <a:r>
                        <a:rPr lang="en-US" altLang="zh-CN" sz="1600"/>
                        <a:t>EDA</a:t>
                      </a:r>
                      <a:r>
                        <a:rPr lang="zh-CN" altLang="en-US" sz="1600"/>
                        <a:t>优先方法、</a:t>
                      </a:r>
                      <a:r>
                        <a:rPr lang="en-US" altLang="zh-CN" sz="1600"/>
                        <a:t>Schema</a:t>
                      </a:r>
                      <a:r>
                        <a:rPr lang="zh-CN" altLang="en-US" sz="1600"/>
                        <a:t>注入、假设验证框架</a:t>
                      </a:r>
                      <a:endParaRPr lang="zh-CN" altLang="en-US" sz="1600"/>
                    </a:p>
                  </a:txBody>
                  <a:tcPr marL="254000" marR="254000" marT="177800" marB="177800" anchor="ctr" anchorCtr="0"/>
                </a:tc>
              </a:tr>
              <a:tr h="742315">
                <a:tc>
                  <a:txBody>
                    <a:bodyPr/>
                    <a:p>
                      <a:pPr algn="ctr">
                        <a:lnSpc>
                          <a:spcPct val="120000"/>
                        </a:lnSpc>
                      </a:pPr>
                      <a:r>
                        <a:rPr lang="en-US" altLang="zh-CN" sz="1600"/>
                        <a:t>math-modeling</a:t>
                      </a:r>
                      <a:endParaRPr lang="en-US" altLang="zh-CN" sz="1600"/>
                    </a:p>
                  </a:txBody>
                  <a:tcPr marL="254000" marR="254000" marT="177800" marB="177800" anchor="ctr" anchorCtr="0"/>
                </a:tc>
                <a:tc>
                  <a:txBody>
                    <a:bodyPr/>
                    <a:p>
                      <a:pPr algn="ctr">
                        <a:lnSpc>
                          <a:spcPct val="120000"/>
                        </a:lnSpc>
                      </a:pPr>
                      <a:r>
                        <a:rPr lang="zh-CN" altLang="en-US" sz="1600"/>
                        <a:t>问题一</a:t>
                      </a:r>
                      <a:r>
                        <a:rPr lang="en-US" altLang="zh-CN" sz="1600"/>
                        <a:t>~</a:t>
                      </a:r>
                      <a:r>
                        <a:rPr lang="zh-CN" altLang="en-US" sz="1600"/>
                        <a:t>四</a:t>
                      </a:r>
                      <a:endParaRPr lang="zh-CN" altLang="en-US" sz="1600"/>
                    </a:p>
                  </a:txBody>
                  <a:tcPr marL="254000" marR="254000" marT="177800" marB="177800" anchor="ctr" anchorCtr="0"/>
                </a:tc>
                <a:tc>
                  <a:txBody>
                    <a:bodyPr/>
                    <a:p>
                      <a:pPr algn="ctr">
                        <a:lnSpc>
                          <a:spcPct val="120000"/>
                        </a:lnSpc>
                      </a:pPr>
                      <a:r>
                        <a:rPr lang="zh-CN" altLang="en-US" sz="1600"/>
                        <a:t>多次</a:t>
                      </a:r>
                      <a:endParaRPr lang="zh-CN" altLang="en-US" sz="1600"/>
                    </a:p>
                  </a:txBody>
                  <a:tcPr marL="254000" marR="254000" marT="177800" marB="177800" anchor="ctr" anchorCtr="0"/>
                </a:tc>
                <a:tc>
                  <a:txBody>
                    <a:bodyPr/>
                    <a:p>
                      <a:pPr algn="l">
                        <a:lnSpc>
                          <a:spcPct val="120000"/>
                        </a:lnSpc>
                      </a:pPr>
                      <a:r>
                        <a:rPr lang="zh-CN" altLang="en-US" sz="1600"/>
                        <a:t>建模三阶段指导（分析</a:t>
                      </a:r>
                      <a:r>
                        <a:rPr lang="en-US" altLang="zh-CN" sz="1600"/>
                        <a:t>→</a:t>
                      </a:r>
                      <a:r>
                        <a:rPr lang="zh-CN" altLang="en-US" sz="1600"/>
                        <a:t>代码</a:t>
                      </a:r>
                      <a:r>
                        <a:rPr lang="en-US" altLang="zh-CN" sz="1600"/>
                        <a:t>→</a:t>
                      </a:r>
                      <a:r>
                        <a:rPr lang="zh-CN" altLang="en-US" sz="1600"/>
                        <a:t>论文）</a:t>
                      </a:r>
                      <a:endParaRPr lang="zh-CN" altLang="en-US" sz="1600"/>
                    </a:p>
                  </a:txBody>
                  <a:tcPr marL="254000" marR="254000" marT="177800" marB="177800" anchor="ctr" anchorCtr="0"/>
                </a:tc>
              </a:tr>
              <a:tr h="742315">
                <a:tc>
                  <a:txBody>
                    <a:bodyPr/>
                    <a:p>
                      <a:pPr algn="ctr">
                        <a:lnSpc>
                          <a:spcPct val="120000"/>
                        </a:lnSpc>
                      </a:pPr>
                      <a:r>
                        <a:rPr lang="en-US" altLang="zh-CN" sz="1600"/>
                        <a:t>simplify</a:t>
                      </a:r>
                      <a:endParaRPr lang="en-US" altLang="zh-CN" sz="1600"/>
                    </a:p>
                  </a:txBody>
                  <a:tcPr marL="254000" marR="254000" marT="177800" marB="177800" anchor="ctr" anchorCtr="0"/>
                </a:tc>
                <a:tc>
                  <a:txBody>
                    <a:bodyPr/>
                    <a:p>
                      <a:pPr algn="ctr">
                        <a:lnSpc>
                          <a:spcPct val="120000"/>
                        </a:lnSpc>
                      </a:pPr>
                      <a:r>
                        <a:rPr lang="zh-CN" altLang="en-US" sz="1600"/>
                        <a:t>数据预处理后</a:t>
                      </a:r>
                      <a:endParaRPr lang="zh-CN" altLang="en-US" sz="1600"/>
                    </a:p>
                  </a:txBody>
                  <a:tcPr marL="254000" marR="254000" marT="177800" marB="177800" anchor="ctr" anchorCtr="0"/>
                </a:tc>
                <a:tc>
                  <a:txBody>
                    <a:bodyPr/>
                    <a:p>
                      <a:pPr algn="ctr">
                        <a:lnSpc>
                          <a:spcPct val="120000"/>
                        </a:lnSpc>
                      </a:pPr>
                      <a:r>
                        <a:rPr lang="en-US" altLang="zh-CN" sz="1600"/>
                        <a:t>1</a:t>
                      </a:r>
                      <a:r>
                        <a:rPr lang="zh-CN" altLang="en-US" sz="1600"/>
                        <a:t>次</a:t>
                      </a:r>
                      <a:endParaRPr lang="zh-CN" altLang="en-US" sz="1600"/>
                    </a:p>
                  </a:txBody>
                  <a:tcPr marL="254000" marR="254000" marT="177800" marB="177800" anchor="ctr" anchorCtr="0"/>
                </a:tc>
                <a:tc>
                  <a:txBody>
                    <a:bodyPr/>
                    <a:p>
                      <a:pPr algn="l">
                        <a:lnSpc>
                          <a:spcPct val="120000"/>
                        </a:lnSpc>
                      </a:pPr>
                      <a:r>
                        <a:rPr lang="zh-CN" altLang="en-US" sz="1600"/>
                        <a:t>三</a:t>
                      </a:r>
                      <a:r>
                        <a:rPr lang="en-US" altLang="zh-CN" sz="1600"/>
                        <a:t>Agent</a:t>
                      </a:r>
                      <a:r>
                        <a:rPr lang="zh-CN" altLang="en-US" sz="1600"/>
                        <a:t>并行审查（复用</a:t>
                      </a:r>
                      <a:r>
                        <a:rPr lang="en-US" altLang="zh-CN" sz="1600"/>
                        <a:t>/</a:t>
                      </a:r>
                      <a:r>
                        <a:rPr lang="zh-CN" altLang="en-US" sz="1600"/>
                        <a:t>质量</a:t>
                      </a:r>
                      <a:r>
                        <a:rPr lang="en-US" altLang="zh-CN" sz="1600"/>
                        <a:t>/</a:t>
                      </a:r>
                      <a:r>
                        <a:rPr lang="zh-CN" altLang="en-US" sz="1600"/>
                        <a:t>效率）</a:t>
                      </a:r>
                      <a:endParaRPr lang="zh-CN" altLang="en-US" sz="1600"/>
                    </a:p>
                  </a:txBody>
                  <a:tcPr marL="254000" marR="254000" marT="177800" marB="177800" anchor="ctr" anchorCtr="0"/>
                </a:tc>
              </a:tr>
              <a:tr h="742315">
                <a:tc>
                  <a:txBody>
                    <a:bodyPr/>
                    <a:p>
                      <a:pPr algn="ctr">
                        <a:lnSpc>
                          <a:spcPct val="120000"/>
                        </a:lnSpc>
                      </a:pPr>
                      <a:r>
                        <a:rPr lang="en-US" altLang="zh-CN" sz="1600"/>
                        <a:t>research-writing</a:t>
                      </a:r>
                      <a:endParaRPr lang="en-US" altLang="zh-CN" sz="1600"/>
                    </a:p>
                  </a:txBody>
                  <a:tcPr marL="254000" marR="254000" marT="177800" marB="177800" anchor="ctr" anchorCtr="0"/>
                </a:tc>
                <a:tc>
                  <a:txBody>
                    <a:bodyPr/>
                    <a:p>
                      <a:pPr algn="ctr">
                        <a:lnSpc>
                          <a:spcPct val="120000"/>
                        </a:lnSpc>
                      </a:pPr>
                      <a:r>
                        <a:rPr lang="zh-CN" altLang="en-US" sz="1600"/>
                        <a:t>报告撰写</a:t>
                      </a:r>
                      <a:endParaRPr lang="zh-CN" altLang="en-US" sz="1600"/>
                    </a:p>
                  </a:txBody>
                  <a:tcPr marL="254000" marR="254000" marT="177800" marB="177800" anchor="ctr" anchorCtr="0"/>
                </a:tc>
                <a:tc>
                  <a:txBody>
                    <a:bodyPr/>
                    <a:p>
                      <a:pPr algn="ctr">
                        <a:lnSpc>
                          <a:spcPct val="120000"/>
                        </a:lnSpc>
                      </a:pPr>
                      <a:r>
                        <a:rPr lang="en-US" altLang="zh-CN" sz="1600"/>
                        <a:t>1</a:t>
                      </a:r>
                      <a:r>
                        <a:rPr lang="zh-CN" altLang="en-US" sz="1600"/>
                        <a:t>次</a:t>
                      </a:r>
                      <a:endParaRPr lang="zh-CN" altLang="en-US" sz="1600"/>
                    </a:p>
                  </a:txBody>
                  <a:tcPr marL="254000" marR="254000" marT="177800" marB="177800" anchor="ctr" anchorCtr="0"/>
                </a:tc>
                <a:tc>
                  <a:txBody>
                    <a:bodyPr/>
                    <a:p>
                      <a:pPr algn="l">
                        <a:lnSpc>
                          <a:spcPct val="120000"/>
                        </a:lnSpc>
                      </a:pPr>
                      <a:r>
                        <a:rPr lang="en-US" altLang="zh-CN" sz="1600"/>
                        <a:t>30</a:t>
                      </a:r>
                      <a:r>
                        <a:rPr lang="zh-CN" altLang="en-US" sz="1600"/>
                        <a:t>个</a:t>
                      </a:r>
                      <a:r>
                        <a:rPr lang="en-US" altLang="zh-CN" sz="1600"/>
                        <a:t>Prompt</a:t>
                      </a:r>
                      <a:r>
                        <a:rPr lang="zh-CN" altLang="en-US" sz="1600"/>
                        <a:t>模板指导论文写作流程</a:t>
                      </a:r>
                      <a:endParaRPr lang="zh-CN" altLang="en-US" sz="1600"/>
                    </a:p>
                  </a:txBody>
                  <a:tcPr marL="254000" marR="254000" marT="177800" marB="177800" anchor="ctr" anchorCtr="0"/>
                </a:tc>
              </a:tr>
              <a:tr h="742315">
                <a:tc>
                  <a:txBody>
                    <a:bodyPr/>
                    <a:p>
                      <a:pPr algn="ctr">
                        <a:lnSpc>
                          <a:spcPct val="120000"/>
                        </a:lnSpc>
                      </a:pPr>
                      <a:r>
                        <a:rPr lang="en-US" altLang="zh-CN" sz="1600"/>
                        <a:t>pdf</a:t>
                      </a:r>
                      <a:endParaRPr lang="en-US" altLang="zh-CN" sz="1600"/>
                    </a:p>
                  </a:txBody>
                  <a:tcPr marL="254000" marR="254000" marT="177800" marB="177800" anchor="ctr" anchorCtr="0"/>
                </a:tc>
                <a:tc>
                  <a:txBody>
                    <a:bodyPr/>
                    <a:p>
                      <a:pPr algn="ctr">
                        <a:lnSpc>
                          <a:spcPct val="120000"/>
                        </a:lnSpc>
                      </a:pPr>
                      <a:r>
                        <a:rPr lang="zh-CN" altLang="en-US" sz="1600"/>
                        <a:t>开始时</a:t>
                      </a:r>
                      <a:endParaRPr lang="zh-CN" altLang="en-US" sz="1600"/>
                    </a:p>
                  </a:txBody>
                  <a:tcPr marL="254000" marR="254000" marT="177800" marB="177800" anchor="ctr" anchorCtr="0"/>
                </a:tc>
                <a:tc>
                  <a:txBody>
                    <a:bodyPr/>
                    <a:p>
                      <a:pPr algn="ctr">
                        <a:lnSpc>
                          <a:spcPct val="120000"/>
                        </a:lnSpc>
                      </a:pPr>
                      <a:r>
                        <a:rPr lang="en-US" altLang="zh-CN" sz="1600"/>
                        <a:t>1</a:t>
                      </a:r>
                      <a:r>
                        <a:rPr lang="zh-CN" altLang="en-US" sz="1600"/>
                        <a:t>次</a:t>
                      </a:r>
                      <a:endParaRPr lang="zh-CN" altLang="en-US" sz="1600"/>
                    </a:p>
                  </a:txBody>
                  <a:tcPr marL="254000" marR="254000" marT="177800" marB="177800" anchor="ctr" anchorCtr="0"/>
                </a:tc>
                <a:tc>
                  <a:txBody>
                    <a:bodyPr/>
                    <a:p>
                      <a:pPr algn="l">
                        <a:lnSpc>
                          <a:spcPct val="120000"/>
                        </a:lnSpc>
                      </a:pPr>
                      <a:r>
                        <a:rPr lang="zh-CN" altLang="en-US" sz="1600"/>
                        <a:t>提取加密范例报告（复用</a:t>
                      </a:r>
                      <a:r>
                        <a:rPr lang="en-US" altLang="zh-CN" sz="1600"/>
                        <a:t>Prompt</a:t>
                      </a:r>
                      <a:r>
                        <a:rPr lang="zh-CN" altLang="en-US" sz="1600"/>
                        <a:t>版已解密的）</a:t>
                      </a:r>
                      <a:endParaRPr lang="zh-CN" altLang="en-US" sz="1600"/>
                    </a:p>
                  </a:txBody>
                  <a:tcPr marL="254000" marR="254000" marT="177800" marB="177800" anchor="ctr" anchorCtr="0"/>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17" name="圆角矩形 16"/>
          <p:cNvSpPr/>
          <p:nvPr/>
        </p:nvSpPr>
        <p:spPr>
          <a:xfrm>
            <a:off x="618490" y="1188720"/>
            <a:ext cx="9930130" cy="4028440"/>
          </a:xfrm>
          <a:prstGeom prst="roundRect">
            <a:avLst/>
          </a:prstGeom>
          <a:solidFill>
            <a:schemeClr val="tx1">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3" name="AutoShape 3"/>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优化过程</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7420" y="1665605"/>
            <a:ext cx="406400" cy="406400"/>
          </a:xfrm>
          <a:prstGeom prst="rect">
            <a:avLst/>
          </a:prstGeom>
        </p:spPr>
      </p:pic>
      <p:sp>
        <p:nvSpPr>
          <p:cNvPr id="7" name="AutoShape 7"/>
          <p:cNvSpPr/>
          <p:nvPr/>
        </p:nvSpPr>
        <p:spPr>
          <a:xfrm>
            <a:off x="1483995" y="1487170"/>
            <a:ext cx="883031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方法论注入：</a:t>
            </a:r>
            <a:r>
              <a:rPr lang="en-US"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调用`data-analyst-prompter` Skill，为AI注入结构化的数据分析流程，奠定专业基础。</a:t>
            </a:r>
            <a:endParaRPr lang="en-US"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7420" y="2549525"/>
            <a:ext cx="406400" cy="406400"/>
          </a:xfrm>
          <a:prstGeom prst="rect">
            <a:avLst/>
          </a:prstGeom>
        </p:spPr>
      </p:pic>
      <p:sp>
        <p:nvSpPr>
          <p:cNvPr id="9" name="AutoShape 9"/>
          <p:cNvSpPr/>
          <p:nvPr/>
        </p:nvSpPr>
        <p:spPr>
          <a:xfrm>
            <a:off x="1483995" y="2376170"/>
            <a:ext cx="883031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结构化执行：</a:t>
            </a:r>
            <a:r>
              <a:rPr lang="en-US"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在`math-modeling`指导下，严格遵循“建模分析 → 代码实现 → 论文撰写”的三阶段闭环流程。</a:t>
            </a:r>
            <a:endParaRPr lang="en-US"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7420" y="3433445"/>
            <a:ext cx="406400" cy="406400"/>
          </a:xfrm>
          <a:prstGeom prst="rect">
            <a:avLst/>
          </a:prstGeom>
        </p:spPr>
      </p:pic>
      <p:sp>
        <p:nvSpPr>
          <p:cNvPr id="11" name="AutoShape 11"/>
          <p:cNvSpPr/>
          <p:nvPr/>
        </p:nvSpPr>
        <p:spPr>
          <a:xfrm>
            <a:off x="1483995" y="3265170"/>
            <a:ext cx="883031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自动化审查：</a:t>
            </a:r>
            <a:r>
              <a:rPr lang="en-US"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启动`simplify` Skill，调度多Agent并行审查代码质量，自动发现并修复潜在的逻辑与语法问题。</a:t>
            </a:r>
            <a:endParaRPr lang="en-US"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7420" y="4363085"/>
            <a:ext cx="406400" cy="406400"/>
          </a:xfrm>
          <a:prstGeom prst="rect">
            <a:avLst/>
          </a:prstGeom>
        </p:spPr>
      </p:pic>
      <p:sp>
        <p:nvSpPr>
          <p:cNvPr id="13" name="AutoShape 13"/>
          <p:cNvSpPr/>
          <p:nvPr/>
        </p:nvSpPr>
        <p:spPr>
          <a:xfrm>
            <a:off x="1483995" y="4154170"/>
            <a:ext cx="883031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报告撰写：</a:t>
            </a:r>
            <a:r>
              <a:rPr lang="en-US"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依托`research-writing`模板，自动生成结构规范、格式统一的LaTeX研究报告。</a:t>
            </a:r>
            <a:endParaRPr lang="en-US"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18" name="组合 17"/>
          <p:cNvGrpSpPr/>
          <p:nvPr/>
        </p:nvGrpSpPr>
        <p:grpSpPr>
          <a:xfrm>
            <a:off x="491490" y="5452110"/>
            <a:ext cx="9400540" cy="762000"/>
            <a:chOff x="1437" y="8135"/>
            <a:chExt cx="14804" cy="1200"/>
          </a:xfrm>
        </p:grpSpPr>
        <p:sp>
          <p:nvSpPr>
            <p:cNvPr id="14" name="AutoShape 14"/>
            <p:cNvSpPr/>
            <p:nvPr/>
          </p:nvSpPr>
          <p:spPr>
            <a:xfrm>
              <a:off x="1437" y="8135"/>
              <a:ext cx="14805" cy="1200"/>
            </a:xfrm>
            <a:prstGeom prst="roundRect">
              <a:avLst>
                <a:gd name="adj" fmla="val 0"/>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endParaRPr sz="1600">
                <a:solidFill>
                  <a:schemeClr val="tx1"/>
                </a:solidFill>
              </a:endParaRPr>
            </a:p>
          </p:txBody>
        </p:sp>
        <p:sp>
          <p:nvSpPr>
            <p:cNvPr id="15" name="AutoShape 15"/>
            <p:cNvSpPr/>
            <p:nvPr/>
          </p:nvSpPr>
          <p:spPr>
            <a:xfrm>
              <a:off x="1637" y="8335"/>
              <a:ext cx="14356"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通过预设流程与自动化审查，系统性提升结果严谨性，大幅降低人工干预带来的低级错误。</a:t>
              </a:r>
              <a:endParaRPr lang="en-US"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Skill核心：自动化审查机制</a:t>
            </a:r>
            <a:endParaRPr lang="en-US" sz="1100"/>
          </a:p>
        </p:txBody>
      </p:sp>
      <p:sp>
        <p:nvSpPr>
          <p:cNvPr id="4" name="AutoShape 4"/>
          <p:cNvSpPr/>
          <p:nvPr/>
        </p:nvSpPr>
        <p:spPr>
          <a:xfrm>
            <a:off x="762000" y="1270000"/>
            <a:ext cx="1066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simplify Skill的核心是</a:t>
            </a:r>
            <a:r>
              <a:rPr lang="en-US" sz="14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三Agent并行审查机制</a:t>
            </a: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，它能在短时间内自动发现并修复人工审查难以察觉的深层问题，从代码复用性、质量和运行效率三个维度全方位提升产出标准。</a:t>
            </a:r>
            <a:endParaRPr lang="en-US" sz="1100"/>
          </a:p>
        </p:txBody>
      </p:sp>
      <p:sp>
        <p:nvSpPr>
          <p:cNvPr id="5" name="AutoShape 5"/>
          <p:cNvSpPr/>
          <p:nvPr/>
        </p:nvSpPr>
        <p:spPr>
          <a:xfrm>
            <a:off x="762000" y="2413000"/>
            <a:ext cx="3302000" cy="3810000"/>
          </a:xfrm>
          <a:prstGeom prst="roundRect">
            <a:avLst>
              <a:gd name="adj" fmla="val 0"/>
            </a:avLst>
          </a:prstGeom>
          <a:solidFill>
            <a:srgbClr val="FFFFFF">
              <a:alpha val="7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717800"/>
            <a:ext cx="609600" cy="609600"/>
          </a:xfrm>
          <a:prstGeom prst="rect">
            <a:avLst/>
          </a:prstGeom>
        </p:spPr>
      </p:pic>
      <p:sp>
        <p:nvSpPr>
          <p:cNvPr id="7" name="AutoShape 7"/>
          <p:cNvSpPr/>
          <p:nvPr/>
        </p:nvSpPr>
        <p:spPr>
          <a:xfrm>
            <a:off x="1778000" y="28321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代码复用审查Agent</a:t>
            </a:r>
            <a:endParaRPr lang="en-US" sz="1100"/>
          </a:p>
        </p:txBody>
      </p:sp>
      <p:sp>
        <p:nvSpPr>
          <p:cNvPr id="8" name="AutoShape 8"/>
          <p:cNvSpPr/>
          <p:nvPr/>
        </p:nvSpPr>
        <p:spPr>
          <a:xfrm>
            <a:off x="1016000" y="3556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智能扫描代码库，精准识别并提炼重复的代码块，减少冗余逻辑。</a:t>
            </a:r>
            <a:endParaRPr lang="en-US" sz="1100"/>
          </a:p>
          <a:p>
            <a:pPr indent="0" algn="l">
              <a:lnSpc>
                <a:spcPct val="117000"/>
              </a:lnSpc>
            </a:pP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效果：</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显著提升代码的简洁性与可维护性，降低后续迭代的维护成本与出错概率。</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445000" y="2413000"/>
            <a:ext cx="3302000" cy="3810000"/>
          </a:xfrm>
          <a:prstGeom prst="roundRect">
            <a:avLst>
              <a:gd name="adj" fmla="val 0"/>
            </a:avLst>
          </a:prstGeom>
          <a:solidFill>
            <a:srgbClr val="FFFFFF">
              <a:alpha val="7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717800"/>
            <a:ext cx="609600" cy="609600"/>
          </a:xfrm>
          <a:prstGeom prst="rect">
            <a:avLst/>
          </a:prstGeom>
        </p:spPr>
      </p:pic>
      <p:sp>
        <p:nvSpPr>
          <p:cNvPr id="11" name="AutoShape 11"/>
          <p:cNvSpPr/>
          <p:nvPr/>
        </p:nvSpPr>
        <p:spPr>
          <a:xfrm>
            <a:off x="5461000" y="28321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代码质量审查Agent</a:t>
            </a:r>
            <a:endParaRPr lang="en-US" sz="1100"/>
          </a:p>
        </p:txBody>
      </p:sp>
      <p:sp>
        <p:nvSpPr>
          <p:cNvPr id="12" name="AutoShape 12"/>
          <p:cNvSpPr/>
          <p:nvPr/>
        </p:nvSpPr>
        <p:spPr>
          <a:xfrm>
            <a:off x="4699000" y="3556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深度检测潜在Bug，重点排查类型转换、空值引用等隐蔽性逻辑错误。</a:t>
            </a:r>
            <a:endParaRPr lang="en-US" sz="1100"/>
          </a:p>
          <a:p>
            <a:pPr indent="0" algn="l">
              <a:lnSpc>
                <a:spcPct val="117000"/>
              </a:lnSpc>
            </a:pP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关键发现：</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实验中成功定位float转str导致的hukou_label字段全为NaN的Bug，该问题在Prompt模式下完全被遗漏。</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8128000" y="2413000"/>
            <a:ext cx="3302000" cy="3810000"/>
          </a:xfrm>
          <a:prstGeom prst="roundRect">
            <a:avLst>
              <a:gd name="adj" fmla="val 0"/>
            </a:avLst>
          </a:prstGeom>
          <a:solidFill>
            <a:srgbClr val="FFFFFF">
              <a:alpha val="7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32800" y="2717800"/>
            <a:ext cx="609600" cy="609600"/>
          </a:xfrm>
          <a:prstGeom prst="rect">
            <a:avLst/>
          </a:prstGeom>
        </p:spPr>
      </p:pic>
      <p:sp>
        <p:nvSpPr>
          <p:cNvPr id="15" name="AutoShape 15"/>
          <p:cNvSpPr/>
          <p:nvPr/>
        </p:nvSpPr>
        <p:spPr>
          <a:xfrm>
            <a:off x="9144000" y="28321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效率审查Agent</a:t>
            </a:r>
            <a:endParaRPr lang="en-US" sz="1100"/>
          </a:p>
        </p:txBody>
      </p:sp>
      <p:sp>
        <p:nvSpPr>
          <p:cNvPr id="16" name="AutoShape 16"/>
          <p:cNvSpPr/>
          <p:nvPr/>
        </p:nvSpPr>
        <p:spPr>
          <a:xfrm>
            <a:off x="8382000" y="3556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识别低效代码模式，建议将逐行循环的apply操作重构为高性能的向量化运算。</a:t>
            </a:r>
            <a:endParaRPr lang="en-US" sz="1100"/>
          </a:p>
          <a:p>
            <a:pPr indent="0" algn="l">
              <a:lnSpc>
                <a:spcPct val="117000"/>
              </a:lnSpc>
            </a:pP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效果：</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大幅减少运行时间，尤其在处理大规模数据集时，计算效率提升效果极为显著。</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a:t>
            </a: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报告撰写</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13"/>
          <p:cNvSpPr/>
          <p:nvPr>
            <p:custDataLst>
              <p:tags r:id="rId2"/>
            </p:custDataLst>
          </p:nvPr>
        </p:nvSpPr>
        <p:spPr>
          <a:xfrm>
            <a:off x="762000" y="1405890"/>
            <a:ext cx="10511155" cy="433070"/>
          </a:xfrm>
          <a:prstGeom prst="roundRect">
            <a:avLst>
              <a:gd name="adj" fmla="val 0"/>
            </a:avLst>
          </a:prstGeom>
          <a:solidFill>
            <a:srgbClr val="F7FAFC">
              <a:alpha val="100000"/>
            </a:srgbClr>
          </a:solidFill>
          <a:ln w="12700" cap="flat" cmpd="sng">
            <a:solidFill>
              <a:srgbClr val="E2E8F0">
                <a:alpha val="100000"/>
              </a:srgbClr>
            </a:solidFill>
            <a:prstDash val="solid"/>
            <a:round/>
          </a:ln>
        </p:spPr>
        <p:txBody>
          <a:bodyPr vert="horz" wrap="square" lIns="63500" tIns="63500" rIns="63500" bIns="63500" rtlCol="0" anchor="t" anchorCtr="0"/>
          <a:lstStyle/>
          <a:p>
            <a:pPr algn="l">
              <a:defRPr/>
            </a:pPr>
            <a:r>
              <a:rPr lang="en-US" altLang="zh-CN" sz="1800">
                <a:ea typeface="宋体" panose="02010600030101010101" pitchFamily="2" charset="-122"/>
              </a:rPr>
              <a:t>research-writing+</a:t>
            </a:r>
            <a:r>
              <a:rPr lang="en-US" altLang="zh-CN" sz="1800">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latex-report-generator</a:t>
            </a:r>
            <a:r>
              <a:rPr lang="zh-CN" altLang="en-US" sz="1800">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进行技术报告的生成</a:t>
            </a:r>
            <a:endParaRPr lang="zh-CN" altLang="en-US" sz="1800">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 name="图片 1"/>
          <p:cNvPicPr>
            <a:picLocks noChangeAspect="1"/>
          </p:cNvPicPr>
          <p:nvPr/>
        </p:nvPicPr>
        <p:blipFill>
          <a:blip r:embed="rId3"/>
          <a:stretch>
            <a:fillRect/>
          </a:stretch>
        </p:blipFill>
        <p:spPr>
          <a:xfrm>
            <a:off x="4072255" y="2301875"/>
            <a:ext cx="3277235" cy="2536190"/>
          </a:xfrm>
          <a:prstGeom prst="rect">
            <a:avLst/>
          </a:prstGeom>
        </p:spPr>
      </p:pic>
      <p:pic>
        <p:nvPicPr>
          <p:cNvPr id="17" name="图片 16"/>
          <p:cNvPicPr>
            <a:picLocks noChangeAspect="1"/>
          </p:cNvPicPr>
          <p:nvPr/>
        </p:nvPicPr>
        <p:blipFill>
          <a:blip r:embed="rId4"/>
          <a:stretch>
            <a:fillRect/>
          </a:stretch>
        </p:blipFill>
        <p:spPr>
          <a:xfrm>
            <a:off x="762000" y="2283460"/>
            <a:ext cx="2663190" cy="2554605"/>
          </a:xfrm>
          <a:prstGeom prst="rect">
            <a:avLst/>
          </a:prstGeom>
        </p:spPr>
      </p:pic>
      <p:pic>
        <p:nvPicPr>
          <p:cNvPr id="18" name="图片 17"/>
          <p:cNvPicPr>
            <a:picLocks noChangeAspect="1"/>
          </p:cNvPicPr>
          <p:nvPr/>
        </p:nvPicPr>
        <p:blipFill>
          <a:blip r:embed="rId5"/>
          <a:stretch>
            <a:fillRect/>
          </a:stretch>
        </p:blipFill>
        <p:spPr>
          <a:xfrm>
            <a:off x="762000" y="5062855"/>
            <a:ext cx="4110355" cy="1480820"/>
          </a:xfrm>
          <a:prstGeom prst="rect">
            <a:avLst/>
          </a:prstGeom>
        </p:spPr>
      </p:pic>
      <p:pic>
        <p:nvPicPr>
          <p:cNvPr id="19" name="图片 18"/>
          <p:cNvPicPr>
            <a:picLocks noChangeAspect="1"/>
          </p:cNvPicPr>
          <p:nvPr/>
        </p:nvPicPr>
        <p:blipFill>
          <a:blip r:embed="rId6"/>
          <a:stretch>
            <a:fillRect/>
          </a:stretch>
        </p:blipFill>
        <p:spPr>
          <a:xfrm>
            <a:off x="8086090" y="2283460"/>
            <a:ext cx="3187065" cy="2540000"/>
          </a:xfrm>
          <a:prstGeom prst="rect">
            <a:avLst/>
          </a:prstGeom>
        </p:spPr>
      </p:pic>
      <p:sp>
        <p:nvSpPr>
          <p:cNvPr id="20" name="文本框 19"/>
          <p:cNvSpPr txBox="1"/>
          <p:nvPr/>
        </p:nvSpPr>
        <p:spPr>
          <a:xfrm>
            <a:off x="5413375" y="5267960"/>
            <a:ext cx="5372735" cy="1198880"/>
          </a:xfrm>
          <a:prstGeom prst="rect">
            <a:avLst/>
          </a:prstGeom>
          <a:noFill/>
        </p:spPr>
        <p:txBody>
          <a:bodyPr wrap="square" rtlCol="0">
            <a:spAutoFit/>
          </a:bodyPr>
          <a:p>
            <a:r>
              <a:rPr lang="zh-CN" altLang="en-US" sz="1800"/>
              <a:t>可以看出生成的论文格式相较于简单提示词生成的要更加细节一些，结果上该报告完成的会更加仔细更精准，没有遗漏。更重要的一点是该流程只进行一轮发布任务，中间甚至没有打断。</a:t>
            </a:r>
            <a:endParaRPr lang="zh-CN" altLang="en-US" sz="18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目录结构</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25" name="组合 24"/>
          <p:cNvGrpSpPr/>
          <p:nvPr/>
        </p:nvGrpSpPr>
        <p:grpSpPr>
          <a:xfrm>
            <a:off x="490855" y="1896745"/>
            <a:ext cx="5873750" cy="2825750"/>
            <a:chOff x="967" y="2164"/>
            <a:chExt cx="9250" cy="4450"/>
          </a:xfrm>
        </p:grpSpPr>
        <p:sp>
          <p:nvSpPr>
            <p:cNvPr id="17" name="圆角矩形 16"/>
            <p:cNvSpPr/>
            <p:nvPr/>
          </p:nvSpPr>
          <p:spPr>
            <a:xfrm>
              <a:off x="967" y="2164"/>
              <a:ext cx="9250" cy="4451"/>
            </a:xfrm>
            <a:prstGeom prst="roundRect">
              <a:avLst/>
            </a:prstGeom>
            <a:solidFill>
              <a:schemeClr val="tx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1394" y="2444"/>
              <a:ext cx="8397" cy="3491"/>
            </a:xfrm>
            <a:prstGeom prst="rect">
              <a:avLst/>
            </a:prstGeom>
            <a:noFill/>
          </p:spPr>
          <p:txBody>
            <a:bodyPr wrap="square" rtlCol="0" anchor="t">
              <a:noAutofit/>
            </a:bodyPr>
            <a:p>
              <a:r>
                <a:rPr lang="en-US" altLang="zh-CN"/>
                <a:t>skill</a:t>
              </a:r>
              <a:r>
                <a:rPr lang="zh-CN" altLang="en-US"/>
                <a:t>版本/</a:t>
              </a:r>
              <a:endParaRPr lang="zh-CN" altLang="en-US"/>
            </a:p>
            <a:p>
              <a:r>
                <a:rPr lang="en-US" altLang="zh-CN"/>
                <a:t>├── Agent</a:t>
              </a:r>
              <a:r>
                <a:rPr lang="zh-CN" altLang="en-US"/>
                <a:t>与</a:t>
              </a:r>
              <a:r>
                <a:rPr lang="en-US" altLang="zh-CN"/>
                <a:t>Skill</a:t>
              </a:r>
              <a:r>
                <a:rPr lang="zh-CN" altLang="en-US"/>
                <a:t>使用过程记录_.</a:t>
              </a:r>
              <a:r>
                <a:rPr lang="en-US" altLang="zh-CN"/>
                <a:t>md</a:t>
              </a:r>
              <a:endParaRPr lang="en-US" altLang="zh-CN"/>
            </a:p>
            <a:p>
              <a:r>
                <a:rPr lang="en-US" altLang="zh-CN"/>
                <a:t>├── Skill</a:t>
              </a:r>
              <a:r>
                <a:rPr lang="zh-CN" altLang="en-US"/>
                <a:t>版与范例报告对比分析_.</a:t>
              </a:r>
              <a:r>
                <a:rPr lang="en-US" altLang="zh-CN"/>
                <a:t>md</a:t>
              </a:r>
              <a:endParaRPr lang="en-US" altLang="zh-CN"/>
            </a:p>
            <a:p>
              <a:r>
                <a:rPr lang="zh-CN" altLang="en-US"/>
                <a:t>├── 报告/           (</a:t>
              </a:r>
              <a:r>
                <a:rPr lang="en-US" altLang="zh-CN"/>
                <a:t>report.tex + LaTeX</a:t>
              </a:r>
              <a:r>
                <a:rPr lang="zh-CN" altLang="en-US"/>
                <a:t>文件 + </a:t>
              </a:r>
              <a:r>
                <a:rPr lang="en-US" altLang="zh-CN"/>
                <a:t>figures/ + code/)</a:t>
              </a:r>
              <a:endParaRPr lang="en-US" altLang="zh-CN"/>
            </a:p>
            <a:p>
              <a:r>
                <a:rPr lang="zh-CN" altLang="en-US"/>
                <a:t>├── 数据预处理/      (01_</a:t>
              </a:r>
              <a:r>
                <a:rPr lang="en-US" altLang="zh-CN"/>
                <a:t>data_preprocessing.py, train_clean.csv, predict_clean.csv)</a:t>
              </a:r>
              <a:endParaRPr lang="en-US" altLang="zh-CN"/>
            </a:p>
            <a:p>
              <a:r>
                <a:rPr lang="zh-CN" altLang="en-US"/>
                <a:t>├── 问题一/         (02_</a:t>
              </a:r>
              <a:r>
                <a:rPr lang="en-US" altLang="zh-CN"/>
                <a:t>problem1_analysis.py + 7</a:t>
              </a:r>
              <a:r>
                <a:rPr lang="zh-CN" altLang="en-US"/>
                <a:t>张图表)</a:t>
              </a:r>
              <a:endParaRPr lang="zh-CN" altLang="en-US"/>
            </a:p>
            <a:p>
              <a:r>
                <a:rPr lang="zh-CN" altLang="en-US"/>
                <a:t>├── 问题二/         (03_</a:t>
              </a:r>
              <a:r>
                <a:rPr lang="en-US" altLang="zh-CN"/>
                <a:t>problem2_prediction.py + 5</a:t>
              </a:r>
              <a:r>
                <a:rPr lang="zh-CN" altLang="en-US"/>
                <a:t>张图表)</a:t>
              </a:r>
              <a:endParaRPr lang="zh-CN" altLang="en-US"/>
            </a:p>
            <a:p>
              <a:r>
                <a:rPr lang="zh-CN" altLang="en-US"/>
                <a:t>├── 问题三/         (04_</a:t>
              </a:r>
              <a:r>
                <a:rPr lang="en-US" altLang="zh-CN"/>
                <a:t>problem3_optimization.py + 3</a:t>
              </a:r>
              <a:r>
                <a:rPr lang="zh-CN" altLang="en-US"/>
                <a:t>张图表)</a:t>
              </a:r>
              <a:endParaRPr lang="zh-CN" altLang="en-US"/>
            </a:p>
            <a:p>
              <a:r>
                <a:rPr lang="zh-CN" altLang="en-US"/>
                <a:t>└── 问题四/         (05_</a:t>
              </a:r>
              <a:r>
                <a:rPr lang="en-US" altLang="zh-CN"/>
                <a:t>problem4_matching.py + 2</a:t>
              </a:r>
              <a:r>
                <a:rPr lang="zh-CN" altLang="en-US"/>
                <a:t>张图表)</a:t>
              </a:r>
              <a:endParaRPr lang="zh-CN" altLang="en-US"/>
            </a:p>
          </p:txBody>
        </p:sp>
      </p:grpSp>
      <p:grpSp>
        <p:nvGrpSpPr>
          <p:cNvPr id="21" name="组合 20"/>
          <p:cNvGrpSpPr/>
          <p:nvPr/>
        </p:nvGrpSpPr>
        <p:grpSpPr>
          <a:xfrm>
            <a:off x="8122920" y="1512570"/>
            <a:ext cx="2548890" cy="3340100"/>
            <a:chOff x="1082" y="1817"/>
            <a:chExt cx="5946" cy="7642"/>
          </a:xfrm>
        </p:grpSpPr>
        <p:sp>
          <p:nvSpPr>
            <p:cNvPr id="22" name="矩形 21"/>
            <p:cNvSpPr/>
            <p:nvPr/>
          </p:nvSpPr>
          <p:spPr>
            <a:xfrm>
              <a:off x="1082" y="1817"/>
              <a:ext cx="5947" cy="7642"/>
            </a:xfrm>
            <a:prstGeom prst="rect">
              <a:avLst/>
            </a:prstGeom>
            <a:solidFill>
              <a:schemeClr val="tx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0"/>
            </a:p>
          </p:txBody>
        </p:sp>
        <p:sp>
          <p:nvSpPr>
            <p:cNvPr id="23" name="文本框 22"/>
            <p:cNvSpPr txBox="1"/>
            <p:nvPr/>
          </p:nvSpPr>
          <p:spPr>
            <a:xfrm>
              <a:off x="1200" y="1856"/>
              <a:ext cx="5579" cy="7321"/>
            </a:xfrm>
            <a:prstGeom prst="rect">
              <a:avLst/>
            </a:prstGeom>
            <a:noFill/>
          </p:spPr>
          <p:txBody>
            <a:bodyPr wrap="square" rtlCol="0" anchor="t">
              <a:noAutofit/>
            </a:bodyPr>
            <a:p>
              <a:r>
                <a:rPr lang="en-US" altLang="zh-CN" sz="1000"/>
                <a:t>prompt</a:t>
              </a:r>
              <a:r>
                <a:rPr lang="zh-CN" altLang="en-US" sz="1000"/>
                <a:t>版本/</a:t>
              </a:r>
              <a:endParaRPr lang="zh-CN" altLang="en-US" sz="1000"/>
            </a:p>
            <a:p>
              <a:r>
                <a:rPr lang="zh-CN" altLang="en-US" sz="1000"/>
                <a:t>├── 数据预处理/</a:t>
              </a:r>
              <a:endParaRPr lang="zh-CN" altLang="en-US" sz="1000"/>
            </a:p>
            <a:p>
              <a:r>
                <a:rPr lang="en-US" altLang="zh-CN" sz="1000"/>
                <a:t>│   ├── 01_data_preprocessing.py</a:t>
              </a:r>
              <a:endParaRPr lang="en-US" altLang="zh-CN" sz="1000"/>
            </a:p>
            <a:p>
              <a:r>
                <a:rPr lang="zh-CN" altLang="en-US" sz="1000"/>
                <a:t>│   ├── 数据探索与预处理报告.</a:t>
              </a:r>
              <a:r>
                <a:rPr lang="en-US" altLang="zh-CN" sz="1000"/>
                <a:t>md</a:t>
              </a:r>
              <a:endParaRPr lang="en-US" altLang="zh-CN" sz="1000"/>
            </a:p>
            <a:p>
              <a:r>
                <a:rPr lang="en-US" altLang="zh-CN" sz="1000"/>
                <a:t>│   ├── predict_clean.csv</a:t>
              </a:r>
              <a:endParaRPr lang="en-US" altLang="zh-CN" sz="1000"/>
            </a:p>
            <a:p>
              <a:r>
                <a:rPr lang="en-US" altLang="zh-CN" sz="1000"/>
                <a:t>│   └── train_clean.csv</a:t>
              </a:r>
              <a:endParaRPr lang="en-US" altLang="zh-CN" sz="1000"/>
            </a:p>
            <a:p>
              <a:r>
                <a:rPr lang="zh-CN" altLang="en-US" sz="1000"/>
                <a:t>├── 问题一/</a:t>
              </a:r>
              <a:endParaRPr lang="zh-CN" altLang="en-US" sz="1000"/>
            </a:p>
            <a:p>
              <a:r>
                <a:rPr lang="en-US" altLang="zh-CN" sz="1000"/>
                <a:t>│   ├── 02_problem1_analysis.py</a:t>
              </a:r>
              <a:endParaRPr lang="en-US" altLang="zh-CN" sz="1000"/>
            </a:p>
            <a:p>
              <a:r>
                <a:rPr lang="en-US" altLang="zh-CN" sz="1000"/>
                <a:t>│   └── charts/</a:t>
              </a:r>
              <a:r>
                <a:rPr lang="zh-CN" altLang="en-US" sz="1000">
                  <a:ea typeface="宋体" panose="02010600030101010101" pitchFamily="2" charset="-122"/>
                </a:rPr>
                <a:t>（结果图片）</a:t>
              </a:r>
              <a:endParaRPr lang="en-US" altLang="zh-CN" sz="1000"/>
            </a:p>
            <a:p>
              <a:r>
                <a:rPr lang="zh-CN" altLang="en-US" sz="1000"/>
                <a:t>├── 问题二/</a:t>
              </a:r>
              <a:endParaRPr lang="zh-CN" altLang="en-US" sz="1000"/>
            </a:p>
            <a:p>
              <a:r>
                <a:rPr lang="en-US" altLang="zh-CN" sz="1000"/>
                <a:t>│   ├── 03_problem2_prediction.py</a:t>
              </a:r>
              <a:endParaRPr lang="en-US" altLang="zh-CN" sz="1000"/>
            </a:p>
            <a:p>
              <a:r>
                <a:rPr lang="en-US" altLang="zh-CN" sz="1000"/>
                <a:t>│   └── charts/</a:t>
              </a:r>
              <a:r>
                <a:rPr lang="zh-CN" altLang="en-US" sz="1000">
                  <a:ea typeface="宋体" panose="02010600030101010101" pitchFamily="2" charset="-122"/>
                  <a:sym typeface="+mn-ea"/>
                </a:rPr>
                <a:t>（结果图片）</a:t>
              </a:r>
              <a:endParaRPr lang="en-US" altLang="zh-CN" sz="1000"/>
            </a:p>
            <a:p>
              <a:r>
                <a:rPr lang="zh-CN" altLang="en-US" sz="1000"/>
                <a:t>├── 问题三/</a:t>
              </a:r>
              <a:endParaRPr lang="zh-CN" altLang="en-US" sz="1000"/>
            </a:p>
            <a:p>
              <a:r>
                <a:rPr lang="en-US" altLang="zh-CN" sz="1000"/>
                <a:t>│   ├── 04_problem3_optimization.py</a:t>
              </a:r>
              <a:endParaRPr lang="en-US" altLang="zh-CN" sz="1000"/>
            </a:p>
            <a:p>
              <a:r>
                <a:rPr lang="en-US" altLang="zh-CN" sz="1000"/>
                <a:t>│   └── charts/</a:t>
              </a:r>
              <a:r>
                <a:rPr lang="zh-CN" altLang="en-US" sz="1000">
                  <a:ea typeface="宋体" panose="02010600030101010101" pitchFamily="2" charset="-122"/>
                  <a:sym typeface="+mn-ea"/>
                </a:rPr>
                <a:t>（结果图片）</a:t>
              </a:r>
              <a:endParaRPr lang="en-US" altLang="zh-CN" sz="1000"/>
            </a:p>
            <a:p>
              <a:r>
                <a:rPr lang="zh-CN" altLang="en-US" sz="1000"/>
                <a:t>├── 问题四/</a:t>
              </a:r>
              <a:endParaRPr lang="zh-CN" altLang="en-US" sz="1000"/>
            </a:p>
            <a:p>
              <a:r>
                <a:rPr lang="en-US" altLang="zh-CN" sz="1000"/>
                <a:t>│   ├── 05_problem4_matching.py</a:t>
              </a:r>
              <a:endParaRPr lang="en-US" altLang="zh-CN" sz="1000"/>
            </a:p>
            <a:p>
              <a:r>
                <a:rPr lang="en-US" altLang="zh-CN" sz="1000"/>
                <a:t>│   └── charts/</a:t>
              </a:r>
              <a:r>
                <a:rPr lang="zh-CN" altLang="en-US" sz="1000">
                  <a:ea typeface="宋体" panose="02010600030101010101" pitchFamily="2" charset="-122"/>
                  <a:sym typeface="+mn-ea"/>
                </a:rPr>
                <a:t>（结果图片）</a:t>
              </a:r>
              <a:endParaRPr lang="en-US" altLang="zh-CN" sz="1000"/>
            </a:p>
            <a:p>
              <a:r>
                <a:rPr lang="en-US" altLang="zh-CN" sz="1000"/>
                <a:t>├── Agent</a:t>
              </a:r>
              <a:r>
                <a:rPr lang="zh-CN" altLang="en-US" sz="1000"/>
                <a:t>与</a:t>
              </a:r>
              <a:r>
                <a:rPr lang="en-US" altLang="zh-CN" sz="1000"/>
                <a:t>Skill</a:t>
              </a:r>
              <a:r>
                <a:rPr lang="zh-CN" altLang="en-US" sz="1000"/>
                <a:t>使用过程记录.</a:t>
              </a:r>
              <a:r>
                <a:rPr lang="en-US" altLang="zh-CN" sz="1000"/>
                <a:t>md</a:t>
              </a:r>
              <a:endParaRPr lang="en-US" altLang="zh-CN" sz="1000"/>
            </a:p>
          </p:txBody>
        </p:sp>
      </p:grpSp>
      <p:sp>
        <p:nvSpPr>
          <p:cNvPr id="26" name="文本框 25"/>
          <p:cNvSpPr txBox="1"/>
          <p:nvPr/>
        </p:nvSpPr>
        <p:spPr>
          <a:xfrm>
            <a:off x="1359535" y="4965700"/>
            <a:ext cx="5618480" cy="368300"/>
          </a:xfrm>
          <a:prstGeom prst="rect">
            <a:avLst/>
          </a:prstGeom>
          <a:noFill/>
        </p:spPr>
        <p:txBody>
          <a:bodyPr wrap="square" rtlCol="0">
            <a:spAutoFit/>
          </a:bodyPr>
          <a:p>
            <a:r>
              <a:rPr lang="zh-CN" altLang="en-US" sz="1800">
                <a:ea typeface="宋体" panose="02010600030101010101" pitchFamily="2" charset="-122"/>
              </a:rPr>
              <a:t>目录结构一样，但是</a:t>
            </a:r>
            <a:r>
              <a:rPr lang="en-US" altLang="zh-CN" sz="1800">
                <a:ea typeface="宋体" panose="02010600030101010101" pitchFamily="2" charset="-122"/>
              </a:rPr>
              <a:t>skill</a:t>
            </a:r>
            <a:r>
              <a:rPr lang="zh-CN" altLang="en-US" sz="1800">
                <a:ea typeface="宋体" panose="02010600030101010101" pitchFamily="2" charset="-122"/>
              </a:rPr>
              <a:t>的更简洁</a:t>
            </a:r>
            <a:endParaRPr lang="zh-CN" altLang="en-US" sz="180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AutoShape 4"/>
          <p:cNvSpPr/>
          <p:nvPr/>
        </p:nvSpPr>
        <p:spPr>
          <a:xfrm>
            <a:off x="0" y="3048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板块五、两种方法的对比与分析</a:t>
            </a:r>
            <a:endParaRPr lang="en-US" altLang="zh-CN"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762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量化对比</a:t>
            </a:r>
            <a:endParaRPr lang="en-US" sz="1100"/>
          </a:p>
        </p:txBody>
      </p:sp>
      <p:sp>
        <p:nvSpPr>
          <p:cNvPr id="4" name="AutoShape 4"/>
          <p:cNvSpPr/>
          <p:nvPr/>
        </p:nvSpPr>
        <p:spPr>
          <a:xfrm>
            <a:off x="762000" y="1206500"/>
            <a:ext cx="10668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以范例报告为100分基准，我们从多个维度对两个版本的报告进行了加权评分。结果显示，Skill增强版的综合质量有显著提升，加权总分提升了128%，在统计严谨性、模型评估可靠性等关键维度实现了跨越式发展。</a:t>
            </a:r>
            <a:endParaRPr lang="en-US" sz="18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aphicFrame>
        <p:nvGraphicFramePr>
          <p:cNvPr id="5" name="Table 5"/>
          <p:cNvGraphicFramePr>
            <a:graphicFrameLocks noGrp="1"/>
          </p:cNvGraphicFramePr>
          <p:nvPr/>
        </p:nvGraphicFramePr>
        <p:xfrm>
          <a:off x="1855788" y="2363690"/>
          <a:ext cx="8480425" cy="3817620"/>
        </p:xfrm>
        <a:graphic>
          <a:graphicData uri="http://schemas.openxmlformats.org/drawingml/2006/table">
            <a:tbl>
              <a:tblPr>
                <a:effectLst/>
              </a:tblPr>
              <a:tblGrid>
                <a:gridCol w="2531745"/>
                <a:gridCol w="1883410"/>
                <a:gridCol w="2072005"/>
                <a:gridCol w="1993265"/>
              </a:tblGrid>
              <a:tr h="782320">
                <a:tc>
                  <a:txBody>
                    <a:bodyPr rtlCol="0"/>
                    <a:lstStyle/>
                    <a:p>
                      <a:pPr indent="0" algn="ctr">
                        <a:lnSpc>
                          <a:spcPct val="120000"/>
                        </a:lnSpc>
                        <a:defRPr/>
                      </a:pPr>
                      <a:r>
                        <a:rPr lang="zh-CN" sz="14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维度</a:t>
                      </a:r>
                      <a:endParaRPr lang="zh-CN" sz="14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4FD1C5">
                        <a:alpha val="100000"/>
                      </a:srgbClr>
                    </a:solidFill>
                  </a:tcPr>
                </a:tc>
                <a:tc>
                  <a:txBody>
                    <a:bodyPr rtlCol="0"/>
                    <a:lstStyle/>
                    <a:p>
                      <a:pPr indent="0" algn="ctr">
                        <a:lnSpc>
                          <a:spcPct val="120000"/>
                        </a:lnSpc>
                        <a:defRPr/>
                      </a:pPr>
                      <a:r>
                        <a:rPr lang="en-US" sz="14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Prompt</a:t>
                      </a:r>
                      <a:r>
                        <a:rPr lang="zh-CN" altLang="en-US" sz="14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版得分</a:t>
                      </a:r>
                      <a:endParaRPr lang="zh-CN" altLang="en-US" sz="14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4FD1C5">
                        <a:alpha val="100000"/>
                      </a:srgbClr>
                    </a:solidFill>
                  </a:tcPr>
                </a:tc>
                <a:tc>
                  <a:txBody>
                    <a:bodyPr rtlCol="0"/>
                    <a:lstStyle/>
                    <a:p>
                      <a:pPr indent="0" algn="ctr">
                        <a:lnSpc>
                          <a:spcPct val="120000"/>
                        </a:lnSpc>
                        <a:defRPr/>
                      </a:pPr>
                      <a:r>
                        <a:rPr lang="en-US" sz="14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Skill</a:t>
                      </a:r>
                      <a:r>
                        <a:rPr lang="zh-CN" altLang="en-US" sz="14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版得分</a:t>
                      </a:r>
                      <a:endParaRPr lang="zh-CN" altLang="en-US" sz="14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4FD1C5">
                        <a:alpha val="100000"/>
                      </a:srgbClr>
                    </a:solidFill>
                  </a:tcPr>
                </a:tc>
                <a:tc>
                  <a:txBody>
                    <a:bodyPr rtlCol="0"/>
                    <a:lstStyle/>
                    <a:p>
                      <a:pPr indent="0" algn="ctr">
                        <a:lnSpc>
                          <a:spcPct val="120000"/>
                        </a:lnSpc>
                        <a:defRPr/>
                      </a:pPr>
                      <a:r>
                        <a:rPr lang="zh-CN" sz="14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提升幅度</a:t>
                      </a:r>
                      <a:endParaRPr lang="zh-CN" sz="14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4FD1C5">
                        <a:alpha val="100000"/>
                      </a:srgbClr>
                    </a:solidFill>
                  </a:tcPr>
                </a:tc>
              </a:tr>
              <a:tr h="433705">
                <a:tc>
                  <a:txBody>
                    <a:bodyPr rtlCol="0"/>
                    <a:lstStyle/>
                    <a:p>
                      <a:pPr marL="0" indent="0" algn="ctr">
                        <a:lnSpc>
                          <a:spcPct val="120000"/>
                        </a:lnSpc>
                        <a:defRPr/>
                      </a:pPr>
                      <a:r>
                        <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数据预处理</a:t>
                      </a:r>
                      <a:endPar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F7FAFC">
                        <a:alpha val="80000"/>
                      </a:srgbClr>
                    </a:solidFill>
                  </a:tcPr>
                </a:tc>
                <a:tc>
                  <a:txBody>
                    <a:bodyPr rtlCol="0"/>
                    <a:lstStyle/>
                    <a:p>
                      <a:pPr indent="0" algn="ctr">
                        <a:lnSpc>
                          <a:spcPct val="120000"/>
                        </a:lnSpc>
                        <a:defRPr/>
                      </a:pPr>
                      <a:r>
                        <a:rPr lang="en-US" sz="14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55</a:t>
                      </a:r>
                      <a:endParaRPr lang="en-US" sz="14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F7FAFC">
                        <a:alpha val="80000"/>
                      </a:srgbClr>
                    </a:solidFill>
                  </a:tcPr>
                </a:tc>
                <a:tc>
                  <a:txBody>
                    <a:bodyPr rtlCol="0"/>
                    <a:lstStyle/>
                    <a:p>
                      <a:pPr indent="0" algn="ctr">
                        <a:lnSpc>
                          <a:spcPct val="120000"/>
                        </a:lnSpc>
                        <a:defRPr/>
                      </a:pPr>
                      <a:r>
                        <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85</a:t>
                      </a:r>
                      <a:endPar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F7FAFC">
                        <a:alpha val="80000"/>
                      </a:srgbClr>
                    </a:solidFill>
                  </a:tcPr>
                </a:tc>
                <a:tc>
                  <a:txBody>
                    <a:bodyPr rtlCol="0"/>
                    <a:lstStyle/>
                    <a:p>
                      <a:pPr indent="0" algn="ctr">
                        <a:lnSpc>
                          <a:spcPct val="120000"/>
                        </a:lnSpc>
                        <a:defRPr/>
                      </a:pPr>
                      <a:r>
                        <a:rPr lang="en-US" sz="1400" b="1" i="0" u="none" strike="noStrike">
                          <a:solidFill>
                            <a:srgbClr val="4FD1C5"/>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+55%</a:t>
                      </a:r>
                      <a:endParaRPr lang="en-US" sz="1400" b="1" i="0" u="none" strike="noStrike">
                        <a:solidFill>
                          <a:srgbClr val="4FD1C5"/>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F7FAFC">
                        <a:alpha val="80000"/>
                      </a:srgbClr>
                    </a:solidFill>
                  </a:tcPr>
                </a:tc>
              </a:tr>
              <a:tr h="433705">
                <a:tc>
                  <a:txBody>
                    <a:bodyPr rtlCol="0"/>
                    <a:lstStyle/>
                    <a:p>
                      <a:pPr marL="0" indent="0" algn="ctr">
                        <a:lnSpc>
                          <a:spcPct val="120000"/>
                        </a:lnSpc>
                        <a:defRPr/>
                      </a:pPr>
                      <a:r>
                        <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统计严谨性</a:t>
                      </a:r>
                      <a:endPar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EDF2F7">
                        <a:alpha val="80000"/>
                      </a:srgbClr>
                    </a:solidFill>
                  </a:tcPr>
                </a:tc>
                <a:tc>
                  <a:txBody>
                    <a:bodyPr rtlCol="0"/>
                    <a:lstStyle/>
                    <a:p>
                      <a:pPr indent="0" algn="ctr">
                        <a:lnSpc>
                          <a:spcPct val="120000"/>
                        </a:lnSpc>
                        <a:defRPr/>
                      </a:pPr>
                      <a:r>
                        <a:rPr lang="en-US" sz="14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30</a:t>
                      </a:r>
                      <a:endParaRPr lang="en-US" sz="14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EDF2F7">
                        <a:alpha val="80000"/>
                      </a:srgbClr>
                    </a:solidFill>
                  </a:tcPr>
                </a:tc>
                <a:tc>
                  <a:txBody>
                    <a:bodyPr rtlCol="0"/>
                    <a:lstStyle/>
                    <a:p>
                      <a:pPr indent="0" algn="ctr">
                        <a:lnSpc>
                          <a:spcPct val="120000"/>
                        </a:lnSpc>
                        <a:defRPr/>
                      </a:pPr>
                      <a:r>
                        <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90</a:t>
                      </a:r>
                      <a:endPar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EDF2F7">
                        <a:alpha val="80000"/>
                      </a:srgbClr>
                    </a:solidFill>
                  </a:tcPr>
                </a:tc>
                <a:tc>
                  <a:txBody>
                    <a:bodyPr rtlCol="0"/>
                    <a:lstStyle/>
                    <a:p>
                      <a:pPr indent="0" algn="ctr">
                        <a:lnSpc>
                          <a:spcPct val="120000"/>
                        </a:lnSpc>
                        <a:defRPr/>
                      </a:pPr>
                      <a:r>
                        <a:rPr lang="en-US" sz="1400" b="1" i="0" u="none" strike="noStrike">
                          <a:solidFill>
                            <a:srgbClr val="ED8936"/>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+200%</a:t>
                      </a:r>
                      <a:endParaRPr lang="en-US" sz="1400" b="1" i="0" u="none" strike="noStrike">
                        <a:solidFill>
                          <a:srgbClr val="ED8936"/>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EDF2F7">
                        <a:alpha val="80000"/>
                      </a:srgbClr>
                    </a:solidFill>
                  </a:tcPr>
                </a:tc>
              </a:tr>
              <a:tr h="433705">
                <a:tc>
                  <a:txBody>
                    <a:bodyPr rtlCol="0"/>
                    <a:lstStyle/>
                    <a:p>
                      <a:pPr marL="0" indent="0" algn="ctr">
                        <a:lnSpc>
                          <a:spcPct val="120000"/>
                        </a:lnSpc>
                        <a:defRPr/>
                      </a:pPr>
                      <a:r>
                        <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模型评估可靠性</a:t>
                      </a:r>
                      <a:endPar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F7FAFC">
                        <a:alpha val="80000"/>
                      </a:srgbClr>
                    </a:solidFill>
                  </a:tcPr>
                </a:tc>
                <a:tc>
                  <a:txBody>
                    <a:bodyPr rtlCol="0"/>
                    <a:lstStyle/>
                    <a:p>
                      <a:pPr indent="0" algn="ctr">
                        <a:lnSpc>
                          <a:spcPct val="120000"/>
                        </a:lnSpc>
                        <a:defRPr/>
                      </a:pPr>
                      <a:r>
                        <a:rPr lang="en-US" sz="14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35</a:t>
                      </a:r>
                      <a:endParaRPr lang="en-US" sz="14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F7FAFC">
                        <a:alpha val="80000"/>
                      </a:srgbClr>
                    </a:solidFill>
                  </a:tcPr>
                </a:tc>
                <a:tc>
                  <a:txBody>
                    <a:bodyPr rtlCol="0"/>
                    <a:lstStyle/>
                    <a:p>
                      <a:pPr indent="0" algn="ctr">
                        <a:lnSpc>
                          <a:spcPct val="120000"/>
                        </a:lnSpc>
                        <a:defRPr/>
                      </a:pPr>
                      <a:r>
                        <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92</a:t>
                      </a:r>
                      <a:endPar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F7FAFC">
                        <a:alpha val="80000"/>
                      </a:srgbClr>
                    </a:solidFill>
                  </a:tcPr>
                </a:tc>
                <a:tc>
                  <a:txBody>
                    <a:bodyPr rtlCol="0"/>
                    <a:lstStyle/>
                    <a:p>
                      <a:pPr indent="0" algn="ctr">
                        <a:lnSpc>
                          <a:spcPct val="120000"/>
                        </a:lnSpc>
                        <a:defRPr/>
                      </a:pPr>
                      <a:r>
                        <a:rPr lang="en-US" sz="1400" b="1" i="0" u="none" strike="noStrike">
                          <a:solidFill>
                            <a:srgbClr val="ED8936"/>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+163%</a:t>
                      </a:r>
                      <a:endParaRPr lang="en-US" sz="1400" b="1" i="0" u="none" strike="noStrike">
                        <a:solidFill>
                          <a:srgbClr val="ED8936"/>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F7FAFC">
                        <a:alpha val="80000"/>
                      </a:srgbClr>
                    </a:solidFill>
                  </a:tcPr>
                </a:tc>
              </a:tr>
              <a:tr h="433070">
                <a:tc>
                  <a:txBody>
                    <a:bodyPr rtlCol="0"/>
                    <a:lstStyle/>
                    <a:p>
                      <a:pPr marL="0" indent="0" algn="ctr">
                        <a:lnSpc>
                          <a:spcPct val="120000"/>
                        </a:lnSpc>
                        <a:defRPr/>
                      </a:pPr>
                      <a:r>
                        <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类别平衡处理</a:t>
                      </a:r>
                      <a:endPar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EDF2F7">
                        <a:alpha val="80000"/>
                      </a:srgbClr>
                    </a:solidFill>
                  </a:tcPr>
                </a:tc>
                <a:tc>
                  <a:txBody>
                    <a:bodyPr rtlCol="0"/>
                    <a:lstStyle/>
                    <a:p>
                      <a:pPr indent="0" algn="ctr">
                        <a:lnSpc>
                          <a:spcPct val="120000"/>
                        </a:lnSpc>
                        <a:defRPr/>
                      </a:pPr>
                      <a:r>
                        <a:rPr lang="en-US" sz="14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0</a:t>
                      </a:r>
                      <a:endParaRPr lang="en-US" sz="14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EDF2F7">
                        <a:alpha val="80000"/>
                      </a:srgbClr>
                    </a:solidFill>
                  </a:tcPr>
                </a:tc>
                <a:tc>
                  <a:txBody>
                    <a:bodyPr rtlCol="0"/>
                    <a:lstStyle/>
                    <a:p>
                      <a:pPr indent="0" algn="ctr">
                        <a:lnSpc>
                          <a:spcPct val="120000"/>
                        </a:lnSpc>
                        <a:defRPr/>
                      </a:pPr>
                      <a:r>
                        <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75</a:t>
                      </a:r>
                      <a:endPar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EDF2F7">
                        <a:alpha val="80000"/>
                      </a:srgbClr>
                    </a:solidFill>
                  </a:tcPr>
                </a:tc>
                <a:tc>
                  <a:txBody>
                    <a:bodyPr rtlCol="0"/>
                    <a:lstStyle/>
                    <a:p>
                      <a:pPr indent="0" algn="ctr">
                        <a:lnSpc>
                          <a:spcPct val="120000"/>
                        </a:lnSpc>
                        <a:defRPr/>
                      </a:pPr>
                      <a:r>
                        <a:rPr lang="en-US" sz="1400" b="1" i="0" u="none" strike="noStrike">
                          <a:solidFill>
                            <a:srgbClr val="4FD1C5"/>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从无到有</a:t>
                      </a:r>
                      <a:endParaRPr lang="en-US" sz="1400" b="1" i="0" u="none" strike="noStrike">
                        <a:solidFill>
                          <a:srgbClr val="4FD1C5"/>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EDF2F7">
                        <a:alpha val="80000"/>
                      </a:srgbClr>
                    </a:solidFill>
                  </a:tcPr>
                </a:tc>
              </a:tr>
              <a:tr h="433705">
                <a:tc>
                  <a:txBody>
                    <a:bodyPr rtlCol="0"/>
                    <a:lstStyle/>
                    <a:p>
                      <a:pPr marL="0" indent="0" algn="ctr">
                        <a:lnSpc>
                          <a:spcPct val="120000"/>
                        </a:lnSpc>
                        <a:defRPr/>
                      </a:pPr>
                      <a:r>
                        <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匹配区分度</a:t>
                      </a:r>
                      <a:endPar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F7FAFC">
                        <a:alpha val="80000"/>
                      </a:srgbClr>
                    </a:solidFill>
                  </a:tcPr>
                </a:tc>
                <a:tc>
                  <a:txBody>
                    <a:bodyPr rtlCol="0"/>
                    <a:lstStyle/>
                    <a:p>
                      <a:pPr indent="0" algn="ctr">
                        <a:lnSpc>
                          <a:spcPct val="120000"/>
                        </a:lnSpc>
                        <a:defRPr/>
                      </a:pPr>
                      <a:r>
                        <a:rPr lang="en-US" sz="14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20</a:t>
                      </a:r>
                      <a:endParaRPr lang="en-US" sz="14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F7FAFC">
                        <a:alpha val="80000"/>
                      </a:srgbClr>
                    </a:solidFill>
                  </a:tcPr>
                </a:tc>
                <a:tc>
                  <a:txBody>
                    <a:bodyPr rtlCol="0"/>
                    <a:lstStyle/>
                    <a:p>
                      <a:pPr indent="0" algn="ctr">
                        <a:lnSpc>
                          <a:spcPct val="120000"/>
                        </a:lnSpc>
                        <a:defRPr/>
                      </a:pPr>
                      <a:r>
                        <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60</a:t>
                      </a:r>
                      <a:endPar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F7FAFC">
                        <a:alpha val="80000"/>
                      </a:srgbClr>
                    </a:solidFill>
                  </a:tcPr>
                </a:tc>
                <a:tc>
                  <a:txBody>
                    <a:bodyPr rtlCol="0"/>
                    <a:lstStyle/>
                    <a:p>
                      <a:pPr indent="0" algn="ctr">
                        <a:lnSpc>
                          <a:spcPct val="120000"/>
                        </a:lnSpc>
                        <a:defRPr/>
                      </a:pPr>
                      <a:r>
                        <a:rPr lang="en-US" sz="1400" b="1" i="0" u="none" strike="noStrike">
                          <a:solidFill>
                            <a:srgbClr val="ED8936"/>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+200%</a:t>
                      </a:r>
                      <a:endParaRPr lang="en-US" sz="1400" b="1" i="0" u="none" strike="noStrike">
                        <a:solidFill>
                          <a:srgbClr val="ED8936"/>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F7FAFC">
                        <a:alpha val="80000"/>
                      </a:srgbClr>
                    </a:solidFill>
                  </a:tcPr>
                </a:tc>
              </a:tr>
              <a:tr h="433705">
                <a:tc>
                  <a:txBody>
                    <a:bodyPr rtlCol="0"/>
                    <a:lstStyle/>
                    <a:p>
                      <a:pPr marL="0" indent="0" algn="ctr">
                        <a:lnSpc>
                          <a:spcPct val="120000"/>
                        </a:lnSpc>
                        <a:defRPr/>
                      </a:pPr>
                      <a:r>
                        <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代码质量</a:t>
                      </a:r>
                      <a:endPar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EDF2F7">
                        <a:alpha val="80000"/>
                      </a:srgbClr>
                    </a:solidFill>
                  </a:tcPr>
                </a:tc>
                <a:tc>
                  <a:txBody>
                    <a:bodyPr rtlCol="0"/>
                    <a:lstStyle/>
                    <a:p>
                      <a:pPr indent="0" algn="ctr">
                        <a:lnSpc>
                          <a:spcPct val="120000"/>
                        </a:lnSpc>
                        <a:defRPr/>
                      </a:pPr>
                      <a:r>
                        <a:rPr lang="en-US" sz="14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50</a:t>
                      </a:r>
                      <a:endParaRPr lang="en-US" sz="14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EDF2F7">
                        <a:alpha val="80000"/>
                      </a:srgbClr>
                    </a:solidFill>
                  </a:tcPr>
                </a:tc>
                <a:tc>
                  <a:txBody>
                    <a:bodyPr rtlCol="0"/>
                    <a:lstStyle/>
                    <a:p>
                      <a:pPr indent="0" algn="ctr">
                        <a:lnSpc>
                          <a:spcPct val="120000"/>
                        </a:lnSpc>
                        <a:defRPr/>
                      </a:pPr>
                      <a:r>
                        <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85</a:t>
                      </a:r>
                      <a:endPar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EDF2F7">
                        <a:alpha val="80000"/>
                      </a:srgbClr>
                    </a:solidFill>
                  </a:tcPr>
                </a:tc>
                <a:tc>
                  <a:txBody>
                    <a:bodyPr rtlCol="0"/>
                    <a:lstStyle/>
                    <a:p>
                      <a:pPr indent="0" algn="ctr">
                        <a:lnSpc>
                          <a:spcPct val="120000"/>
                        </a:lnSpc>
                        <a:defRPr/>
                      </a:pPr>
                      <a:r>
                        <a:rPr lang="en-US" sz="1400" b="1" i="0" u="none" strike="noStrike">
                          <a:solidFill>
                            <a:srgbClr val="4FD1C5"/>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+70%</a:t>
                      </a:r>
                      <a:endParaRPr lang="en-US" sz="1400" b="1" i="0" u="none" strike="noStrike">
                        <a:solidFill>
                          <a:srgbClr val="4FD1C5"/>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EDF2F7">
                        <a:alpha val="80000"/>
                      </a:srgbClr>
                    </a:solidFill>
                  </a:tcPr>
                </a:tc>
              </a:tr>
              <a:tr h="433705">
                <a:tc>
                  <a:txBody>
                    <a:bodyPr rtlCol="0"/>
                    <a:lstStyle/>
                    <a:p>
                      <a:pPr marL="0" indent="0" algn="ctr">
                        <a:lnSpc>
                          <a:spcPct val="120000"/>
                        </a:lnSpc>
                        <a:defRPr/>
                      </a:pPr>
                      <a:r>
                        <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加权总分</a:t>
                      </a:r>
                      <a:endPar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4FD1C5">
                        <a:alpha val="20000"/>
                      </a:srgbClr>
                    </a:solidFill>
                  </a:tcPr>
                </a:tc>
                <a:tc>
                  <a:txBody>
                    <a:bodyPr rtlCol="0"/>
                    <a:lstStyle/>
                    <a:p>
                      <a:pPr indent="0" algn="ctr">
                        <a:lnSpc>
                          <a:spcPct val="120000"/>
                        </a:lnSpc>
                        <a:defRPr/>
                      </a:pPr>
                      <a:r>
                        <a:rPr lang="en-US" sz="1400" b="1"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34.5</a:t>
                      </a:r>
                      <a:endParaRPr lang="en-US" sz="1400" b="1"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4FD1C5">
                        <a:alpha val="20000"/>
                      </a:srgbClr>
                    </a:solidFill>
                  </a:tcPr>
                </a:tc>
                <a:tc>
                  <a:txBody>
                    <a:bodyPr rtlCol="0"/>
                    <a:lstStyle/>
                    <a:p>
                      <a:pPr indent="0" algn="ctr">
                        <a:lnSpc>
                          <a:spcPct val="120000"/>
                        </a:lnSpc>
                        <a:defRPr/>
                      </a:pPr>
                      <a:r>
                        <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78.5</a:t>
                      </a:r>
                      <a:endParaRPr lang="en-US" sz="14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4FD1C5">
                        <a:alpha val="20000"/>
                      </a:srgbClr>
                    </a:solidFill>
                  </a:tcPr>
                </a:tc>
                <a:tc>
                  <a:txBody>
                    <a:bodyPr rtlCol="0"/>
                    <a:lstStyle/>
                    <a:p>
                      <a:pPr indent="0" algn="ctr">
                        <a:lnSpc>
                          <a:spcPct val="120000"/>
                        </a:lnSpc>
                        <a:defRPr/>
                      </a:pPr>
                      <a:r>
                        <a:rPr lang="en-US" sz="1400" b="1" i="0" u="none" strike="noStrike">
                          <a:solidFill>
                            <a:srgbClr val="E53E3E"/>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+128%</a:t>
                      </a:r>
                      <a:endParaRPr lang="en-US" sz="1400" b="1" i="0" u="none" strike="noStrike">
                        <a:solidFill>
                          <a:srgbClr val="E53E3E"/>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254000" marR="254000" marT="76200" marB="76200" anchor="ctr" anchorCtr="0">
                    <a:lnL>
                      <a:noFill/>
                    </a:lnL>
                    <a:lnR>
                      <a:noFill/>
                    </a:lnR>
                    <a:lnT>
                      <a:noFill/>
                    </a:lnT>
                    <a:lnB>
                      <a:noFill/>
                    </a:lnB>
                    <a:solidFill>
                      <a:srgbClr val="4FD1C5">
                        <a:alpha val="20000"/>
                      </a:srgbClr>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Prompt版 vs. 范例报告：核心差距分析</a:t>
            </a:r>
            <a:endParaRPr lang="en-US" sz="1100"/>
          </a:p>
        </p:txBody>
      </p:sp>
      <p:sp>
        <p:nvSpPr>
          <p:cNvPr id="4" name="AutoShape 4"/>
          <p:cNvSpPr/>
          <p:nvPr/>
        </p:nvSpPr>
        <p:spPr>
          <a:xfrm>
            <a:off x="762000" y="1651000"/>
            <a:ext cx="3302000" cy="4572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1955800"/>
            <a:ext cx="609600" cy="609600"/>
          </a:xfrm>
          <a:prstGeom prst="rect">
            <a:avLst/>
          </a:prstGeom>
        </p:spPr>
      </p:pic>
      <p:sp>
        <p:nvSpPr>
          <p:cNvPr id="6" name="AutoShape 6"/>
          <p:cNvSpPr/>
          <p:nvPr/>
        </p:nvSpPr>
        <p:spPr>
          <a:xfrm>
            <a:off x="1778000" y="1955800"/>
            <a:ext cx="241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P0级问题：</a:t>
            </a:r>
            <a:b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失业召回率几乎为0</a:t>
            </a:r>
            <a:endParaRPr lang="en-US" sz="1100"/>
          </a:p>
        </p:txBody>
      </p:sp>
      <p:sp>
        <p:nvSpPr>
          <p:cNvPr id="7" name="AutoShape 7"/>
          <p:cNvSpPr/>
          <p:nvPr/>
        </p:nvSpPr>
        <p:spPr>
          <a:xfrm>
            <a:off x="1066800" y="2921000"/>
            <a:ext cx="2794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现象：</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模型几乎将所有样本都预测为“就业”，完全无法识别“失业”样本，导致该类别的召回率接近零。</a:t>
            </a:r>
            <a:endParaRPr lang="en-US" sz="1100"/>
          </a:p>
          <a:p>
            <a:pPr indent="0" algn="l">
              <a:lnSpc>
                <a:spcPct val="125000"/>
              </a:lnSpc>
            </a:pP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原因：</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AI在无明确指令时，不会主动处理</a:t>
            </a:r>
            <a:r>
              <a:rPr lang="en-US" sz="13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类别不平衡</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问题（就业与失业比例约3.4:1），这是简单Prompt模式最致命的缺陷。</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4445000" y="1651000"/>
            <a:ext cx="3302000" cy="4572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1955800"/>
            <a:ext cx="609600" cy="609600"/>
          </a:xfrm>
          <a:prstGeom prst="rect">
            <a:avLst/>
          </a:prstGeom>
        </p:spPr>
      </p:pic>
      <p:sp>
        <p:nvSpPr>
          <p:cNvPr id="10" name="AutoShape 10"/>
          <p:cNvSpPr/>
          <p:nvPr/>
        </p:nvSpPr>
        <p:spPr>
          <a:xfrm>
            <a:off x="5461000" y="1955800"/>
            <a:ext cx="241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P1级问题：</a:t>
            </a:r>
            <a:b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人岗匹配区分度低</a:t>
            </a:r>
            <a:endParaRPr lang="en-US" sz="1100"/>
          </a:p>
        </p:txBody>
      </p:sp>
      <p:sp>
        <p:nvSpPr>
          <p:cNvPr id="11" name="AutoShape 11"/>
          <p:cNvSpPr/>
          <p:nvPr/>
        </p:nvSpPr>
        <p:spPr>
          <a:xfrm>
            <a:off x="4749800" y="2921000"/>
            <a:ext cx="2794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现象：</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计算出的岗位相似度平均值高达0.998，数值极度趋同，无法对不同候选人与岗位的匹配度进行有效区分。</a:t>
            </a:r>
            <a:endParaRPr lang="en-US" sz="1100"/>
          </a:p>
          <a:p>
            <a:pPr indent="0" algn="l">
              <a:lnSpc>
                <a:spcPct val="125000"/>
              </a:lnSpc>
            </a:pP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原因：</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Prompt指令中对特征权重分配和维度设计不足，导致特征空间坍缩，模型输出缺乏有效的区分度。</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8128000" y="1651000"/>
            <a:ext cx="3302000" cy="4572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32800" y="1955800"/>
            <a:ext cx="609600" cy="609600"/>
          </a:xfrm>
          <a:prstGeom prst="rect">
            <a:avLst/>
          </a:prstGeom>
        </p:spPr>
      </p:pic>
      <p:sp>
        <p:nvSpPr>
          <p:cNvPr id="14" name="AutoShape 14"/>
          <p:cNvSpPr/>
          <p:nvPr/>
        </p:nvSpPr>
        <p:spPr>
          <a:xfrm>
            <a:off x="9144000" y="1955800"/>
            <a:ext cx="241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其他差距：</a:t>
            </a:r>
            <a:b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评估与结构缺失</a:t>
            </a:r>
            <a:endParaRPr lang="en-US" sz="1100"/>
          </a:p>
        </p:txBody>
      </p:sp>
      <p:sp>
        <p:nvSpPr>
          <p:cNvPr id="15" name="AutoShape 15"/>
          <p:cNvSpPr/>
          <p:nvPr/>
        </p:nvSpPr>
        <p:spPr>
          <a:xfrm>
            <a:off x="8432800" y="2921000"/>
            <a:ext cx="2794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缺乏系统性评估：</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未进行交叉验证（CV）和超参数调优，模型的泛化能力和鲁棒性无法得到验证。</a:t>
            </a:r>
            <a:endParaRPr lang="en-US" sz="1100"/>
          </a:p>
          <a:p>
            <a:pPr indent="0" algn="l">
              <a:lnSpc>
                <a:spcPct val="125000"/>
              </a:lnSpc>
            </a:pPr>
            <a:r>
              <a:rPr lang="en-US" sz="13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报告结构不完整：</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缺少数据质量评估、灵敏度分析等学术报告必备章节，论证过程不够严谨。</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1016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Skill版 vs. 范例报告：优势与不足</a:t>
            </a:r>
            <a:endParaRPr lang="en-US" sz="1100"/>
          </a:p>
        </p:txBody>
      </p:sp>
      <p:sp>
        <p:nvSpPr>
          <p:cNvPr id="4" name="AutoShape 4"/>
          <p:cNvSpPr/>
          <p:nvPr/>
        </p:nvSpPr>
        <p:spPr>
          <a:xfrm>
            <a:off x="762000" y="1397000"/>
            <a:ext cx="5207000" cy="48260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51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Skill版的优势：方法论严谨性</a:t>
            </a:r>
            <a:endParaRPr lang="en-US" sz="1100"/>
          </a:p>
        </p:txBody>
      </p:sp>
      <p:pic>
        <p:nvPicPr>
          <p:cNvPr id="6" name="Picture 6"/>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590800"/>
            <a:ext cx="406400" cy="406400"/>
          </a:xfrm>
          <a:prstGeom prst="rect">
            <a:avLst/>
          </a:prstGeom>
        </p:spPr>
      </p:pic>
      <p:sp>
        <p:nvSpPr>
          <p:cNvPr id="7" name="AutoShape 7"/>
          <p:cNvSpPr/>
          <p:nvPr>
            <p:custDataLst>
              <p:tags r:id="rId5"/>
            </p:custDataLst>
          </p:nvPr>
        </p:nvSpPr>
        <p:spPr>
          <a:xfrm>
            <a:off x="1549400" y="22860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统计推断</a:t>
            </a:r>
            <a:endParaRPr lang="en-US" sz="1100"/>
          </a:p>
          <a:p>
            <a:pPr indent="0" algn="l">
              <a:lnSpc>
                <a:spcPct val="108000"/>
              </a:lnSpc>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引入卡方检验和Cramér's V效应量，从统计学上证实特征与就业状态的关联性，弥补了范例报告的空白。</a:t>
            </a:r>
            <a:endPar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Picture 8"/>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738245"/>
            <a:ext cx="406400" cy="406400"/>
          </a:xfrm>
          <a:prstGeom prst="rect">
            <a:avLst/>
          </a:prstGeom>
        </p:spPr>
      </p:pic>
      <p:sp>
        <p:nvSpPr>
          <p:cNvPr id="9" name="AutoShape 9"/>
          <p:cNvSpPr/>
          <p:nvPr>
            <p:custDataLst>
              <p:tags r:id="rId9"/>
            </p:custDataLst>
          </p:nvPr>
        </p:nvSpPr>
        <p:spPr>
          <a:xfrm>
            <a:off x="1549400" y="35560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评估可靠性</a:t>
            </a:r>
            <a:endParaRPr lang="en-US" sz="1100"/>
          </a:p>
          <a:p>
            <a:pPr indent="0" algn="l">
              <a:lnSpc>
                <a:spcPct val="108000"/>
              </a:lnSpc>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采用5折交叉验证并报告均值±标准差，相比范例报告的单次划分，评估结果更加科学、可靠。</a:t>
            </a:r>
            <a:endPar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Picture 10"/>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6000" y="4947285"/>
            <a:ext cx="406400" cy="406400"/>
          </a:xfrm>
          <a:prstGeom prst="rect">
            <a:avLst/>
          </a:prstGeom>
        </p:spPr>
      </p:pic>
      <p:sp>
        <p:nvSpPr>
          <p:cNvPr id="11" name="AutoShape 11"/>
          <p:cNvSpPr/>
          <p:nvPr>
            <p:custDataLst>
              <p:tags r:id="rId13"/>
            </p:custDataLst>
          </p:nvPr>
        </p:nvSpPr>
        <p:spPr>
          <a:xfrm>
            <a:off x="1549400" y="48260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增量创新</a:t>
            </a:r>
            <a:endParaRPr lang="en-US" sz="1100"/>
          </a:p>
          <a:p>
            <a:pPr indent="0" algn="l">
              <a:lnSpc>
                <a:spcPct val="108000"/>
              </a:lnSpc>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设计“个体-宏观”交互特征（如年龄×GDP），捕捉不同人群对宏观环境的差异化敏感度，实现模型创新。</a:t>
            </a:r>
            <a:endPar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6223000" y="1397000"/>
            <a:ext cx="5207000" cy="4826000"/>
          </a:xfrm>
          <a:prstGeom prst="roundRect">
            <a:avLst>
              <a:gd name="adj" fmla="val 0"/>
            </a:avLst>
          </a:prstGeom>
          <a:solidFill>
            <a:srgbClr val="E2E8F0">
              <a:alpha val="6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77000" y="1651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Skill版的不足：写作深度与广度</a:t>
            </a:r>
            <a:endParaRPr lang="en-US" sz="1100"/>
          </a:p>
        </p:txBody>
      </p:sp>
      <p:pic>
        <p:nvPicPr>
          <p:cNvPr id="14" name="Picture 14"/>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477000" y="2433955"/>
            <a:ext cx="406400" cy="406400"/>
          </a:xfrm>
          <a:prstGeom prst="rect">
            <a:avLst/>
          </a:prstGeom>
        </p:spPr>
      </p:pic>
      <p:sp>
        <p:nvSpPr>
          <p:cNvPr id="15" name="AutoShape 15"/>
          <p:cNvSpPr/>
          <p:nvPr>
            <p:custDataLst>
              <p:tags r:id="rId17"/>
            </p:custDataLst>
          </p:nvPr>
        </p:nvSpPr>
        <p:spPr>
          <a:xfrm>
            <a:off x="7010400" y="22860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报告篇幅不足</a:t>
            </a:r>
            <a:endParaRPr lang="en-US" sz="1100"/>
          </a:p>
          <a:p>
            <a:pPr indent="0" algn="l">
              <a:lnSpc>
                <a:spcPct val="108000"/>
              </a:lnSpc>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报告总页数仅25页，远少于范例的44页，在研究背景、方法论细节等方面的文字论述不够充分。</a:t>
            </a:r>
            <a:endPar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6" name="Picture 16"/>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477000" y="3738245"/>
            <a:ext cx="406400" cy="406400"/>
          </a:xfrm>
          <a:prstGeom prst="rect">
            <a:avLst/>
          </a:prstGeom>
        </p:spPr>
      </p:pic>
      <p:sp>
        <p:nvSpPr>
          <p:cNvPr id="17" name="AutoShape 17"/>
          <p:cNvSpPr/>
          <p:nvPr>
            <p:custDataLst>
              <p:tags r:id="rId21"/>
            </p:custDataLst>
          </p:nvPr>
        </p:nvSpPr>
        <p:spPr>
          <a:xfrm>
            <a:off x="7010400" y="35560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内容完整性欠缺</a:t>
            </a:r>
            <a:endParaRPr lang="en-US" sz="1100"/>
          </a:p>
          <a:p>
            <a:pPr indent="0" algn="l">
              <a:lnSpc>
                <a:spcPct val="108000"/>
              </a:lnSpc>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缺失了灵敏度分析、模型改进方向等重要章节，导致报告的论证链条不够完整，逻辑闭环不足。</a:t>
            </a:r>
            <a:endPar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8" name="Picture 18"/>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477000" y="4947285"/>
            <a:ext cx="406400" cy="406400"/>
          </a:xfrm>
          <a:prstGeom prst="rect">
            <a:avLst/>
          </a:prstGeom>
        </p:spPr>
      </p:pic>
      <p:sp>
        <p:nvSpPr>
          <p:cNvPr id="19" name="AutoShape 19"/>
          <p:cNvSpPr/>
          <p:nvPr>
            <p:custDataLst>
              <p:tags r:id="rId25"/>
            </p:custDataLst>
          </p:nvPr>
        </p:nvSpPr>
        <p:spPr>
          <a:xfrm>
            <a:off x="7010400" y="48260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模型性能略低</a:t>
            </a:r>
            <a:endParaRPr lang="en-US" sz="1100"/>
          </a:p>
          <a:p>
            <a:pPr indent="0" algn="l">
              <a:lnSpc>
                <a:spcPct val="108000"/>
              </a:lnSpc>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最终模型F1分数为0.674，低于范例的0.710，推测是由于范例报告进行了更精细的人工超参数调优。</a:t>
            </a:r>
            <a:endPar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635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两种方法的直接对比</a:t>
            </a:r>
            <a:endParaRPr lang="en-US" sz="1100"/>
          </a:p>
        </p:txBody>
      </p:sp>
      <p:graphicFrame>
        <p:nvGraphicFramePr>
          <p:cNvPr id="4" name="Table 4"/>
          <p:cNvGraphicFramePr>
            <a:graphicFrameLocks noGrp="1"/>
          </p:cNvGraphicFramePr>
          <p:nvPr/>
        </p:nvGraphicFramePr>
        <p:xfrm>
          <a:off x="565467" y="1738215"/>
          <a:ext cx="11061065" cy="4039870"/>
        </p:xfrm>
        <a:graphic>
          <a:graphicData uri="http://schemas.openxmlformats.org/drawingml/2006/table">
            <a:tbl>
              <a:tblPr>
                <a:effectLst/>
              </a:tblPr>
              <a:tblGrid>
                <a:gridCol w="1235710"/>
                <a:gridCol w="4926965"/>
                <a:gridCol w="4898390"/>
              </a:tblGrid>
              <a:tr h="583565">
                <a:tc>
                  <a:txBody>
                    <a:bodyPr rtlCol="0"/>
                    <a:lstStyle/>
                    <a:p>
                      <a:pPr indent="0" algn="ctr">
                        <a:lnSpc>
                          <a:spcPct val="120000"/>
                        </a:lnSpc>
                        <a:defRPr/>
                      </a:pPr>
                      <a:r>
                        <a:rPr lang="zh-CN" sz="18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维度</a:t>
                      </a:r>
                      <a:endParaRPr lang="zh-CN" sz="18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a:noFill/>
                    </a:lnT>
                    <a:lnB>
                      <a:noFill/>
                    </a:lnB>
                    <a:solidFill>
                      <a:srgbClr val="4FD1C5">
                        <a:alpha val="100000"/>
                      </a:srgbClr>
                    </a:solidFill>
                  </a:tcPr>
                </a:tc>
                <a:tc>
                  <a:txBody>
                    <a:bodyPr rtlCol="0"/>
                    <a:lstStyle/>
                    <a:p>
                      <a:pPr indent="0" algn="ctr">
                        <a:lnSpc>
                          <a:spcPct val="120000"/>
                        </a:lnSpc>
                        <a:defRPr/>
                      </a:pPr>
                      <a:r>
                        <a:rPr lang="zh-CN" sz="18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简单</a:t>
                      </a:r>
                      <a:r>
                        <a:rPr lang="en-US" altLang="zh-CN" sz="18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Prompt</a:t>
                      </a:r>
                      <a:r>
                        <a:rPr lang="zh-CN" altLang="en-US" sz="18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模式</a:t>
                      </a:r>
                      <a:endParaRPr lang="zh-CN" altLang="en-US" sz="18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a:noFill/>
                    </a:lnT>
                    <a:lnB>
                      <a:noFill/>
                    </a:lnB>
                    <a:solidFill>
                      <a:srgbClr val="4FD1C5">
                        <a:alpha val="100000"/>
                      </a:srgbClr>
                    </a:solidFill>
                  </a:tcPr>
                </a:tc>
                <a:tc>
                  <a:txBody>
                    <a:bodyPr rtlCol="0"/>
                    <a:lstStyle/>
                    <a:p>
                      <a:pPr indent="0" algn="ctr">
                        <a:lnSpc>
                          <a:spcPct val="120000"/>
                        </a:lnSpc>
                        <a:defRPr/>
                      </a:pPr>
                      <a:r>
                        <a:rPr lang="en-US" sz="18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Skill</a:t>
                      </a:r>
                      <a:r>
                        <a:rPr lang="zh-CN" altLang="en-US" sz="18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增强模式</a:t>
                      </a:r>
                      <a:endParaRPr lang="zh-CN" altLang="en-US" sz="1800" b="1" i="0" u="none" strike="noStrike" spc="120">
                        <a:solidFill>
                          <a:srgbClr val="FFFFFF"/>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a:noFill/>
                    </a:lnT>
                    <a:lnB>
                      <a:noFill/>
                    </a:lnB>
                    <a:solidFill>
                      <a:srgbClr val="4FD1C5">
                        <a:alpha val="100000"/>
                      </a:srgbClr>
                    </a:solidFill>
                  </a:tcPr>
                </a:tc>
              </a:tr>
              <a:tr h="535305">
                <a:tc>
                  <a:txBody>
                    <a:bodyPr rtlCol="0"/>
                    <a:lstStyle/>
                    <a:p>
                      <a:pPr indent="0" algn="ctr">
                        <a:lnSpc>
                          <a:spcPct val="120000"/>
                        </a:lnSpc>
                        <a:defRPr/>
                      </a:pPr>
                      <a:r>
                        <a:rPr lang="en-US" sz="10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核心驱动</a:t>
                      </a:r>
                      <a:endParaRPr lang="en-US" sz="10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a:noFill/>
                    </a:lnT>
                    <a:lnB w="12700" cap="flat" cmpd="sng" algn="ctr">
                      <a:solidFill>
                        <a:srgbClr val="E2E8F0"/>
                      </a:solidFill>
                      <a:prstDash val="solid"/>
                      <a:round/>
                      <a:headEnd type="none" w="med" len="med"/>
                      <a:tailEnd type="none" w="med" len="med"/>
                    </a:lnB>
                    <a:solidFill>
                      <a:srgbClr val="F7FAFC">
                        <a:alpha val="100000"/>
                      </a:srgbClr>
                    </a:solidFill>
                  </a:tcPr>
                </a:tc>
                <a:tc>
                  <a:txBody>
                    <a:bodyPr rtlCol="0"/>
                    <a:lstStyle/>
                    <a:p>
                      <a:pPr indent="0" algn="l">
                        <a:lnSpc>
                          <a:spcPct val="120000"/>
                        </a:lnSpc>
                        <a:defRPr/>
                      </a:pPr>
                      <a: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用户的自然语言指令，AI根据指令直接生成内容，缺乏内在的逻辑框架约束。</a:t>
                      </a:r>
                      <a:endPar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a:noFill/>
                    </a:lnT>
                    <a:lnB w="12700" cap="flat" cmpd="sng" algn="ctr">
                      <a:solidFill>
                        <a:srgbClr val="E2E8F0"/>
                      </a:solidFill>
                      <a:prstDash val="solid"/>
                      <a:round/>
                      <a:headEnd type="none" w="med" len="med"/>
                      <a:tailEnd type="none" w="med" len="med"/>
                    </a:lnB>
                    <a:solidFill>
                      <a:srgbClr val="FFFFFF">
                        <a:alpha val="100000"/>
                      </a:srgbClr>
                    </a:solidFill>
                  </a:tcPr>
                </a:tc>
                <a:tc>
                  <a:txBody>
                    <a:bodyPr rtlCol="0"/>
                    <a:lstStyle/>
                    <a:p>
                      <a:pPr indent="0" algn="l">
                        <a:lnSpc>
                          <a:spcPct val="120000"/>
                        </a:lnSpc>
                        <a:defRPr/>
                      </a:pPr>
                      <a: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基于预设的专业方法论（Skill），AI按照既定的步骤和逻辑进行推理和执行。</a:t>
                      </a:r>
                      <a:endPar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a:noFill/>
                    </a:lnT>
                    <a:lnB w="12700" cap="flat" cmpd="sng" algn="ctr">
                      <a:solidFill>
                        <a:srgbClr val="E2E8F0"/>
                      </a:solidFill>
                      <a:prstDash val="solid"/>
                      <a:round/>
                      <a:headEnd type="none" w="med" len="med"/>
                      <a:tailEnd type="none" w="med" len="med"/>
                    </a:lnB>
                    <a:solidFill>
                      <a:srgbClr val="FFFFFF">
                        <a:alpha val="100000"/>
                      </a:srgbClr>
                    </a:solidFill>
                  </a:tcPr>
                </a:tc>
              </a:tr>
              <a:tr h="535305">
                <a:tc>
                  <a:txBody>
                    <a:bodyPr rtlCol="0"/>
                    <a:lstStyle/>
                    <a:p>
                      <a:pPr indent="0" algn="ctr">
                        <a:lnSpc>
                          <a:spcPct val="120000"/>
                        </a:lnSpc>
                        <a:defRPr/>
                      </a:pPr>
                      <a:r>
                        <a:rPr lang="en-US" sz="10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工作流程</a:t>
                      </a:r>
                      <a:endParaRPr lang="en-US" sz="10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7FAFC">
                        <a:alpha val="100000"/>
                      </a:srgbClr>
                    </a:solidFill>
                  </a:tcPr>
                </a:tc>
                <a:tc>
                  <a:txBody>
                    <a:bodyPr rtlCol="0"/>
                    <a:lstStyle/>
                    <a:p>
                      <a:pPr indent="0" algn="l">
                        <a:lnSpc>
                          <a:spcPct val="120000"/>
                        </a:lnSpc>
                        <a:defRPr/>
                      </a:pPr>
                      <a: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线性、对话式、灵活，用户与AI之间是一问一答的交互模式，流程随对话推进。</a:t>
                      </a:r>
                      <a:endPar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alpha val="100000"/>
                      </a:srgbClr>
                    </a:solidFill>
                  </a:tcPr>
                </a:tc>
                <a:tc>
                  <a:txBody>
                    <a:bodyPr rtlCol="0"/>
                    <a:lstStyle/>
                    <a:p>
                      <a:pPr indent="0" algn="l">
                        <a:lnSpc>
                          <a:spcPct val="120000"/>
                        </a:lnSpc>
                        <a:defRPr/>
                      </a:pPr>
                      <a: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结构化、流程化、严谨，AI严格遵循Skill中定义的步骤执行，步骤之间环环相扣。</a:t>
                      </a:r>
                      <a:endPar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alpha val="100000"/>
                      </a:srgbClr>
                    </a:solidFill>
                  </a:tcPr>
                </a:tc>
              </a:tr>
              <a:tr h="534670">
                <a:tc>
                  <a:txBody>
                    <a:bodyPr rtlCol="0"/>
                    <a:lstStyle/>
                    <a:p>
                      <a:pPr indent="0" algn="ctr">
                        <a:lnSpc>
                          <a:spcPct val="120000"/>
                        </a:lnSpc>
                        <a:defRPr/>
                      </a:pPr>
                      <a:r>
                        <a:rPr lang="en-US" sz="10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代码质量</a:t>
                      </a:r>
                      <a:endParaRPr lang="en-US" sz="10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7FAFC">
                        <a:alpha val="100000"/>
                      </a:srgbClr>
                    </a:solidFill>
                  </a:tcPr>
                </a:tc>
                <a:tc>
                  <a:txBody>
                    <a:bodyPr rtlCol="0"/>
                    <a:lstStyle/>
                    <a:p>
                      <a:pPr indent="0" algn="l">
                        <a:lnSpc>
                          <a:spcPct val="120000"/>
                        </a:lnSpc>
                        <a:defRPr/>
                      </a:pPr>
                      <a: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质量高度依赖用户指令的精准度，生成的代码可能存在冗余、逻辑漏洞和Bug。</a:t>
                      </a:r>
                      <a:endPar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alpha val="100000"/>
                      </a:srgbClr>
                    </a:solidFill>
                  </a:tcPr>
                </a:tc>
                <a:tc>
                  <a:txBody>
                    <a:bodyPr rtlCol="0"/>
                    <a:lstStyle/>
                    <a:p>
                      <a:pPr indent="0" algn="l">
                        <a:lnSpc>
                          <a:spcPct val="120000"/>
                        </a:lnSpc>
                        <a:defRPr/>
                      </a:pPr>
                      <a: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AI会通过Agent自动审查和修复代码，代码的可读性、规范性和正确性更高。</a:t>
                      </a:r>
                      <a:endPar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alpha val="100000"/>
                      </a:srgbClr>
                    </a:solidFill>
                  </a:tcPr>
                </a:tc>
              </a:tr>
              <a:tr h="535305">
                <a:tc>
                  <a:txBody>
                    <a:bodyPr rtlCol="0"/>
                    <a:lstStyle/>
                    <a:p>
                      <a:pPr indent="0" algn="ctr">
                        <a:lnSpc>
                          <a:spcPct val="120000"/>
                        </a:lnSpc>
                        <a:defRPr/>
                      </a:pPr>
                      <a:r>
                        <a:rPr lang="en-US" sz="10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评估可靠性</a:t>
                      </a:r>
                      <a:endParaRPr lang="en-US" sz="10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7FAFC">
                        <a:alpha val="100000"/>
                      </a:srgbClr>
                    </a:solidFill>
                  </a:tcPr>
                </a:tc>
                <a:tc>
                  <a:txBody>
                    <a:bodyPr rtlCol="0"/>
                    <a:lstStyle/>
                    <a:p>
                      <a:pPr indent="0" algn="l">
                        <a:lnSpc>
                          <a:spcPct val="120000"/>
                        </a:lnSpc>
                        <a:defRPr/>
                      </a:pPr>
                      <a: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通常为单次划分，缺乏验证机制，结果可能存在偏差，甚至出现偏乐观的情况。</a:t>
                      </a:r>
                      <a:endPar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alpha val="100000"/>
                      </a:srgbClr>
                    </a:solidFill>
                  </a:tcPr>
                </a:tc>
                <a:tc>
                  <a:txBody>
                    <a:bodyPr rtlCol="0"/>
                    <a:lstStyle/>
                    <a:p>
                      <a:pPr indent="0" algn="l">
                        <a:lnSpc>
                          <a:spcPct val="120000"/>
                        </a:lnSpc>
                        <a:defRPr/>
                      </a:pPr>
                      <a: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采用交叉验证等方法，对结果进行多维度的验证和校准，结果更稳健、可靠。</a:t>
                      </a:r>
                      <a:endPar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alpha val="100000"/>
                      </a:srgbClr>
                    </a:solidFill>
                  </a:tcPr>
                </a:tc>
              </a:tr>
              <a:tr h="535305">
                <a:tc>
                  <a:txBody>
                    <a:bodyPr rtlCol="0"/>
                    <a:lstStyle/>
                    <a:p>
                      <a:pPr indent="0" algn="ctr">
                        <a:lnSpc>
                          <a:spcPct val="120000"/>
                        </a:lnSpc>
                        <a:defRPr/>
                      </a:pPr>
                      <a:r>
                        <a:rPr lang="en-US" sz="10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自动化程度</a:t>
                      </a:r>
                      <a:endParaRPr lang="en-US" sz="10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7FAFC">
                        <a:alpha val="100000"/>
                      </a:srgbClr>
                    </a:solidFill>
                  </a:tcPr>
                </a:tc>
                <a:tc>
                  <a:txBody>
                    <a:bodyPr rtlCol="0"/>
                    <a:lstStyle/>
                    <a:p>
                      <a:pPr indent="0" algn="l">
                        <a:lnSpc>
                          <a:spcPct val="120000"/>
                        </a:lnSpc>
                        <a:defRPr/>
                      </a:pPr>
                      <a: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自动化程度较低，遇到错误时需要人工介入进行修复，无法自动发现和纠正问题。</a:t>
                      </a:r>
                      <a:endPar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alpha val="100000"/>
                      </a:srgbClr>
                    </a:solidFill>
                  </a:tcPr>
                </a:tc>
                <a:tc>
                  <a:txBody>
                    <a:bodyPr rtlCol="0"/>
                    <a:lstStyle/>
                    <a:p>
                      <a:pPr indent="0" algn="l">
                        <a:lnSpc>
                          <a:spcPct val="120000"/>
                        </a:lnSpc>
                        <a:defRPr/>
                      </a:pPr>
                      <a: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自动化程度高，AI能自动发现部分问题并进行修复，减少了人工干预的成本。</a:t>
                      </a:r>
                      <a:endPar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alpha val="100000"/>
                      </a:srgbClr>
                    </a:solidFill>
                  </a:tcPr>
                </a:tc>
              </a:tr>
              <a:tr h="780415">
                <a:tc>
                  <a:txBody>
                    <a:bodyPr rtlCol="0"/>
                    <a:lstStyle/>
                    <a:p>
                      <a:pPr indent="0" algn="ctr">
                        <a:lnSpc>
                          <a:spcPct val="120000"/>
                        </a:lnSpc>
                        <a:defRPr/>
                      </a:pPr>
                      <a:r>
                        <a:rPr lang="en-US" sz="10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优势与局限</a:t>
                      </a:r>
                      <a:endParaRPr lang="en-US" sz="1000" b="1" i="0" u="none" strike="noStrike">
                        <a:solidFill>
                          <a:srgbClr val="2D374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a:noFill/>
                    </a:lnB>
                    <a:solidFill>
                      <a:srgbClr val="F7FAFC">
                        <a:alpha val="100000"/>
                      </a:srgbClr>
                    </a:solidFill>
                  </a:tcPr>
                </a:tc>
                <a:tc>
                  <a:txBody>
                    <a:bodyPr rtlCol="0"/>
                    <a:lstStyle/>
                    <a:p>
                      <a:pPr indent="0" algn="l">
                        <a:lnSpc>
                          <a:spcPct val="120000"/>
                        </a:lnSpc>
                        <a:defRPr/>
                      </a:pPr>
                      <a: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优势：快速启动，灵活迭代，适合简单场景和快速验证。</a:t>
                      </a:r>
                      <a:b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br>
                      <a: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局限：质量依赖用户专业水平，易犯系统性错误，扩展性差。</a:t>
                      </a:r>
                      <a:endPar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a:noFill/>
                    </a:lnB>
                    <a:solidFill>
                      <a:srgbClr val="FFFFFF">
                        <a:alpha val="100000"/>
                      </a:srgbClr>
                    </a:solidFill>
                  </a:tcPr>
                </a:tc>
                <a:tc>
                  <a:txBody>
                    <a:bodyPr rtlCol="0"/>
                    <a:lstStyle/>
                    <a:p>
                      <a:pPr indent="0" algn="l">
                        <a:lnSpc>
                          <a:spcPct val="120000"/>
                        </a:lnSpc>
                        <a:defRPr/>
                      </a:pPr>
                      <a: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优势：方法论严谨，减少低级错误，质量可控，适合复杂场景。</a:t>
                      </a:r>
                      <a:b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br>
                      <a:r>
                        <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rPr>
                        <a:t>局限：前期需要配置Skill，灵活性相对较低，对Skill的设计有一定要求。</a:t>
                      </a:r>
                      <a:endParaRPr lang="en-US" sz="1000" b="0" i="0" u="none" strike="noStrike">
                        <a:solidFill>
                          <a:srgbClr val="4A5568"/>
                        </a:solidFill>
                        <a:latin typeface="Arial" panose="020B0604020202020204" pitchFamily="34" charset="0"/>
                        <a:ea typeface="Arial" panose="020B0604020202020204" pitchFamily="34" charset="0"/>
                        <a:cs typeface="Noto Sans SC" panose="020B0200000000000000" charset="-122"/>
                        <a:sym typeface="Noto Sans SC" panose="020B0200000000000000" charset="-122"/>
                      </a:endParaRPr>
                    </a:p>
                  </a:txBody>
                  <a:tcPr marL="177800" marR="177800" marT="107950" marB="107950" anchor="ctr" anchorCtr="0">
                    <a:lnL>
                      <a:noFill/>
                    </a:lnL>
                    <a:lnR>
                      <a:noFill/>
                    </a:lnR>
                    <a:lnT w="12700" cap="flat" cmpd="sng" algn="ctr">
                      <a:solidFill>
                        <a:srgbClr val="E2E8F0"/>
                      </a:solidFill>
                      <a:prstDash val="solid"/>
                      <a:round/>
                      <a:headEnd type="none" w="med" len="med"/>
                      <a:tailEnd type="none" w="med" len="med"/>
                    </a:lnT>
                    <a:lnB>
                      <a:noFill/>
                    </a:lnB>
                    <a:solidFill>
                      <a:srgbClr val="FFFFFF">
                        <a:alpha val="100000"/>
                      </a:srgbClr>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AutoShape 4"/>
          <p:cNvSpPr/>
          <p:nvPr/>
        </p:nvSpPr>
        <p:spPr>
          <a:xfrm>
            <a:off x="0" y="3048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板块六、实验总结</a:t>
            </a:r>
            <a:endParaRPr lang="en-US" altLang="zh-CN"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核心结论与关键发现</a:t>
            </a:r>
            <a:endParaRPr lang="en-US" sz="1100"/>
          </a:p>
        </p:txBody>
      </p:sp>
      <p:sp>
        <p:nvSpPr>
          <p:cNvPr id="4" name="AutoShape 4"/>
          <p:cNvSpPr/>
          <p:nvPr/>
        </p:nvSpPr>
        <p:spPr>
          <a:xfrm>
            <a:off x="762000" y="1397000"/>
            <a:ext cx="10668000" cy="1905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143000" y="1587500"/>
            <a:ext cx="9906000" cy="165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Skill的核心价值，不在于让AI变得更“聪明”，而在于通过注入专业的方法论和流程约束，系统性地防止AI犯“低级错误”，从而保证输出结果的质量下限。</a:t>
            </a:r>
            <a:endParaRPr lang="en-US" sz="1100"/>
          </a:p>
          <a:p>
            <a:pPr indent="0" algn="l">
              <a:lnSpc>
                <a:spcPct val="117000"/>
              </a:lnSpc>
              <a:spcBef>
                <a:spcPts val="1200"/>
              </a:spcBef>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简单来说，Prompt模式是“告诉AI做什么”，而Skill模式是“教会AI怎么做”。</a:t>
            </a:r>
            <a:endPar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3683000"/>
            <a:ext cx="3302000" cy="2794000"/>
          </a:xfrm>
          <a:prstGeom prst="roundRect">
            <a:avLst>
              <a:gd name="adj" fmla="val 0"/>
            </a:avLst>
          </a:prstGeom>
          <a:solidFill>
            <a:srgbClr val="F7FAFC">
              <a:alpha val="85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500" y="4000500"/>
            <a:ext cx="508000" cy="508000"/>
          </a:xfrm>
          <a:prstGeom prst="rect">
            <a:avLst/>
          </a:prstGeom>
        </p:spPr>
      </p:pic>
      <p:sp>
        <p:nvSpPr>
          <p:cNvPr id="8" name="AutoShape 8"/>
          <p:cNvSpPr/>
          <p:nvPr/>
        </p:nvSpPr>
        <p:spPr>
          <a:xfrm>
            <a:off x="1714500" y="40640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流程与规范的价值</a:t>
            </a:r>
            <a:endParaRPr lang="en-US" sz="1100"/>
          </a:p>
        </p:txBody>
      </p:sp>
      <p:sp>
        <p:nvSpPr>
          <p:cNvPr id="9" name="AutoShape 9"/>
          <p:cNvSpPr/>
          <p:nvPr/>
        </p:nvSpPr>
        <p:spPr>
          <a:xfrm>
            <a:off x="1079500" y="4699000"/>
            <a:ext cx="2667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Skill通过提供结构化的分析框架、标准化的评估方法和自动化的质量控制，显著提升了报告的科学性和可靠性，让AI的输出有据可依。</a:t>
            </a:r>
            <a:endParaRPr lang="en-US" sz="1100"/>
          </a:p>
        </p:txBody>
      </p:sp>
      <p:sp>
        <p:nvSpPr>
          <p:cNvPr id="10" name="AutoShape 10"/>
          <p:cNvSpPr/>
          <p:nvPr/>
        </p:nvSpPr>
        <p:spPr>
          <a:xfrm>
            <a:off x="4445000" y="3683000"/>
            <a:ext cx="3302000" cy="2794000"/>
          </a:xfrm>
          <a:prstGeom prst="roundRect">
            <a:avLst>
              <a:gd name="adj" fmla="val 0"/>
            </a:avLst>
          </a:prstGeom>
          <a:solidFill>
            <a:srgbClr val="F7FAFC">
              <a:alpha val="85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62500" y="4000500"/>
            <a:ext cx="508000" cy="508000"/>
          </a:xfrm>
          <a:prstGeom prst="rect">
            <a:avLst/>
          </a:prstGeom>
        </p:spPr>
      </p:pic>
      <p:sp>
        <p:nvSpPr>
          <p:cNvPr id="12" name="AutoShape 12"/>
          <p:cNvSpPr/>
          <p:nvPr/>
        </p:nvSpPr>
        <p:spPr>
          <a:xfrm>
            <a:off x="5397500" y="40640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自动化审查的威力</a:t>
            </a:r>
            <a:endParaRPr lang="en-US" sz="1100"/>
          </a:p>
        </p:txBody>
      </p:sp>
      <p:sp>
        <p:nvSpPr>
          <p:cNvPr id="13" name="AutoShape 13"/>
          <p:cNvSpPr/>
          <p:nvPr/>
        </p:nvSpPr>
        <p:spPr>
          <a:xfrm>
            <a:off x="4762500" y="4699000"/>
            <a:ext cx="2667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`simplify` Skill的Agent机制证明了其在代码质量保障方面的巨大潜力，能够深度理解代码逻辑，自动发现并修复深层Bug，大幅降低人工排查成本。</a:t>
            </a:r>
            <a:endParaRPr lang="en-US" sz="1100"/>
          </a:p>
        </p:txBody>
      </p:sp>
      <p:sp>
        <p:nvSpPr>
          <p:cNvPr id="14" name="AutoShape 14"/>
          <p:cNvSpPr/>
          <p:nvPr/>
        </p:nvSpPr>
        <p:spPr>
          <a:xfrm>
            <a:off x="8128000" y="3683000"/>
            <a:ext cx="3302000" cy="2794000"/>
          </a:xfrm>
          <a:prstGeom prst="roundRect">
            <a:avLst>
              <a:gd name="adj" fmla="val 0"/>
            </a:avLst>
          </a:prstGeom>
          <a:solidFill>
            <a:srgbClr val="F7FAFC">
              <a:alpha val="85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45500" y="4000500"/>
            <a:ext cx="508000" cy="508000"/>
          </a:xfrm>
          <a:prstGeom prst="rect">
            <a:avLst/>
          </a:prstGeom>
        </p:spPr>
      </p:pic>
      <p:sp>
        <p:nvSpPr>
          <p:cNvPr id="16" name="AutoShape 16"/>
          <p:cNvSpPr/>
          <p:nvPr/>
        </p:nvSpPr>
        <p:spPr>
          <a:xfrm>
            <a:off x="9080500" y="40640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Prompt模式的双刃剑</a:t>
            </a:r>
            <a:endParaRPr lang="en-US" sz="1100"/>
          </a:p>
        </p:txBody>
      </p:sp>
      <p:sp>
        <p:nvSpPr>
          <p:cNvPr id="17" name="AutoShape 17"/>
          <p:cNvSpPr/>
          <p:nvPr/>
        </p:nvSpPr>
        <p:spPr>
          <a:xfrm>
            <a:off x="8445500" y="4699000"/>
            <a:ext cx="2667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其灵活性是最大的优点，但也意味着结果的质量高度依赖于用户的专业知识和表达能力，对于非专业人士来说，很难稳定地获得高质量的输出。</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团队协作明细</a:t>
            </a:r>
            <a:endParaRPr lang="zh-CN" alt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 name="圆角矩形 1"/>
          <p:cNvSpPr/>
          <p:nvPr/>
        </p:nvSpPr>
        <p:spPr>
          <a:xfrm>
            <a:off x="762000" y="1247775"/>
            <a:ext cx="10176510" cy="679450"/>
          </a:xfrm>
          <a:prstGeom prst="roundRect">
            <a:avLst/>
          </a:prstGeom>
          <a:solidFill>
            <a:schemeClr val="tx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2000" b="1">
                <a:solidFill>
                  <a:schemeClr val="tx1"/>
                </a:solidFill>
              </a:rPr>
              <a:t>郑俨</a:t>
            </a:r>
            <a:r>
              <a:rPr lang="en-US" altLang="zh-CN" sz="2000" b="1">
                <a:solidFill>
                  <a:schemeClr val="tx1"/>
                </a:solidFill>
              </a:rPr>
              <a:t>: </a:t>
            </a:r>
            <a:r>
              <a:rPr lang="zh-CN" altLang="en-US" sz="2000" b="1">
                <a:solidFill>
                  <a:schemeClr val="tx1"/>
                </a:solidFill>
              </a:rPr>
              <a:t>记录过程、理解实验流程并负责</a:t>
            </a:r>
            <a:r>
              <a:rPr lang="en-US" altLang="zh-CN" sz="2000" b="1">
                <a:solidFill>
                  <a:schemeClr val="tx1"/>
                </a:solidFill>
              </a:rPr>
              <a:t>PPT</a:t>
            </a:r>
            <a:r>
              <a:rPr lang="zh-CN" altLang="en-US" sz="2000" b="1">
                <a:solidFill>
                  <a:schemeClr val="tx1"/>
                </a:solidFill>
              </a:rPr>
              <a:t>的汇报</a:t>
            </a:r>
            <a:endParaRPr lang="zh-CN" altLang="en-US" sz="2000" b="1">
              <a:solidFill>
                <a:schemeClr val="tx1"/>
              </a:solidFill>
            </a:endParaRPr>
          </a:p>
        </p:txBody>
      </p:sp>
      <p:sp>
        <p:nvSpPr>
          <p:cNvPr id="4" name="圆角矩形 3"/>
          <p:cNvSpPr/>
          <p:nvPr/>
        </p:nvSpPr>
        <p:spPr>
          <a:xfrm>
            <a:off x="762000" y="2306955"/>
            <a:ext cx="10176510" cy="679450"/>
          </a:xfrm>
          <a:prstGeom prst="roundRect">
            <a:avLst/>
          </a:prstGeom>
          <a:solidFill>
            <a:schemeClr val="tx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2000" b="1">
                <a:solidFill>
                  <a:schemeClr val="tx1"/>
                </a:solidFill>
              </a:rPr>
              <a:t>刘玉杰</a:t>
            </a:r>
            <a:r>
              <a:rPr lang="en-US" altLang="zh-CN" sz="2000" b="1">
                <a:solidFill>
                  <a:schemeClr val="tx1"/>
                </a:solidFill>
              </a:rPr>
              <a:t>: </a:t>
            </a:r>
            <a:r>
              <a:rPr lang="zh-CN" altLang="en-US" sz="2000" b="1">
                <a:solidFill>
                  <a:schemeClr val="tx1"/>
                </a:solidFill>
              </a:rPr>
              <a:t>简单提示词的数据分析</a:t>
            </a:r>
            <a:r>
              <a:rPr lang="en-US" altLang="zh-CN" sz="2000" b="1">
                <a:solidFill>
                  <a:schemeClr val="tx1"/>
                </a:solidFill>
              </a:rPr>
              <a:t>+</a:t>
            </a:r>
            <a:r>
              <a:rPr lang="zh-CN" altLang="en-US" sz="2000" b="1">
                <a:solidFill>
                  <a:schemeClr val="tx1"/>
                </a:solidFill>
              </a:rPr>
              <a:t>后续的借助技术报告</a:t>
            </a:r>
            <a:r>
              <a:rPr lang="en-US" altLang="zh-CN" sz="2000" b="1">
                <a:solidFill>
                  <a:schemeClr val="tx1"/>
                </a:solidFill>
              </a:rPr>
              <a:t>skill</a:t>
            </a:r>
            <a:r>
              <a:rPr lang="zh-CN" altLang="en-US" sz="2000" b="1">
                <a:solidFill>
                  <a:schemeClr val="tx1"/>
                </a:solidFill>
              </a:rPr>
              <a:t>生成对应技术报告</a:t>
            </a:r>
            <a:endParaRPr lang="zh-CN" altLang="en-US" sz="2000" b="1">
              <a:solidFill>
                <a:schemeClr val="tx1"/>
              </a:solidFill>
            </a:endParaRPr>
          </a:p>
        </p:txBody>
      </p:sp>
      <p:sp>
        <p:nvSpPr>
          <p:cNvPr id="5" name="圆角矩形 4"/>
          <p:cNvSpPr/>
          <p:nvPr/>
        </p:nvSpPr>
        <p:spPr>
          <a:xfrm>
            <a:off x="762000" y="3366135"/>
            <a:ext cx="10176510" cy="679450"/>
          </a:xfrm>
          <a:prstGeom prst="roundRect">
            <a:avLst/>
          </a:prstGeom>
          <a:solidFill>
            <a:schemeClr val="tx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2000" b="1">
                <a:solidFill>
                  <a:schemeClr val="tx1"/>
                </a:solidFill>
              </a:rPr>
              <a:t>许王智</a:t>
            </a:r>
            <a:r>
              <a:rPr lang="en-US" altLang="zh-CN" sz="2000" b="1">
                <a:solidFill>
                  <a:schemeClr val="tx1"/>
                </a:solidFill>
              </a:rPr>
              <a:t>: </a:t>
            </a:r>
            <a:r>
              <a:rPr lang="zh-CN" altLang="en-US" sz="2000" b="1">
                <a:solidFill>
                  <a:schemeClr val="tx1"/>
                </a:solidFill>
              </a:rPr>
              <a:t>基于技术报告模版制作基础</a:t>
            </a:r>
            <a:r>
              <a:rPr lang="en-US" altLang="zh-CN" sz="2000" b="1">
                <a:solidFill>
                  <a:schemeClr val="tx1"/>
                </a:solidFill>
              </a:rPr>
              <a:t>skill</a:t>
            </a:r>
            <a:r>
              <a:rPr lang="zh-CN" altLang="en-US" sz="2000" b="1">
                <a:solidFill>
                  <a:schemeClr val="tx1"/>
                </a:solidFill>
              </a:rPr>
              <a:t>方便后续生成报告</a:t>
            </a:r>
            <a:endParaRPr lang="zh-CN" altLang="en-US" sz="2000" b="1">
              <a:solidFill>
                <a:schemeClr val="tx1"/>
              </a:solidFill>
            </a:endParaRPr>
          </a:p>
        </p:txBody>
      </p:sp>
      <p:sp>
        <p:nvSpPr>
          <p:cNvPr id="6" name="圆角矩形 5"/>
          <p:cNvSpPr/>
          <p:nvPr/>
        </p:nvSpPr>
        <p:spPr>
          <a:xfrm>
            <a:off x="762000" y="4425315"/>
            <a:ext cx="10176510" cy="679450"/>
          </a:xfrm>
          <a:prstGeom prst="roundRect">
            <a:avLst/>
          </a:prstGeom>
          <a:solidFill>
            <a:schemeClr val="tx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2000" b="1">
                <a:solidFill>
                  <a:schemeClr val="tx1"/>
                </a:solidFill>
              </a:rPr>
              <a:t>张帅</a:t>
            </a:r>
            <a:r>
              <a:rPr lang="en-US" altLang="zh-CN" sz="2000" b="1">
                <a:solidFill>
                  <a:schemeClr val="tx1"/>
                </a:solidFill>
              </a:rPr>
              <a:t>: </a:t>
            </a:r>
            <a:r>
              <a:rPr lang="zh-CN" altLang="en-US" sz="2000" b="1">
                <a:solidFill>
                  <a:schemeClr val="tx1"/>
                </a:solidFill>
              </a:rPr>
              <a:t>使用</a:t>
            </a:r>
            <a:r>
              <a:rPr lang="en-US" altLang="zh-CN" sz="2000" b="1">
                <a:solidFill>
                  <a:schemeClr val="tx1"/>
                </a:solidFill>
              </a:rPr>
              <a:t>skill</a:t>
            </a:r>
            <a:r>
              <a:rPr lang="zh-CN" altLang="en-US" sz="2000" b="1">
                <a:solidFill>
                  <a:schemeClr val="tx1"/>
                </a:solidFill>
              </a:rPr>
              <a:t>以及制作的技术报告</a:t>
            </a:r>
            <a:r>
              <a:rPr lang="en-US" altLang="zh-CN" sz="2000" b="1">
                <a:solidFill>
                  <a:schemeClr val="tx1"/>
                </a:solidFill>
              </a:rPr>
              <a:t>skill</a:t>
            </a:r>
            <a:r>
              <a:rPr lang="zh-CN" altLang="en-US" sz="2000" b="1">
                <a:solidFill>
                  <a:schemeClr val="tx1"/>
                </a:solidFill>
              </a:rPr>
              <a:t>进行数据分析、报告生成</a:t>
            </a:r>
            <a:endParaRPr lang="zh-CN" altLang="en-US" sz="2000" b="1">
              <a:solidFill>
                <a:schemeClr val="tx1"/>
              </a:solidFill>
            </a:endParaRPr>
          </a:p>
        </p:txBody>
      </p:sp>
      <p:sp>
        <p:nvSpPr>
          <p:cNvPr id="7" name="圆角矩形 6"/>
          <p:cNvSpPr/>
          <p:nvPr/>
        </p:nvSpPr>
        <p:spPr>
          <a:xfrm>
            <a:off x="762000" y="5484495"/>
            <a:ext cx="10176510" cy="679450"/>
          </a:xfrm>
          <a:prstGeom prst="roundRect">
            <a:avLst/>
          </a:prstGeom>
          <a:solidFill>
            <a:schemeClr val="tx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2000" b="1">
                <a:solidFill>
                  <a:schemeClr val="tx1"/>
                </a:solidFill>
              </a:rPr>
              <a:t>付正浩</a:t>
            </a:r>
            <a:r>
              <a:rPr lang="en-US" altLang="zh-CN" sz="2000" b="1">
                <a:solidFill>
                  <a:schemeClr val="tx1"/>
                </a:solidFill>
              </a:rPr>
              <a:t>: </a:t>
            </a:r>
            <a:r>
              <a:rPr lang="zh-CN" altLang="en-US" sz="2000" b="1">
                <a:solidFill>
                  <a:schemeClr val="tx1"/>
                </a:solidFill>
              </a:rPr>
              <a:t>根据记录撰写实验报告、制作</a:t>
            </a:r>
            <a:r>
              <a:rPr lang="en-US" altLang="zh-CN" sz="2000" b="1">
                <a:solidFill>
                  <a:schemeClr val="tx1"/>
                </a:solidFill>
              </a:rPr>
              <a:t>PPT</a:t>
            </a:r>
            <a:endParaRPr lang="en-US" altLang="zh-CN" sz="2000" b="1">
              <a:solidFill>
                <a:schemeClr val="tx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0" y="28575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4" name="AutoShape 4"/>
          <p:cNvSpPr/>
          <p:nvPr/>
        </p:nvSpPr>
        <p:spPr>
          <a:xfrm>
            <a:off x="0" y="3683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300,&quot;left&quot;:55.25,&quot;top&quot;:98.35,&quot;width&quot;:840}"/>
</p:tagLst>
</file>

<file path=ppt/tags/tag2.xml><?xml version="1.0" encoding="utf-8"?>
<p:tagLst xmlns:p="http://schemas.openxmlformats.org/presentationml/2006/main">
  <p:tag name="KSO_WM_DIAGRAM_VIRTUALLY_FRAME" val="{&quot;height&quot;:300,&quot;left&quot;:55.25,&quot;top&quot;:98.35,&quot;width&quot;:840}"/>
</p:tagLst>
</file>

<file path=ppt/tags/tag3.xml><?xml version="1.0" encoding="utf-8"?>
<p:tagLst xmlns:p="http://schemas.openxmlformats.org/presentationml/2006/main">
  <p:tag name="KSO_WM_DIAGRAM_VIRTUALLY_FRAME" val="{&quot;height&quot;:300,&quot;left&quot;:55.25,&quot;top&quot;:98.35,&quot;width&quot;:840}"/>
</p:tagLst>
</file>

<file path=ppt/tags/tag4.xml><?xml version="1.0" encoding="utf-8"?>
<p:tagLst xmlns:p="http://schemas.openxmlformats.org/presentationml/2006/main">
  <p:tag name="KSO_WM_DIAGRAM_VIRTUALLY_FRAME" val="{&quot;height&quot;:300,&quot;left&quot;:55.25,&quot;top&quot;:98.35,&quot;width&quot;:840}"/>
</p:tagLst>
</file>

<file path=ppt/tags/tag5.xml><?xml version="1.0" encoding="utf-8"?>
<p:tagLst xmlns:p="http://schemas.openxmlformats.org/presentationml/2006/main">
  <p:tag name="KSO_WM_DIAGRAM_VIRTUALLY_FRAME" val="{&quot;height&quot;:300,&quot;left&quot;:55.25,&quot;top&quot;:98.35,&quot;width&quot;:840}"/>
</p:tagLst>
</file>

<file path=ppt/tags/tag6.xml><?xml version="1.0" encoding="utf-8"?>
<p:tagLst xmlns:p="http://schemas.openxmlformats.org/presentationml/2006/main">
  <p:tag name="KSO_WM_DIAGRAM_VIRTUALLY_FRAME" val="{&quot;height&quot;:300,&quot;left&quot;:55.25,&quot;top&quot;:98.35,&quot;width&quot;:840}"/>
</p:tagLst>
</file>

<file path=ppt/tags/tag7.xml><?xml version="1.0" encoding="utf-8"?>
<p:tagLst xmlns:p="http://schemas.openxmlformats.org/presentationml/2006/main">
  <p:tag name="KSO_WM_DIAGRAM_VIRTUALLY_FRAME" val="{&quot;height&quot;:300,&quot;left&quot;:55.25,&quot;top&quot;:98.35,&quot;width&quot;:840}"/>
</p:tagLst>
</file>

<file path=ppt/tags/tag8.xml><?xml version="1.0" encoding="utf-8"?>
<p:tagLst xmlns:p="http://schemas.openxmlformats.org/presentationml/2006/main">
  <p:tag name="KSO_WM_DIAGRAM_VIRTUALLY_FRAME" val="{&quot;height&quot;:300,&quot;left&quot;:55.25,&quot;top&quot;:98.35,&quot;width&quot;:840}"/>
</p:tagLst>
</file>

<file path=ppt/tags/tag9.xml><?xml version="1.0" encoding="utf-8"?>
<p:tagLst xmlns:p="http://schemas.openxmlformats.org/presentationml/2006/main">
  <p:tag name="KSO_WM_DIAGRAM_VIRTUALLY_FRAME" val="{&quot;height&quot;:300,&quot;left&quot;:55.25,&quot;top&quot;:98.35,&quot;width&quot;:840}"/>
</p:tagLst>
</file>

<file path=ppt/tags/tag10.xml><?xml version="1.0" encoding="utf-8"?>
<p:tagLst xmlns:p="http://schemas.openxmlformats.org/presentationml/2006/main">
  <p:tag name="KSO_WM_DIAGRAM_VIRTUALLY_FRAME" val="{&quot;height&quot;:300,&quot;left&quot;:55.25,&quot;top&quot;:98.35,&quot;width&quot;:840}"/>
</p:tagLst>
</file>

<file path=ppt/tags/tag11.xml><?xml version="1.0" encoding="utf-8"?>
<p:tagLst xmlns:p="http://schemas.openxmlformats.org/presentationml/2006/main">
  <p:tag name="KSO_WM_DIAGRAM_VIRTUALLY_FRAME" val="{&quot;height&quot;:300,&quot;left&quot;:55.25,&quot;top&quot;:98.35,&quot;width&quot;:840}"/>
</p:tagLst>
</file>

<file path=ppt/tags/tag12.xml><?xml version="1.0" encoding="utf-8"?>
<p:tagLst xmlns:p="http://schemas.openxmlformats.org/presentationml/2006/main">
  <p:tag name="KSO_WM_DIAGRAM_VIRTUALLY_FRAME" val="{&quot;height&quot;:300,&quot;left&quot;:55.25,&quot;top&quot;:98.35,&quot;width&quot;:840}"/>
</p:tagLst>
</file>

<file path=ppt/tags/tag13.xml><?xml version="1.0" encoding="utf-8"?>
<p:tagLst xmlns:p="http://schemas.openxmlformats.org/presentationml/2006/main">
  <p:tag name="KSO_WM_DIAGRAM_VIRTUALLY_FRAME" val="{&quot;height&quot;:300,&quot;left&quot;:55.25,&quot;top&quot;:98.35,&quot;width&quot;:840}"/>
</p:tagLst>
</file>

<file path=ppt/tags/tag14.xml><?xml version="1.0" encoding="utf-8"?>
<p:tagLst xmlns:p="http://schemas.openxmlformats.org/presentationml/2006/main">
  <p:tag name="KSO_WM_DIAGRAM_VIRTUALLY_FRAME" val="{&quot;height&quot;:300,&quot;left&quot;:55.25,&quot;top&quot;:98.35,&quot;width&quot;:840}"/>
</p:tagLst>
</file>

<file path=ppt/tags/tag15.xml><?xml version="1.0" encoding="utf-8"?>
<p:tagLst xmlns:p="http://schemas.openxmlformats.org/presentationml/2006/main">
  <p:tag name="KSO_WM_DIAGRAM_VIRTUALLY_FRAME" val="{&quot;height&quot;:300,&quot;left&quot;:55.25,&quot;top&quot;:98.35,&quot;width&quot;:840}"/>
</p:tagLst>
</file>

<file path=ppt/tags/tag16.xml><?xml version="1.0" encoding="utf-8"?>
<p:tagLst xmlns:p="http://schemas.openxmlformats.org/presentationml/2006/main">
  <p:tag name="KSO_WM_DIAGRAM_VIRTUALLY_FRAME" val="{&quot;height&quot;:300,&quot;left&quot;:55.25,&quot;top&quot;:98.35,&quot;width&quot;:840}"/>
</p:tagLst>
</file>

<file path=ppt/tags/tag17.xml><?xml version="1.0" encoding="utf-8"?>
<p:tagLst xmlns:p="http://schemas.openxmlformats.org/presentationml/2006/main">
  <p:tag name="KSO_WM_DIAGRAM_VIRTUALLY_FRAME" val="{&quot;height&quot;:300,&quot;left&quot;:55.25,&quot;top&quot;:98.35,&quot;width&quot;:840}"/>
</p:tagLst>
</file>

<file path=ppt/tags/tag18.xml><?xml version="1.0" encoding="utf-8"?>
<p:tagLst xmlns:p="http://schemas.openxmlformats.org/presentationml/2006/main">
  <p:tag name="KSO_WM_DIAGRAM_VIRTUALLY_FRAME" val="{&quot;height&quot;:300,&quot;left&quot;:55.25,&quot;top&quot;:98.35,&quot;width&quot;:840}"/>
</p:tagLst>
</file>

<file path=ppt/tags/tag19.xml><?xml version="1.0" encoding="utf-8"?>
<p:tagLst xmlns:p="http://schemas.openxmlformats.org/presentationml/2006/main">
  <p:tag name="KSO_WM_DIAGRAM_VIRTUALLY_FRAME" val="{&quot;height&quot;:300,&quot;left&quot;:55.25,&quot;top&quot;:98.35,&quot;width&quot;:840}"/>
</p:tagLst>
</file>

<file path=ppt/tags/tag20.xml><?xml version="1.0" encoding="utf-8"?>
<p:tagLst xmlns:p="http://schemas.openxmlformats.org/presentationml/2006/main">
  <p:tag name="KSO_WM_DIAGRAM_VIRTUALLY_FRAME" val="{&quot;height&quot;:300,&quot;left&quot;:55.25,&quot;top&quot;:98.35,&quot;width&quot;:840}"/>
</p:tagLst>
</file>

<file path=ppt/tags/tag21.xml><?xml version="1.0" encoding="utf-8"?>
<p:tagLst xmlns:p="http://schemas.openxmlformats.org/presentationml/2006/main">
  <p:tag name="KSO_WM_DIAGRAM_VIRTUALLY_FRAME" val="{&quot;height&quot;:300,&quot;left&quot;:55.25,&quot;top&quot;:98.35,&quot;width&quot;:840}"/>
</p:tagLst>
</file>

<file path=ppt/tags/tag22.xml><?xml version="1.0" encoding="utf-8"?>
<p:tagLst xmlns:p="http://schemas.openxmlformats.org/presentationml/2006/main">
  <p:tag name="KSO_WM_DIAGRAM_VIRTUALLY_FRAME" val="{&quot;height&quot;:300,&quot;left&quot;:55.25,&quot;top&quot;:98.35,&quot;width&quot;:840}"/>
</p:tagLst>
</file>

<file path=ppt/tags/tag23.xml><?xml version="1.0" encoding="utf-8"?>
<p:tagLst xmlns:p="http://schemas.openxmlformats.org/presentationml/2006/main">
  <p:tag name="KSO_WM_DIAGRAM_VIRTUALLY_FRAME" val="{&quot;height&quot;:423.9,&quot;left&quot;:55.25,&quot;top&quot;:93,&quot;width&quot;:840}"/>
</p:tagLst>
</file>

<file path=ppt/tags/tag24.xml><?xml version="1.0" encoding="utf-8"?>
<p:tagLst xmlns:p="http://schemas.openxmlformats.org/presentationml/2006/main">
  <p:tag name="KSO_WM_DIAGRAM_VIRTUALLY_FRAME" val="{&quot;height&quot;:423.9,&quot;left&quot;:55.25,&quot;top&quot;:93,&quot;width&quot;:840}"/>
</p:tagLst>
</file>

<file path=ppt/tags/tag25.xml><?xml version="1.0" encoding="utf-8"?>
<p:tagLst xmlns:p="http://schemas.openxmlformats.org/presentationml/2006/main">
  <p:tag name="KSO_WM_DIAGRAM_VIRTUALLY_FRAME" val="{&quot;height&quot;:423.9,&quot;left&quot;:55.25,&quot;top&quot;:93,&quot;width&quot;:840}"/>
</p:tagLst>
</file>

<file path=ppt/tags/tag26.xml><?xml version="1.0" encoding="utf-8"?>
<p:tagLst xmlns:p="http://schemas.openxmlformats.org/presentationml/2006/main">
  <p:tag name="KSO_WM_DIAGRAM_VIRTUALLY_FRAME" val="{&quot;height&quot;:423.9,&quot;left&quot;:55.25,&quot;top&quot;:93,&quot;width&quot;:840}"/>
</p:tagLst>
</file>

<file path=ppt/tags/tag27.xml><?xml version="1.0" encoding="utf-8"?>
<p:tagLst xmlns:p="http://schemas.openxmlformats.org/presentationml/2006/main">
  <p:tag name="KSO_WM_DIAGRAM_VIRTUALLY_FRAME" val="{&quot;height&quot;:423.9,&quot;left&quot;:55.25,&quot;top&quot;:93,&quot;width&quot;:840}"/>
</p:tagLst>
</file>

<file path=ppt/tags/tag28.xml><?xml version="1.0" encoding="utf-8"?>
<p:tagLst xmlns:p="http://schemas.openxmlformats.org/presentationml/2006/main">
  <p:tag name="KSO_WM_DIAGRAM_VIRTUALLY_FRAME" val="{&quot;height&quot;:423.9,&quot;left&quot;:55.25,&quot;top&quot;:93,&quot;width&quot;:840}"/>
</p:tagLst>
</file>

<file path=ppt/tags/tag29.xml><?xml version="1.0" encoding="utf-8"?>
<p:tagLst xmlns:p="http://schemas.openxmlformats.org/presentationml/2006/main">
  <p:tag name="KSO_WM_DIAGRAM_VIRTUALLY_FRAME" val="{&quot;height&quot;:423.9,&quot;left&quot;:55.25,&quot;top&quot;:93,&quot;width&quot;:840}"/>
</p:tagLst>
</file>

<file path=ppt/tags/tag30.xml><?xml version="1.0" encoding="utf-8"?>
<p:tagLst xmlns:p="http://schemas.openxmlformats.org/presentationml/2006/main">
  <p:tag name="KSO_WM_DIAGRAM_VIRTUALLY_FRAME" val="{&quot;height&quot;:423.9,&quot;left&quot;:55.25,&quot;top&quot;:93,&quot;width&quot;:840}"/>
</p:tagLst>
</file>

<file path=ppt/tags/tag31.xml><?xml version="1.0" encoding="utf-8"?>
<p:tagLst xmlns:p="http://schemas.openxmlformats.org/presentationml/2006/main">
  <p:tag name="KSO_WM_DIAGRAM_VIRTUALLY_FRAME" val="{&quot;height&quot;:423.9,&quot;left&quot;:55.25,&quot;top&quot;:93,&quot;width&quot;:840}"/>
</p:tagLst>
</file>

<file path=ppt/tags/tag32.xml><?xml version="1.0" encoding="utf-8"?>
<p:tagLst xmlns:p="http://schemas.openxmlformats.org/presentationml/2006/main">
  <p:tag name="KSO_WM_DIAGRAM_VIRTUALLY_FRAME" val="{&quot;height&quot;:423.9,&quot;left&quot;:55.25,&quot;top&quot;:93,&quot;width&quot;:840}"/>
</p:tagLst>
</file>

<file path=ppt/tags/tag33.xml><?xml version="1.0" encoding="utf-8"?>
<p:tagLst xmlns:p="http://schemas.openxmlformats.org/presentationml/2006/main">
  <p:tag name="KSO_WM_DIAGRAM_VIRTUALLY_FRAME" val="{&quot;height&quot;:423.9,&quot;left&quot;:55.25,&quot;top&quot;:93,&quot;width&quot;:840}"/>
</p:tagLst>
</file>

<file path=ppt/tags/tag34.xml><?xml version="1.0" encoding="utf-8"?>
<p:tagLst xmlns:p="http://schemas.openxmlformats.org/presentationml/2006/main">
  <p:tag name="KSO_WM_DIAGRAM_VIRTUALLY_FRAME" val="{&quot;height&quot;:423.9,&quot;left&quot;:55.25,&quot;top&quot;:93,&quot;width&quot;:840}"/>
</p:tagLst>
</file>

<file path=ppt/tags/tag35.xml><?xml version="1.0" encoding="utf-8"?>
<p:tagLst xmlns:p="http://schemas.openxmlformats.org/presentationml/2006/main">
  <p:tag name="KSO_WM_DIAGRAM_VIRTUALLY_FRAME" val="{&quot;height&quot;:423.9,&quot;left&quot;:55.25,&quot;top&quot;:93,&quot;width&quot;:840}"/>
</p:tagLst>
</file>

<file path=ppt/tags/tag36.xml><?xml version="1.0" encoding="utf-8"?>
<p:tagLst xmlns:p="http://schemas.openxmlformats.org/presentationml/2006/main">
  <p:tag name="KSO_WM_DIAGRAM_VIRTUALLY_FRAME" val="{&quot;height&quot;:423.9,&quot;left&quot;:55.25,&quot;top&quot;:93,&quot;width&quot;:840}"/>
</p:tagLst>
</file>

<file path=ppt/tags/tag37.xml><?xml version="1.0" encoding="utf-8"?>
<p:tagLst xmlns:p="http://schemas.openxmlformats.org/presentationml/2006/main">
  <p:tag name="KSO_WM_DIAGRAM_VIRTUALLY_FRAME" val="{&quot;height&quot;:423.9,&quot;left&quot;:55.25,&quot;top&quot;:93,&quot;width&quot;:840}"/>
</p:tagLst>
</file>

<file path=ppt/tags/tag38.xml><?xml version="1.0" encoding="utf-8"?>
<p:tagLst xmlns:p="http://schemas.openxmlformats.org/presentationml/2006/main">
  <p:tag name="KSO_WM_DIAGRAM_VIRTUALLY_FRAME" val="{&quot;height&quot;:423.9,&quot;left&quot;:55.25,&quot;top&quot;:93,&quot;width&quot;:840}"/>
</p:tagLst>
</file>

<file path=ppt/tags/tag39.xml><?xml version="1.0" encoding="utf-8"?>
<p:tagLst xmlns:p="http://schemas.openxmlformats.org/presentationml/2006/main">
  <p:tag name="KSO_WM_DIAGRAM_VIRTUALLY_FRAME" val="{&quot;height&quot;:423.9,&quot;left&quot;:55.25,&quot;top&quot;:93,&quot;width&quot;:840}"/>
</p:tagLst>
</file>

<file path=ppt/tags/tag40.xml><?xml version="1.0" encoding="utf-8"?>
<p:tagLst xmlns:p="http://schemas.openxmlformats.org/presentationml/2006/main">
  <p:tag name="KSO_WM_DIAGRAM_VIRTUALLY_FRAME" val="{&quot;height&quot;:423.9,&quot;left&quot;:55.25,&quot;top&quot;:93,&quot;width&quot;:840}"/>
</p:tagLst>
</file>

<file path=ppt/tags/tag41.xml><?xml version="1.0" encoding="utf-8"?>
<p:tagLst xmlns:p="http://schemas.openxmlformats.org/presentationml/2006/main">
  <p:tag name="KSO_WM_DIAGRAM_VIRTUALLY_FRAME" val="{&quot;height&quot;:423.9,&quot;left&quot;:55.25,&quot;top&quot;:93,&quot;width&quot;:840}"/>
</p:tagLst>
</file>

<file path=ppt/tags/tag42.xml><?xml version="1.0" encoding="utf-8"?>
<p:tagLst xmlns:p="http://schemas.openxmlformats.org/presentationml/2006/main">
  <p:tag name="KSO_WM_DIAGRAM_VIRTUALLY_FRAME" val="{&quot;height&quot;:423.9,&quot;left&quot;:55.25,&quot;top&quot;:93,&quot;width&quot;:840}"/>
</p:tagLst>
</file>

<file path=ppt/tags/tag43.xml><?xml version="1.0" encoding="utf-8"?>
<p:tagLst xmlns:p="http://schemas.openxmlformats.org/presentationml/2006/main">
  <p:tag name="KSO_WM_DIAGRAM_VIRTUALLY_FRAME" val="{&quot;height&quot;:423.9,&quot;left&quot;:55.25,&quot;top&quot;:93,&quot;width&quot;:840}"/>
</p:tagLst>
</file>

<file path=ppt/tags/tag44.xml><?xml version="1.0" encoding="utf-8"?>
<p:tagLst xmlns:p="http://schemas.openxmlformats.org/presentationml/2006/main">
  <p:tag name="KSO_WM_DIAGRAM_VIRTUALLY_FRAME" val="{&quot;height&quot;:423.9,&quot;left&quot;:55.25,&quot;top&quot;:93,&quot;width&quot;:840}"/>
</p:tagLst>
</file>

<file path=ppt/tags/tag45.xml><?xml version="1.0" encoding="utf-8"?>
<p:tagLst xmlns:p="http://schemas.openxmlformats.org/presentationml/2006/main">
  <p:tag name="KSO_WM_DIAGRAM_VIRTUALLY_FRAME" val="{&quot;height&quot;:423.9,&quot;left&quot;:55.25,&quot;top&quot;:93,&quot;width&quot;:840}"/>
</p:tagLst>
</file>

<file path=ppt/tags/tag46.xml><?xml version="1.0" encoding="utf-8"?>
<p:tagLst xmlns:p="http://schemas.openxmlformats.org/presentationml/2006/main">
  <p:tag name="KSO_WM_DIAGRAM_VIRTUALLY_FRAME" val="{&quot;height&quot;:423.9,&quot;left&quot;:55.25,&quot;top&quot;:93,&quot;width&quot;:840}"/>
</p:tagLst>
</file>

<file path=ppt/tags/tag47.xml><?xml version="1.0" encoding="utf-8"?>
<p:tagLst xmlns:p="http://schemas.openxmlformats.org/presentationml/2006/main">
  <p:tag name="KSO_WM_DIAGRAM_VIRTUALLY_FRAME" val="{&quot;height&quot;:438.15,&quot;left&quot;:57.6,&quot;top&quot;:93,&quot;width&quot;:847.15}"/>
</p:tagLst>
</file>

<file path=ppt/tags/tag48.xml><?xml version="1.0" encoding="utf-8"?>
<p:tagLst xmlns:p="http://schemas.openxmlformats.org/presentationml/2006/main">
  <p:tag name="KSO_WM_DIAGRAM_VIRTUALLY_FRAME" val="{&quot;height&quot;:438.15,&quot;left&quot;:57.6,&quot;top&quot;:93,&quot;width&quot;:847.15}"/>
</p:tagLst>
</file>

<file path=ppt/tags/tag49.xml><?xml version="1.0" encoding="utf-8"?>
<p:tagLst xmlns:p="http://schemas.openxmlformats.org/presentationml/2006/main">
  <p:tag name="KSO_WM_DIAGRAM_VIRTUALLY_FRAME" val="{&quot;height&quot;:438.15,&quot;left&quot;:57.6,&quot;top&quot;:93,&quot;width&quot;:847.15}"/>
</p:tagLst>
</file>

<file path=ppt/tags/tag50.xml><?xml version="1.0" encoding="utf-8"?>
<p:tagLst xmlns:p="http://schemas.openxmlformats.org/presentationml/2006/main">
  <p:tag name="KSO_WM_DIAGRAM_VIRTUALLY_FRAME" val="{&quot;height&quot;:438.15,&quot;left&quot;:57.6,&quot;top&quot;:93,&quot;width&quot;:847.15}"/>
</p:tagLst>
</file>

<file path=ppt/tags/tag51.xml><?xml version="1.0" encoding="utf-8"?>
<p:tagLst xmlns:p="http://schemas.openxmlformats.org/presentationml/2006/main">
  <p:tag name="KSO_WM_DIAGRAM_VIRTUALLY_FRAME" val="{&quot;height&quot;:438.15,&quot;left&quot;:57.6,&quot;top&quot;:93,&quot;width&quot;:847.15}"/>
</p:tagLst>
</file>

<file path=ppt/tags/tag52.xml><?xml version="1.0" encoding="utf-8"?>
<p:tagLst xmlns:p="http://schemas.openxmlformats.org/presentationml/2006/main">
  <p:tag name="KSO_WM_DIAGRAM_VIRTUALLY_FRAME" val="{&quot;height&quot;:438.15,&quot;left&quot;:57.6,&quot;top&quot;:93,&quot;width&quot;:847.15}"/>
</p:tagLst>
</file>

<file path=ppt/tags/tag53.xml><?xml version="1.0" encoding="utf-8"?>
<p:tagLst xmlns:p="http://schemas.openxmlformats.org/presentationml/2006/main">
  <p:tag name="KSO_WM_DIAGRAM_VIRTUALLY_FRAME" val="{&quot;height&quot;:300,&quot;left&quot;:55.25,&quot;top&quot;:98.35,&quot;width&quot;:840}"/>
</p:tagLst>
</file>

<file path=ppt/tags/tag54.xml><?xml version="1.0" encoding="utf-8"?>
<p:tagLst xmlns:p="http://schemas.openxmlformats.org/presentationml/2006/main">
  <p:tag name="KSO_WM_DIAGRAM_VIRTUALLY_FRAME" val="{&quot;height&quot;:300,&quot;left&quot;:55.25,&quot;top&quot;:98.35,&quot;width&quot;:840}"/>
</p:tagLst>
</file>

<file path=ppt/tags/tag55.xml><?xml version="1.0" encoding="utf-8"?>
<p:tagLst xmlns:p="http://schemas.openxmlformats.org/presentationml/2006/main">
  <p:tag name="KSO_WM_DIAGRAM_VIRTUALLY_FRAME" val="{&quot;height&quot;:300,&quot;left&quot;:55.25,&quot;top&quot;:98.35,&quot;width&quot;:840}"/>
</p:tagLst>
</file>

<file path=ppt/tags/tag56.xml><?xml version="1.0" encoding="utf-8"?>
<p:tagLst xmlns:p="http://schemas.openxmlformats.org/presentationml/2006/main">
  <p:tag name="TABLE_ENDDRAG_ORIGIN_RECT" val="841*381"/>
  <p:tag name="TABLE_ENDDRAG_RECT" val="58*77*841*381"/>
</p:tagLst>
</file>

<file path=ppt/tags/tag57.xml><?xml version="1.0" encoding="utf-8"?>
<p:tagLst xmlns:p="http://schemas.openxmlformats.org/presentationml/2006/main">
  <p:tag name="KSO_WM_DIAGRAM_VIRTUALLY_FRAME" val="{&quot;height&quot;:300,&quot;left&quot;:55.25,&quot;top&quot;:98.35,&quot;width&quot;:840}"/>
</p:tagLst>
</file>

<file path=ppt/tags/tag58.xml><?xml version="1.0" encoding="utf-8"?>
<p:tagLst xmlns:p="http://schemas.openxmlformats.org/presentationml/2006/main">
  <p:tag name="KSO_WM_DIAGRAM_VIRTUALLY_FRAME" val="{&quot;height&quot;:280,&quot;left&quot;:80,&quot;top&quot;:180,&quot;width&quot;:812}"/>
</p:tagLst>
</file>

<file path=ppt/tags/tag59.xml><?xml version="1.0" encoding="utf-8"?>
<p:tagLst xmlns:p="http://schemas.openxmlformats.org/presentationml/2006/main">
  <p:tag name="KSO_WM_DIAGRAM_VIRTUALLY_FRAME" val="{&quot;height&quot;:280,&quot;left&quot;:80,&quot;top&quot;:180,&quot;width&quot;:812}"/>
</p:tagLst>
</file>

<file path=ppt/tags/tag60.xml><?xml version="1.0" encoding="utf-8"?>
<p:tagLst xmlns:p="http://schemas.openxmlformats.org/presentationml/2006/main">
  <p:tag name="KSO_WM_DIAGRAM_VIRTUALLY_FRAME" val="{&quot;height&quot;:280,&quot;left&quot;:80,&quot;top&quot;:180,&quot;width&quot;:812}"/>
</p:tagLst>
</file>

<file path=ppt/tags/tag61.xml><?xml version="1.0" encoding="utf-8"?>
<p:tagLst xmlns:p="http://schemas.openxmlformats.org/presentationml/2006/main">
  <p:tag name="KSO_WM_DIAGRAM_VIRTUALLY_FRAME" val="{&quot;height&quot;:280,&quot;left&quot;:80,&quot;top&quot;:180,&quot;width&quot;:812}"/>
</p:tagLst>
</file>

<file path=ppt/tags/tag62.xml><?xml version="1.0" encoding="utf-8"?>
<p:tagLst xmlns:p="http://schemas.openxmlformats.org/presentationml/2006/main">
  <p:tag name="KSO_WM_DIAGRAM_VIRTUALLY_FRAME" val="{&quot;height&quot;:280,&quot;left&quot;:80,&quot;top&quot;:180,&quot;width&quot;:812}"/>
</p:tagLst>
</file>

<file path=ppt/tags/tag63.xml><?xml version="1.0" encoding="utf-8"?>
<p:tagLst xmlns:p="http://schemas.openxmlformats.org/presentationml/2006/main">
  <p:tag name="KSO_WM_DIAGRAM_VIRTUALLY_FRAME" val="{&quot;height&quot;:280,&quot;left&quot;:80,&quot;top&quot;:180,&quot;width&quot;:812}"/>
</p:tagLst>
</file>

<file path=ppt/tags/tag64.xml><?xml version="1.0" encoding="utf-8"?>
<p:tagLst xmlns:p="http://schemas.openxmlformats.org/presentationml/2006/main">
  <p:tag name="KSO_WM_DIAGRAM_VIRTUALLY_FRAME" val="{&quot;height&quot;:280,&quot;left&quot;:80,&quot;top&quot;:180,&quot;width&quot;:812}"/>
</p:tagLst>
</file>

<file path=ppt/tags/tag65.xml><?xml version="1.0" encoding="utf-8"?>
<p:tagLst xmlns:p="http://schemas.openxmlformats.org/presentationml/2006/main">
  <p:tag name="KSO_WM_DIAGRAM_VIRTUALLY_FRAME" val="{&quot;height&quot;:280,&quot;left&quot;:80,&quot;top&quot;:180,&quot;width&quot;:812}"/>
</p:tagLst>
</file>

<file path=ppt/tags/tag66.xml><?xml version="1.0" encoding="utf-8"?>
<p:tagLst xmlns:p="http://schemas.openxmlformats.org/presentationml/2006/main">
  <p:tag name="KSO_WM_DIAGRAM_VIRTUALLY_FRAME" val="{&quot;height&quot;:280,&quot;left&quot;:80,&quot;top&quot;:180,&quot;width&quot;:812}"/>
</p:tagLst>
</file>

<file path=ppt/tags/tag67.xml><?xml version="1.0" encoding="utf-8"?>
<p:tagLst xmlns:p="http://schemas.openxmlformats.org/presentationml/2006/main">
  <p:tag name="KSO_WM_DIAGRAM_VIRTUALLY_FRAME" val="{&quot;height&quot;:280,&quot;left&quot;:80,&quot;top&quot;:180,&quot;width&quot;:812}"/>
</p:tagLst>
</file>

<file path=ppt/tags/tag68.xml><?xml version="1.0" encoding="utf-8"?>
<p:tagLst xmlns:p="http://schemas.openxmlformats.org/presentationml/2006/main">
  <p:tag name="KSO_WM_DIAGRAM_VIRTUALLY_FRAME" val="{&quot;height&quot;:280,&quot;left&quot;:80,&quot;top&quot;:180,&quot;width&quot;:812}"/>
</p:tagLst>
</file>

<file path=ppt/tags/tag69.xml><?xml version="1.0" encoding="utf-8"?>
<p:tagLst xmlns:p="http://schemas.openxmlformats.org/presentationml/2006/main">
  <p:tag name="KSO_WM_DIAGRAM_VIRTUALLY_FRAME" val="{&quot;height&quot;:280,&quot;left&quot;:80,&quot;top&quot;:180,&quot;width&quot;:812}"/>
</p:tagLst>
</file>

<file path=ppt/tags/tag70.xml><?xml version="1.0" encoding="utf-8"?>
<p:tagLst xmlns:p="http://schemas.openxmlformats.org/presentationml/2006/main">
  <p:tag name="resource_record_key" val="{&quot;29&quot;:[50053024,50052423,50000097]}"/>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9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0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0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19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8304</Words>
  <Application>WPS 演示</Application>
  <PresentationFormat/>
  <Paragraphs>726</Paragraphs>
  <Slides>40</Slides>
  <Notes>0</Notes>
  <HiddenSlides>0</HiddenSlides>
  <MMClips>0</MMClips>
  <ScaleCrop>false</ScaleCrop>
  <HeadingPairs>
    <vt:vector size="6" baseType="variant">
      <vt:variant>
        <vt:lpstr>已用的字体</vt:lpstr>
      </vt:variant>
      <vt:variant>
        <vt:i4>7</vt:i4>
      </vt:variant>
      <vt:variant>
        <vt:lpstr>主题</vt:lpstr>
      </vt:variant>
      <vt:variant>
        <vt:i4>26</vt:i4>
      </vt:variant>
      <vt:variant>
        <vt:lpstr>幻灯片标题</vt:lpstr>
      </vt:variant>
      <vt:variant>
        <vt:i4>40</vt:i4>
      </vt:variant>
    </vt:vector>
  </HeadingPairs>
  <TitlesOfParts>
    <vt:vector size="73" baseType="lpstr">
      <vt:lpstr>Arial</vt:lpstr>
      <vt:lpstr>宋体</vt:lpstr>
      <vt:lpstr>Wingdings</vt:lpstr>
      <vt:lpstr>Arial</vt:lpstr>
      <vt:lpstr>Noto Sans SC</vt:lpstr>
      <vt:lpstr>微软雅黑</vt:lpstr>
      <vt:lpstr>Arial Unicode MS</vt:lpstr>
      <vt:lpstr>Office 主题​​</vt:lpstr>
      <vt:lpstr>默认主题</vt:lpstr>
      <vt:lpstr>3_默认主题</vt:lpstr>
      <vt:lpstr>4_默认主题</vt:lpstr>
      <vt:lpstr>2_默认主题</vt:lpstr>
      <vt:lpstr>1_默认主题</vt:lpstr>
      <vt:lpstr>5_默认主题</vt:lpstr>
      <vt:lpstr>7_默认主题</vt:lpstr>
      <vt:lpstr>8_默认主题</vt:lpstr>
      <vt:lpstr>6_默认主题</vt:lpstr>
      <vt:lpstr>9_默认主题</vt:lpstr>
      <vt:lpstr>10_默认主题</vt:lpstr>
      <vt:lpstr>11_默认主题</vt:lpstr>
      <vt:lpstr>12_默认主题</vt:lpstr>
      <vt:lpstr>13_默认主题</vt:lpstr>
      <vt:lpstr>14_默认主题</vt:lpstr>
      <vt:lpstr>15_默认主题</vt:lpstr>
      <vt:lpstr>16_默认主题</vt:lpstr>
      <vt:lpstr>17_默认主题</vt:lpstr>
      <vt:lpstr>18_默认主题</vt:lpstr>
      <vt:lpstr>20_默认主题</vt:lpstr>
      <vt:lpstr>19_默认主题</vt:lpstr>
      <vt:lpstr>21_默认主题</vt:lpstr>
      <vt:lpstr>22_默认主题</vt:lpstr>
      <vt:lpstr>23_默认主题</vt:lpstr>
      <vt:lpstr>24_默认主题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许王智</cp:lastModifiedBy>
  <cp:revision>9</cp:revision>
  <dcterms:created xsi:type="dcterms:W3CDTF">2026-05-19T03:58:00Z</dcterms:created>
  <dcterms:modified xsi:type="dcterms:W3CDTF">2026-05-19T14:42:50Z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34490F31941C4D91B1CBE65795AE295F_12</vt:lpwstr>
  </property>
</Properties>
</file>